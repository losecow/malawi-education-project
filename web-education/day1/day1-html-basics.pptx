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Welcome everyone! Today we're starting our journey into web development. By the end of today, you'll understand what HTML is and be able to write your own tags. Let's get started! | TIMING: 0-10 icebreaker + what/when is HTML | 10-25 how a browser renders HTML, anatomy of a tag, attributes | 25-55 tag tour with live examples (structure, text, links/images, lists, forms) | 55-80 fill-in-the-blank practice x4 | 80-90 wrap-up, preview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HTML stands for HyperText Markup Language. Think of it like the skeleton of a house - it gives our page its basic shape and structure. Every piece of content on a page, like a heading or a button, is called an element, and we write elements using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You use HTML every single day without realizing it - every website you visit, from Facebook to Google, is built with HTML. It's the one language every browser understands, and it hasn't changed much in 30 years, so what you learn today will still be useful in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Let's quickly look at what happens when you open an HTML file. First, you write the file. Then the browser reads it from top to bottom. Each tag becomes a box, and all these boxes stack up to make the page you see. That's why we can just open our file in a browser to preview it - no internet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Every tag follows the same pattern. There's an opening tag, then optional attributes that give extra information, then the content itself, and finally a closing tag. Let's look at this link example together, piece by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Attributes give tags extra information. For example, class and id help us style things later, src tells an image which file to show, href tells a link where to go, and alt describes an image in case it doesn't load. We'll use these a lot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Now let's meet the big structural tags. Header is for the top of the page, nav holds our navigation links, main and section hold the main content, and footer is for the bottom. Using these instead of just div tags helps the browser - and screen readers - understand our page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Sometimes none of those specific tags fit - that's when we use div and span. Div takes up its own line and is great for grouping bigger pieces together. Span stays inside a sentence and is useful for styling just one word or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For text, we use headings from h1 down to h6 - h1 is the biggest and most important, and you should only use one per page. For regular text, we use the p tag, which stands for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If we want to make a word stand out, we use strong for bold, important text, or em for italic emphasis. And if we need a line break without starting a whole new paragraph, we use the br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a tag creates a link - whatever text goes between the opening and closing tag becomes clickable. The img tag is a little different - it has no closing tag, and everything, like the image file and its description, goes in the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For lists, we use ul for an unordered, bulleted list, or ol if we want numbers instead. Each item inside goes inside its own li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When we want to collect information from someone, we use a form tag to wrap everything together. Inside it, input lets people type text, and button lets them submit it. Don't worry that clicking doesn't do anything yet - we'll add that behavior with JavaScript on Day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Let's quickly talk about why we've been using these specific tags instead of just div for everything. When we use header, nav, and footer, we're telling the browser exactly what each part means. This helps blind users using screen readers navigate the page, and it even helps Google understand our page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Now it's your turn! Try filling in these blanks using the word bank below. Take a few minutes, then we'll check your answers together against your own skeleton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For this one, we're adding a link and an image. Remember, alt text is important - it describes the image for anyone who can't see it, so always fill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Let's build a list of programs, just like we'll do for the real PAF and CGF website later this week. Same pattern - ul on the outside, li for each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Last practice for today - build a simple form. We'll make the submit button actually work in a few days with JavaScript, so don't worry that it doesn't do anything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Great job today, everyone! You've learned what HTML is and written your first tags. Tomorrow we'll make our pages actually look good using CSS. See you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9418320" y="-1097280"/>
            <a:ext cx="4114800" cy="4114800"/>
          </a:xfrm>
          <a:prstGeom prst="ellipse">
            <a:avLst/>
          </a:prstGeom>
          <a:solidFill>
            <a:srgbClr val="FFFFFF">
              <a:alpha val="10000"/>
            </a:srgbClr>
          </a:solidFill>
          <a:ln/>
        </p:spPr>
      </p:sp>
      <p:sp>
        <p:nvSpPr>
          <p:cNvPr id="3" name="Shape 1"/>
          <p:cNvSpPr/>
          <p:nvPr/>
        </p:nvSpPr>
        <p:spPr>
          <a:xfrm>
            <a:off x="548640" y="548640"/>
            <a:ext cx="1463040" cy="1463040"/>
          </a:xfrm>
          <a:prstGeom prst="ellipse">
            <a:avLst/>
          </a:prstGeom>
          <a:solidFill>
            <a:srgbClr val="FFFFFF">
              <a:alpha val="12000"/>
            </a:srgbClr>
          </a:solidFill>
          <a:ln/>
        </p:spPr>
      </p:sp>
      <p:sp>
        <p:nvSpPr>
          <p:cNvPr id="4" name="Text 2"/>
          <p:cNvSpPr/>
          <p:nvPr/>
        </p:nvSpPr>
        <p:spPr>
          <a:xfrm>
            <a:off x="548640" y="2286000"/>
            <a:ext cx="8229600" cy="365760"/>
          </a:xfrm>
          <a:prstGeom prst="rect">
            <a:avLst/>
          </a:prstGeom>
          <a:noFill/>
          <a:ln/>
        </p:spPr>
        <p:txBody>
          <a:bodyPr wrap="square" lIns="0" tIns="0" rIns="0" bIns="0" rtlCol="0" anchor="ctr"/>
          <a:lstStyle/>
          <a:p>
            <a:pPr indent="0" marL="0">
              <a:buNone/>
            </a:pPr>
            <a:r>
              <a:rPr lang="en-US" sz="1300" b="1" spc="100" kern="0" dirty="0">
                <a:solidFill>
                  <a:srgbClr val="E7E8D1"/>
                </a:solidFill>
                <a:latin typeface="Calibri" pitchFamily="34" charset="0"/>
                <a:ea typeface="Calibri" pitchFamily="34" charset="-122"/>
                <a:cs typeface="Calibri" pitchFamily="34" charset="-120"/>
              </a:rPr>
              <a:t>PAF &amp; CGF YOUTH PROGRAM  ·  WEBSITE BASICS</a:t>
            </a:r>
            <a:endParaRPr lang="en-US" sz="1300" dirty="0"/>
          </a:p>
        </p:txBody>
      </p:sp>
      <p:sp>
        <p:nvSpPr>
          <p:cNvPr id="5" name="Text 3"/>
          <p:cNvSpPr/>
          <p:nvPr/>
        </p:nvSpPr>
        <p:spPr>
          <a:xfrm>
            <a:off x="548640" y="2651760"/>
            <a:ext cx="3657600" cy="548640"/>
          </a:xfrm>
          <a:prstGeom prst="rect">
            <a:avLst/>
          </a:prstGeom>
          <a:noFill/>
          <a:ln/>
        </p:spPr>
        <p:txBody>
          <a:bodyPr wrap="square" lIns="0" tIns="0" rIns="0" bIns="0" rtlCol="0" anchor="ctr"/>
          <a:lstStyle/>
          <a:p>
            <a:pPr indent="0" marL="0">
              <a:buNone/>
            </a:pPr>
            <a:r>
              <a:rPr lang="en-US" sz="2000" b="1" dirty="0">
                <a:solidFill>
                  <a:srgbClr val="E7E8D1"/>
                </a:solidFill>
                <a:latin typeface="Cambria" pitchFamily="34" charset="0"/>
                <a:ea typeface="Cambria" pitchFamily="34" charset="-122"/>
                <a:cs typeface="Cambria" pitchFamily="34" charset="-120"/>
              </a:rPr>
              <a:t>DAY 1 · 90 MIN</a:t>
            </a:r>
            <a:endParaRPr lang="en-US" sz="2000" dirty="0"/>
          </a:p>
        </p:txBody>
      </p:sp>
      <p:sp>
        <p:nvSpPr>
          <p:cNvPr id="6" name="Text 4"/>
          <p:cNvSpPr/>
          <p:nvPr/>
        </p:nvSpPr>
        <p:spPr>
          <a:xfrm>
            <a:off x="548640" y="3108960"/>
            <a:ext cx="1051560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HTML Basics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&amp; Tag Types</a:t>
            </a:r>
            <a:endParaRPr lang="en-US" sz="4000" dirty="0"/>
          </a:p>
        </p:txBody>
      </p:sp>
      <p:sp>
        <p:nvSpPr>
          <p:cNvPr id="7" name="Text 5"/>
          <p:cNvSpPr/>
          <p:nvPr/>
        </p:nvSpPr>
        <p:spPr>
          <a:xfrm>
            <a:off x="548640" y="4343400"/>
            <a:ext cx="9601200" cy="731520"/>
          </a:xfrm>
          <a:prstGeom prst="rect">
            <a:avLst/>
          </a:prstGeom>
          <a:noFill/>
          <a:ln/>
        </p:spPr>
        <p:txBody>
          <a:bodyPr wrap="square" lIns="0" tIns="0" rIns="0" bIns="0" rtlCol="0" anchor="ctr"/>
          <a:lstStyle/>
          <a:p>
            <a:pPr indent="0" marL="0">
              <a:buNone/>
            </a:pPr>
            <a:r>
              <a:rPr lang="en-US" sz="1600" dirty="0">
                <a:solidFill>
                  <a:srgbClr val="E7E8D1"/>
                </a:solidFill>
                <a:latin typeface="Calibri" pitchFamily="34" charset="0"/>
                <a:ea typeface="Calibri" pitchFamily="34" charset="-122"/>
                <a:cs typeface="Calibri" pitchFamily="34" charset="-120"/>
              </a:rPr>
              <a:t>What HTML is, when we use it, and how to write the tags that make up every page.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What Is HTML?</a:t>
            </a:r>
            <a:endParaRPr lang="en-US" sz="2700" dirty="0"/>
          </a:p>
        </p:txBody>
      </p:sp>
      <p:sp>
        <p:nvSpPr>
          <p:cNvPr id="4" name="Shape 2"/>
          <p:cNvSpPr/>
          <p:nvPr/>
        </p:nvSpPr>
        <p:spPr>
          <a:xfrm>
            <a:off x="548640" y="1828800"/>
            <a:ext cx="548640" cy="548640"/>
          </a:xfrm>
          <a:prstGeom prst="ellipse">
            <a:avLst/>
          </a:prstGeom>
          <a:solidFill>
            <a:srgbClr val="A7BEAE"/>
          </a:solidFill>
          <a:ln/>
        </p:spPr>
      </p:sp>
      <p:sp>
        <p:nvSpPr>
          <p:cNvPr id="5" name="Text 3"/>
          <p:cNvSpPr/>
          <p:nvPr/>
        </p:nvSpPr>
        <p:spPr>
          <a:xfrm>
            <a:off x="548640" y="182880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280160" y="1783080"/>
            <a:ext cx="5120640" cy="36576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HTML = the skeleton of a house</a:t>
            </a:r>
            <a:endParaRPr lang="en-US" sz="1500" dirty="0"/>
          </a:p>
        </p:txBody>
      </p:sp>
      <p:sp>
        <p:nvSpPr>
          <p:cNvPr id="7" name="Text 5"/>
          <p:cNvSpPr/>
          <p:nvPr/>
        </p:nvSpPr>
        <p:spPr>
          <a:xfrm>
            <a:off x="1280160" y="2121408"/>
            <a:ext cx="5120640" cy="594360"/>
          </a:xfrm>
          <a:prstGeom prst="rect">
            <a:avLst/>
          </a:prstGeom>
          <a:noFill/>
          <a:ln/>
        </p:spPr>
        <p:txBody>
          <a:bodyPr wrap="square" lIns="0" tIns="0" rIns="0" bIns="0" rtlCol="0" anchor="ctr"/>
          <a:lstStyle/>
          <a:p>
            <a:pPr indent="0" marL="0">
              <a:buNone/>
            </a:pPr>
            <a:r>
              <a:rPr lang="en-US" sz="1200" dirty="0">
                <a:solidFill>
                  <a:srgbClr val="555555"/>
                </a:solidFill>
                <a:latin typeface="Calibri" pitchFamily="34" charset="0"/>
                <a:ea typeface="Calibri" pitchFamily="34" charset="-122"/>
                <a:cs typeface="Calibri" pitchFamily="34" charset="-120"/>
              </a:rPr>
              <a:t>Walls, rooms, doors — the structure everything else attaches to.</a:t>
            </a:r>
            <a:endParaRPr lang="en-US" sz="1200" dirty="0"/>
          </a:p>
        </p:txBody>
      </p:sp>
      <p:sp>
        <p:nvSpPr>
          <p:cNvPr id="8" name="Shape 6"/>
          <p:cNvSpPr/>
          <p:nvPr/>
        </p:nvSpPr>
        <p:spPr>
          <a:xfrm>
            <a:off x="548640" y="2880360"/>
            <a:ext cx="548640" cy="548640"/>
          </a:xfrm>
          <a:prstGeom prst="ellipse">
            <a:avLst/>
          </a:prstGeom>
          <a:solidFill>
            <a:srgbClr val="A7BEAE"/>
          </a:solidFill>
          <a:ln/>
        </p:spPr>
      </p:sp>
      <p:sp>
        <p:nvSpPr>
          <p:cNvPr id="9" name="Text 7"/>
          <p:cNvSpPr/>
          <p:nvPr/>
        </p:nvSpPr>
        <p:spPr>
          <a:xfrm>
            <a:off x="548640" y="288036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280160" y="2834640"/>
            <a:ext cx="5120640" cy="36576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A page is made of elements</a:t>
            </a:r>
            <a:endParaRPr lang="en-US" sz="1500" dirty="0"/>
          </a:p>
        </p:txBody>
      </p:sp>
      <p:sp>
        <p:nvSpPr>
          <p:cNvPr id="11" name="Text 9"/>
          <p:cNvSpPr/>
          <p:nvPr/>
        </p:nvSpPr>
        <p:spPr>
          <a:xfrm>
            <a:off x="1280160" y="3172968"/>
            <a:ext cx="5120640" cy="594360"/>
          </a:xfrm>
          <a:prstGeom prst="rect">
            <a:avLst/>
          </a:prstGeom>
          <a:noFill/>
          <a:ln/>
        </p:spPr>
        <p:txBody>
          <a:bodyPr wrap="square" lIns="0" tIns="0" rIns="0" bIns="0" rtlCol="0" anchor="ctr"/>
          <a:lstStyle/>
          <a:p>
            <a:pPr indent="0" marL="0">
              <a:buNone/>
            </a:pPr>
            <a:r>
              <a:rPr lang="en-US" sz="1200" dirty="0">
                <a:solidFill>
                  <a:srgbClr val="555555"/>
                </a:solidFill>
                <a:latin typeface="Calibri" pitchFamily="34" charset="0"/>
                <a:ea typeface="Calibri" pitchFamily="34" charset="-122"/>
                <a:cs typeface="Calibri" pitchFamily="34" charset="-120"/>
              </a:rPr>
              <a:t>Each piece of content — a title, a paragraph, a button — is its own element.</a:t>
            </a:r>
            <a:endParaRPr lang="en-US" sz="1200" dirty="0"/>
          </a:p>
        </p:txBody>
      </p:sp>
      <p:sp>
        <p:nvSpPr>
          <p:cNvPr id="12" name="Shape 10"/>
          <p:cNvSpPr/>
          <p:nvPr/>
        </p:nvSpPr>
        <p:spPr>
          <a:xfrm>
            <a:off x="548640" y="3931920"/>
            <a:ext cx="548640" cy="548640"/>
          </a:xfrm>
          <a:prstGeom prst="ellipse">
            <a:avLst/>
          </a:prstGeom>
          <a:solidFill>
            <a:srgbClr val="A7BEAE"/>
          </a:solidFill>
          <a:ln/>
        </p:spPr>
      </p:sp>
      <p:sp>
        <p:nvSpPr>
          <p:cNvPr id="13" name="Text 11"/>
          <p:cNvSpPr/>
          <p:nvPr/>
        </p:nvSpPr>
        <p:spPr>
          <a:xfrm>
            <a:off x="548640" y="393192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1280160" y="3886200"/>
            <a:ext cx="5120640" cy="36576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Elements are written with tags</a:t>
            </a:r>
            <a:endParaRPr lang="en-US" sz="1500" dirty="0"/>
          </a:p>
        </p:txBody>
      </p:sp>
      <p:sp>
        <p:nvSpPr>
          <p:cNvPr id="15" name="Text 13"/>
          <p:cNvSpPr/>
          <p:nvPr/>
        </p:nvSpPr>
        <p:spPr>
          <a:xfrm>
            <a:off x="1280160" y="4224528"/>
            <a:ext cx="5120640" cy="594360"/>
          </a:xfrm>
          <a:prstGeom prst="rect">
            <a:avLst/>
          </a:prstGeom>
          <a:noFill/>
          <a:ln/>
        </p:spPr>
        <p:txBody>
          <a:bodyPr wrap="square" lIns="0" tIns="0" rIns="0" bIns="0" rtlCol="0" anchor="ctr"/>
          <a:lstStyle/>
          <a:p>
            <a:pPr indent="0" marL="0">
              <a:buNone/>
            </a:pPr>
            <a:r>
              <a:rPr lang="en-US" sz="1200" dirty="0">
                <a:solidFill>
                  <a:srgbClr val="555555"/>
                </a:solidFill>
                <a:latin typeface="Calibri" pitchFamily="34" charset="0"/>
                <a:ea typeface="Calibri" pitchFamily="34" charset="-122"/>
                <a:cs typeface="Calibri" pitchFamily="34" charset="-120"/>
              </a:rPr>
              <a:t>Tags tell the browser what kind of content is inside them.</a:t>
            </a:r>
            <a:endParaRPr lang="en-US" sz="1200" dirty="0"/>
          </a:p>
        </p:txBody>
      </p:sp>
      <p:sp>
        <p:nvSpPr>
          <p:cNvPr id="16" name="Shape 14"/>
          <p:cNvSpPr/>
          <p:nvPr/>
        </p:nvSpPr>
        <p:spPr>
          <a:xfrm>
            <a:off x="6766560" y="1828800"/>
            <a:ext cx="4846320" cy="3931920"/>
          </a:xfrm>
          <a:prstGeom prst="roundRect">
            <a:avLst>
              <a:gd name="adj" fmla="val 2326"/>
            </a:avLst>
          </a:prstGeom>
          <a:solidFill>
            <a:srgbClr val="E7E8D1"/>
          </a:solidFill>
          <a:ln/>
        </p:spPr>
      </p:sp>
      <p:sp>
        <p:nvSpPr>
          <p:cNvPr id="17" name="Text 15"/>
          <p:cNvSpPr/>
          <p:nvPr/>
        </p:nvSpPr>
        <p:spPr>
          <a:xfrm>
            <a:off x="7040880" y="2057400"/>
            <a:ext cx="429768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A webpage, zoomed out:</a:t>
            </a:r>
            <a:endParaRPr lang="en-US" sz="1500" dirty="0"/>
          </a:p>
        </p:txBody>
      </p:sp>
      <p:sp>
        <p:nvSpPr>
          <p:cNvPr id="18" name="Text 16"/>
          <p:cNvSpPr/>
          <p:nvPr/>
        </p:nvSpPr>
        <p:spPr>
          <a:xfrm>
            <a:off x="7223760" y="2514600"/>
            <a:ext cx="4114800" cy="365760"/>
          </a:xfrm>
          <a:prstGeom prst="rect">
            <a:avLst/>
          </a:prstGeom>
          <a:noFill/>
          <a:ln/>
        </p:spPr>
        <p:txBody>
          <a:bodyPr wrap="square" lIns="0" tIns="0" rIns="0" bIns="0" rtlCol="0" anchor="ctr"/>
          <a:lstStyle/>
          <a:p>
            <a:pPr indent="0" marL="0">
              <a:buNone/>
            </a:pPr>
            <a:r>
              <a:rPr lang="en-US" sz="1300" dirty="0">
                <a:solidFill>
                  <a:srgbClr val="3A2B26"/>
                </a:solidFill>
                <a:latin typeface="Courier New" pitchFamily="34" charset="0"/>
                <a:ea typeface="Courier New" pitchFamily="34" charset="-122"/>
                <a:cs typeface="Courier New" pitchFamily="34" charset="-120"/>
              </a:rPr>
              <a:t>&lt;html&gt;</a:t>
            </a:r>
            <a:endParaRPr lang="en-US" sz="1300" dirty="0"/>
          </a:p>
        </p:txBody>
      </p:sp>
      <p:sp>
        <p:nvSpPr>
          <p:cNvPr id="19" name="Text 17"/>
          <p:cNvSpPr/>
          <p:nvPr/>
        </p:nvSpPr>
        <p:spPr>
          <a:xfrm>
            <a:off x="7223760" y="2971800"/>
            <a:ext cx="4114800" cy="365760"/>
          </a:xfrm>
          <a:prstGeom prst="rect">
            <a:avLst/>
          </a:prstGeom>
          <a:noFill/>
          <a:ln/>
        </p:spPr>
        <p:txBody>
          <a:bodyPr wrap="square" lIns="0" tIns="0" rIns="0" bIns="0" rtlCol="0" anchor="ctr"/>
          <a:lstStyle/>
          <a:p>
            <a:pPr indent="0" marL="0">
              <a:buNone/>
            </a:pPr>
            <a:r>
              <a:rPr lang="en-US" sz="1300" dirty="0">
                <a:solidFill>
                  <a:srgbClr val="3A2B26"/>
                </a:solidFill>
                <a:latin typeface="Courier New" pitchFamily="34" charset="0"/>
                <a:ea typeface="Courier New" pitchFamily="34" charset="-122"/>
                <a:cs typeface="Courier New" pitchFamily="34" charset="-120"/>
              </a:rPr>
              <a:t>  &lt;head&gt; ... &lt;/head&gt;</a:t>
            </a:r>
            <a:endParaRPr lang="en-US" sz="1300" dirty="0"/>
          </a:p>
        </p:txBody>
      </p:sp>
      <p:sp>
        <p:nvSpPr>
          <p:cNvPr id="20" name="Text 18"/>
          <p:cNvSpPr/>
          <p:nvPr/>
        </p:nvSpPr>
        <p:spPr>
          <a:xfrm>
            <a:off x="7223760" y="3429000"/>
            <a:ext cx="4114800" cy="365760"/>
          </a:xfrm>
          <a:prstGeom prst="rect">
            <a:avLst/>
          </a:prstGeom>
          <a:noFill/>
          <a:ln/>
        </p:spPr>
        <p:txBody>
          <a:bodyPr wrap="square" lIns="0" tIns="0" rIns="0" bIns="0" rtlCol="0" anchor="ctr"/>
          <a:lstStyle/>
          <a:p>
            <a:pPr indent="0" marL="0">
              <a:buNone/>
            </a:pPr>
            <a:r>
              <a:rPr lang="en-US" sz="1300" dirty="0">
                <a:solidFill>
                  <a:srgbClr val="3A2B26"/>
                </a:solidFill>
                <a:latin typeface="Courier New" pitchFamily="34" charset="0"/>
                <a:ea typeface="Courier New" pitchFamily="34" charset="-122"/>
                <a:cs typeface="Courier New" pitchFamily="34" charset="-120"/>
              </a:rPr>
              <a:t>  &lt;body&gt;</a:t>
            </a:r>
            <a:endParaRPr lang="en-US" sz="1300" dirty="0"/>
          </a:p>
        </p:txBody>
      </p:sp>
      <p:sp>
        <p:nvSpPr>
          <p:cNvPr id="21" name="Text 19"/>
          <p:cNvSpPr/>
          <p:nvPr/>
        </p:nvSpPr>
        <p:spPr>
          <a:xfrm>
            <a:off x="7223760" y="3886200"/>
            <a:ext cx="4114800" cy="365760"/>
          </a:xfrm>
          <a:prstGeom prst="rect">
            <a:avLst/>
          </a:prstGeom>
          <a:noFill/>
          <a:ln/>
        </p:spPr>
        <p:txBody>
          <a:bodyPr wrap="square" lIns="0" tIns="0" rIns="0" bIns="0" rtlCol="0" anchor="ctr"/>
          <a:lstStyle/>
          <a:p>
            <a:pPr indent="0" marL="0">
              <a:buNone/>
            </a:pPr>
            <a:r>
              <a:rPr lang="en-US" sz="1300" dirty="0">
                <a:solidFill>
                  <a:srgbClr val="3A2B26"/>
                </a:solidFill>
                <a:latin typeface="Courier New" pitchFamily="34" charset="0"/>
                <a:ea typeface="Courier New" pitchFamily="34" charset="-122"/>
                <a:cs typeface="Courier New" pitchFamily="34" charset="-120"/>
              </a:rPr>
              <a:t>    everything you see</a:t>
            </a:r>
            <a:endParaRPr lang="en-US" sz="1300" dirty="0"/>
          </a:p>
        </p:txBody>
      </p:sp>
      <p:sp>
        <p:nvSpPr>
          <p:cNvPr id="22" name="Text 20"/>
          <p:cNvSpPr/>
          <p:nvPr/>
        </p:nvSpPr>
        <p:spPr>
          <a:xfrm>
            <a:off x="7223760" y="4343400"/>
            <a:ext cx="4114800" cy="365760"/>
          </a:xfrm>
          <a:prstGeom prst="rect">
            <a:avLst/>
          </a:prstGeom>
          <a:noFill/>
          <a:ln/>
        </p:spPr>
        <p:txBody>
          <a:bodyPr wrap="square" lIns="0" tIns="0" rIns="0" bIns="0" rtlCol="0" anchor="ctr"/>
          <a:lstStyle/>
          <a:p>
            <a:pPr indent="0" marL="0">
              <a:buNone/>
            </a:pPr>
            <a:r>
              <a:rPr lang="en-US" sz="1300" dirty="0">
                <a:solidFill>
                  <a:srgbClr val="3A2B26"/>
                </a:solidFill>
                <a:latin typeface="Courier New" pitchFamily="34" charset="0"/>
                <a:ea typeface="Courier New" pitchFamily="34" charset="-122"/>
                <a:cs typeface="Courier New" pitchFamily="34" charset="-120"/>
              </a:rPr>
              <a:t>  &lt;/body&gt;</a:t>
            </a:r>
            <a:endParaRPr lang="en-US" sz="1300" dirty="0"/>
          </a:p>
        </p:txBody>
      </p:sp>
      <p:sp>
        <p:nvSpPr>
          <p:cNvPr id="23" name="Text 21"/>
          <p:cNvSpPr/>
          <p:nvPr/>
        </p:nvSpPr>
        <p:spPr>
          <a:xfrm>
            <a:off x="7223760" y="4800600"/>
            <a:ext cx="4114800" cy="365760"/>
          </a:xfrm>
          <a:prstGeom prst="rect">
            <a:avLst/>
          </a:prstGeom>
          <a:noFill/>
          <a:ln/>
        </p:spPr>
        <p:txBody>
          <a:bodyPr wrap="square" lIns="0" tIns="0" rIns="0" bIns="0" rtlCol="0" anchor="ctr"/>
          <a:lstStyle/>
          <a:p>
            <a:pPr indent="0" marL="0">
              <a:buNone/>
            </a:pPr>
            <a:r>
              <a:rPr lang="en-US" sz="1300" dirty="0">
                <a:solidFill>
                  <a:srgbClr val="3A2B26"/>
                </a:solidFill>
                <a:latin typeface="Courier New" pitchFamily="34" charset="0"/>
                <a:ea typeface="Courier New" pitchFamily="34" charset="-122"/>
                <a:cs typeface="Courier New" pitchFamily="34" charset="-120"/>
              </a:rPr>
              <a:t>&lt;/html&gt;</a:t>
            </a:r>
            <a:endParaRPr lang="en-US" sz="1300" dirty="0"/>
          </a:p>
        </p:txBody>
      </p:sp>
      <p:sp>
        <p:nvSpPr>
          <p:cNvPr id="24" name="Text 22"/>
          <p:cNvSpPr/>
          <p:nvPr/>
        </p:nvSpPr>
        <p:spPr>
          <a:xfrm>
            <a:off x="548640" y="5943600"/>
            <a:ext cx="10881360" cy="457200"/>
          </a:xfrm>
          <a:prstGeom prst="rect">
            <a:avLst/>
          </a:prstGeom>
          <a:noFill/>
          <a:ln/>
        </p:spPr>
        <p:txBody>
          <a:bodyPr wrap="square" lIns="0" tIns="0" rIns="0" bIns="0" rtlCol="0" anchor="ctr"/>
          <a:lstStyle/>
          <a:p>
            <a:pPr indent="0" marL="0">
              <a:buNone/>
            </a:pPr>
            <a:r>
              <a:rPr lang="en-US" sz="1250" i="1" dirty="0">
                <a:solidFill>
                  <a:srgbClr val="777777"/>
                </a:solidFill>
                <a:latin typeface="Calibri" pitchFamily="34" charset="0"/>
                <a:ea typeface="Calibri" pitchFamily="34" charset="-122"/>
                <a:cs typeface="Calibri" pitchFamily="34" charset="-120"/>
              </a:rPr>
              <a:t>HTML = HyperText Markup Language. “Markup” means we mark up plain text with tags to say what each part is.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CONTEXT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Where &amp; When Do We Use HTML?</a:t>
            </a:r>
            <a:endParaRPr lang="en-US" sz="2700" dirty="0"/>
          </a:p>
        </p:txBody>
      </p:sp>
      <p:sp>
        <p:nvSpPr>
          <p:cNvPr id="4" name="Shape 2"/>
          <p:cNvSpPr/>
          <p:nvPr/>
        </p:nvSpPr>
        <p:spPr>
          <a:xfrm>
            <a:off x="548640" y="1828800"/>
            <a:ext cx="5303520" cy="4023360"/>
          </a:xfrm>
          <a:prstGeom prst="roundRect">
            <a:avLst>
              <a:gd name="adj" fmla="val 2273"/>
            </a:avLst>
          </a:prstGeom>
          <a:solidFill>
            <a:srgbClr val="E7E8D1"/>
          </a:solidFill>
          <a:ln/>
        </p:spPr>
      </p:sp>
      <p:sp>
        <p:nvSpPr>
          <p:cNvPr id="5" name="Text 3"/>
          <p:cNvSpPr/>
          <p:nvPr/>
        </p:nvSpPr>
        <p:spPr>
          <a:xfrm>
            <a:off x="822960" y="2029968"/>
            <a:ext cx="475488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Every website uses it</a:t>
            </a:r>
            <a:endParaRPr lang="en-US" sz="1500" dirty="0"/>
          </a:p>
        </p:txBody>
      </p:sp>
      <p:sp>
        <p:nvSpPr>
          <p:cNvPr id="6" name="Text 4"/>
          <p:cNvSpPr/>
          <p:nvPr/>
        </p:nvSpPr>
        <p:spPr>
          <a:xfrm>
            <a:off x="822960" y="2450592"/>
            <a:ext cx="4754880" cy="320040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The news site you read this morning</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Facebook, WhatsApp Web, Google</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Our own PAF/CGF site, later this week</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Even this slide deck's speaker notes tool!</a:t>
            </a:r>
            <a:endParaRPr lang="en-US" sz="1200" dirty="0"/>
          </a:p>
        </p:txBody>
      </p:sp>
      <p:sp>
        <p:nvSpPr>
          <p:cNvPr id="7" name="Shape 5"/>
          <p:cNvSpPr/>
          <p:nvPr/>
        </p:nvSpPr>
        <p:spPr>
          <a:xfrm>
            <a:off x="6126480" y="1828800"/>
            <a:ext cx="5486400" cy="4023360"/>
          </a:xfrm>
          <a:prstGeom prst="roundRect">
            <a:avLst>
              <a:gd name="adj" fmla="val 2273"/>
            </a:avLst>
          </a:prstGeom>
          <a:solidFill>
            <a:srgbClr val="F4EFE7"/>
          </a:solidFill>
          <a:ln/>
        </p:spPr>
      </p:sp>
      <p:sp>
        <p:nvSpPr>
          <p:cNvPr id="8" name="Text 6"/>
          <p:cNvSpPr/>
          <p:nvPr/>
        </p:nvSpPr>
        <p:spPr>
          <a:xfrm>
            <a:off x="6400800" y="2029968"/>
            <a:ext cx="493776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It's the one thing every browser understands</a:t>
            </a:r>
            <a:endParaRPr lang="en-US" sz="1500" dirty="0"/>
          </a:p>
        </p:txBody>
      </p:sp>
      <p:sp>
        <p:nvSpPr>
          <p:cNvPr id="9" name="Text 7"/>
          <p:cNvSpPr/>
          <p:nvPr/>
        </p:nvSpPr>
        <p:spPr>
          <a:xfrm>
            <a:off x="6400800" y="2450592"/>
            <a:ext cx="4937760" cy="320040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Chrome, Safari, Firefox — all read HTML the same way</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No installation needed — just open a file or a URL</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It has barely changed in 30 years, so what you learn today still works tomorrow</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How a Browser Turns HTML into a Page</a:t>
            </a:r>
            <a:endParaRPr lang="en-US" sz="2700" dirty="0"/>
          </a:p>
        </p:txBody>
      </p:sp>
      <p:sp>
        <p:nvSpPr>
          <p:cNvPr id="4" name="Shape 2"/>
          <p:cNvSpPr/>
          <p:nvPr/>
        </p:nvSpPr>
        <p:spPr>
          <a:xfrm>
            <a:off x="548640" y="2103120"/>
            <a:ext cx="2286000" cy="1371600"/>
          </a:xfrm>
          <a:prstGeom prst="roundRect">
            <a:avLst>
              <a:gd name="adj" fmla="val 6667"/>
            </a:avLst>
          </a:prstGeom>
          <a:solidFill>
            <a:srgbClr val="E7E8D1"/>
          </a:solidFill>
          <a:ln/>
        </p:spPr>
      </p:sp>
      <p:sp>
        <p:nvSpPr>
          <p:cNvPr id="5" name="Text 3"/>
          <p:cNvSpPr/>
          <p:nvPr/>
        </p:nvSpPr>
        <p:spPr>
          <a:xfrm>
            <a:off x="685800" y="2103120"/>
            <a:ext cx="2011680" cy="1371600"/>
          </a:xfrm>
          <a:prstGeom prst="rect">
            <a:avLst/>
          </a:prstGeom>
          <a:noFill/>
          <a:ln/>
        </p:spPr>
        <p:txBody>
          <a:bodyPr wrap="square" lIns="0" tIns="0" rIns="0" bIns="0" rtlCol="0" anchor="ctr"/>
          <a:lstStyle/>
          <a:p>
            <a:pPr algn="ctr" indent="0" marL="0">
              <a:buNone/>
            </a:pPr>
            <a:r>
              <a:rPr lang="en-US" sz="1250" b="1" dirty="0">
                <a:solidFill>
                  <a:srgbClr val="3A2B26"/>
                </a:solidFill>
                <a:latin typeface="Calibri" pitchFamily="34" charset="0"/>
                <a:ea typeface="Calibri" pitchFamily="34" charset="-122"/>
                <a:cs typeface="Calibri" pitchFamily="34" charset="-120"/>
              </a:rPr>
              <a:t>1. You write</a:t>
            </a:r>
            <a:endParaRPr lang="en-US" sz="1250" dirty="0"/>
          </a:p>
          <a:p>
            <a:pPr algn="ctr" indent="0" marL="0">
              <a:buNone/>
            </a:pPr>
            <a:r>
              <a:rPr lang="en-US" sz="1250" b="1" dirty="0">
                <a:solidFill>
                  <a:srgbClr val="3A2B26"/>
                </a:solidFill>
                <a:latin typeface="Calibri" pitchFamily="34" charset="0"/>
                <a:ea typeface="Calibri" pitchFamily="34" charset="-122"/>
                <a:cs typeface="Calibri" pitchFamily="34" charset="-120"/>
              </a:rPr>
              <a:t>an .html file</a:t>
            </a:r>
            <a:endParaRPr lang="en-US" sz="1250" dirty="0"/>
          </a:p>
        </p:txBody>
      </p:sp>
      <p:sp>
        <p:nvSpPr>
          <p:cNvPr id="6" name="Text 4"/>
          <p:cNvSpPr/>
          <p:nvPr/>
        </p:nvSpPr>
        <p:spPr>
          <a:xfrm>
            <a:off x="2834640" y="2103120"/>
            <a:ext cx="457200" cy="1371600"/>
          </a:xfrm>
          <a:prstGeom prst="rect">
            <a:avLst/>
          </a:prstGeom>
          <a:noFill/>
          <a:ln/>
        </p:spPr>
        <p:txBody>
          <a:bodyPr wrap="square" lIns="0" tIns="0" rIns="0" bIns="0" rtlCol="0" anchor="ctr"/>
          <a:lstStyle/>
          <a:p>
            <a:pPr algn="ctr" indent="0" marL="0">
              <a:buNone/>
            </a:pPr>
            <a:r>
              <a:rPr lang="en-US" sz="2200" b="1" dirty="0">
                <a:solidFill>
                  <a:srgbClr val="B85042"/>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3291840" y="2103120"/>
            <a:ext cx="2286000" cy="1371600"/>
          </a:xfrm>
          <a:prstGeom prst="roundRect">
            <a:avLst>
              <a:gd name="adj" fmla="val 6667"/>
            </a:avLst>
          </a:prstGeom>
          <a:solidFill>
            <a:srgbClr val="F4EFE7"/>
          </a:solidFill>
          <a:ln/>
        </p:spPr>
      </p:sp>
      <p:sp>
        <p:nvSpPr>
          <p:cNvPr id="8" name="Text 6"/>
          <p:cNvSpPr/>
          <p:nvPr/>
        </p:nvSpPr>
        <p:spPr>
          <a:xfrm>
            <a:off x="3429000" y="2103120"/>
            <a:ext cx="2011680" cy="1371600"/>
          </a:xfrm>
          <a:prstGeom prst="rect">
            <a:avLst/>
          </a:prstGeom>
          <a:noFill/>
          <a:ln/>
        </p:spPr>
        <p:txBody>
          <a:bodyPr wrap="square" lIns="0" tIns="0" rIns="0" bIns="0" rtlCol="0" anchor="ctr"/>
          <a:lstStyle/>
          <a:p>
            <a:pPr algn="ctr" indent="0" marL="0">
              <a:buNone/>
            </a:pPr>
            <a:r>
              <a:rPr lang="en-US" sz="1250" b="1" dirty="0">
                <a:solidFill>
                  <a:srgbClr val="3A2B26"/>
                </a:solidFill>
                <a:latin typeface="Calibri" pitchFamily="34" charset="0"/>
                <a:ea typeface="Calibri" pitchFamily="34" charset="-122"/>
                <a:cs typeface="Calibri" pitchFamily="34" charset="-120"/>
              </a:rPr>
              <a:t>2. The browser</a:t>
            </a:r>
            <a:endParaRPr lang="en-US" sz="1250" dirty="0"/>
          </a:p>
          <a:p>
            <a:pPr algn="ctr" indent="0" marL="0">
              <a:buNone/>
            </a:pPr>
            <a:r>
              <a:rPr lang="en-US" sz="1250" b="1" dirty="0">
                <a:solidFill>
                  <a:srgbClr val="3A2B26"/>
                </a:solidFill>
                <a:latin typeface="Calibri" pitchFamily="34" charset="0"/>
                <a:ea typeface="Calibri" pitchFamily="34" charset="-122"/>
                <a:cs typeface="Calibri" pitchFamily="34" charset="-120"/>
              </a:rPr>
              <a:t>reads it top to bottom</a:t>
            </a:r>
            <a:endParaRPr lang="en-US" sz="1250" dirty="0"/>
          </a:p>
        </p:txBody>
      </p:sp>
      <p:sp>
        <p:nvSpPr>
          <p:cNvPr id="9" name="Text 7"/>
          <p:cNvSpPr/>
          <p:nvPr/>
        </p:nvSpPr>
        <p:spPr>
          <a:xfrm>
            <a:off x="5577840" y="2103120"/>
            <a:ext cx="457200" cy="1371600"/>
          </a:xfrm>
          <a:prstGeom prst="rect">
            <a:avLst/>
          </a:prstGeom>
          <a:noFill/>
          <a:ln/>
        </p:spPr>
        <p:txBody>
          <a:bodyPr wrap="square" lIns="0" tIns="0" rIns="0" bIns="0" rtlCol="0" anchor="ctr"/>
          <a:lstStyle/>
          <a:p>
            <a:pPr algn="ctr" indent="0" marL="0">
              <a:buNone/>
            </a:pPr>
            <a:r>
              <a:rPr lang="en-US" sz="2200" b="1" dirty="0">
                <a:solidFill>
                  <a:srgbClr val="B85042"/>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6035040" y="2103120"/>
            <a:ext cx="2286000" cy="1371600"/>
          </a:xfrm>
          <a:prstGeom prst="roundRect">
            <a:avLst>
              <a:gd name="adj" fmla="val 6667"/>
            </a:avLst>
          </a:prstGeom>
          <a:solidFill>
            <a:srgbClr val="E7E8D1"/>
          </a:solidFill>
          <a:ln/>
        </p:spPr>
      </p:sp>
      <p:sp>
        <p:nvSpPr>
          <p:cNvPr id="11" name="Text 9"/>
          <p:cNvSpPr/>
          <p:nvPr/>
        </p:nvSpPr>
        <p:spPr>
          <a:xfrm>
            <a:off x="6172200" y="2103120"/>
            <a:ext cx="2011680" cy="1371600"/>
          </a:xfrm>
          <a:prstGeom prst="rect">
            <a:avLst/>
          </a:prstGeom>
          <a:noFill/>
          <a:ln/>
        </p:spPr>
        <p:txBody>
          <a:bodyPr wrap="square" lIns="0" tIns="0" rIns="0" bIns="0" rtlCol="0" anchor="ctr"/>
          <a:lstStyle/>
          <a:p>
            <a:pPr algn="ctr" indent="0" marL="0">
              <a:buNone/>
            </a:pPr>
            <a:r>
              <a:rPr lang="en-US" sz="1250" b="1" dirty="0">
                <a:solidFill>
                  <a:srgbClr val="3A2B26"/>
                </a:solidFill>
                <a:latin typeface="Calibri" pitchFamily="34" charset="0"/>
                <a:ea typeface="Calibri" pitchFamily="34" charset="-122"/>
                <a:cs typeface="Calibri" pitchFamily="34" charset="-120"/>
              </a:rPr>
              <a:t>3. Each tag becomes</a:t>
            </a:r>
            <a:endParaRPr lang="en-US" sz="1250" dirty="0"/>
          </a:p>
          <a:p>
            <a:pPr algn="ctr" indent="0" marL="0">
              <a:buNone/>
            </a:pPr>
            <a:r>
              <a:rPr lang="en-US" sz="1250" b="1" dirty="0">
                <a:solidFill>
                  <a:srgbClr val="3A2B26"/>
                </a:solidFill>
                <a:latin typeface="Calibri" pitchFamily="34" charset="0"/>
                <a:ea typeface="Calibri" pitchFamily="34" charset="-122"/>
                <a:cs typeface="Calibri" pitchFamily="34" charset="-120"/>
              </a:rPr>
              <a:t>a box on screen</a:t>
            </a:r>
            <a:endParaRPr lang="en-US" sz="1250" dirty="0"/>
          </a:p>
        </p:txBody>
      </p:sp>
      <p:sp>
        <p:nvSpPr>
          <p:cNvPr id="12" name="Text 10"/>
          <p:cNvSpPr/>
          <p:nvPr/>
        </p:nvSpPr>
        <p:spPr>
          <a:xfrm>
            <a:off x="8321040" y="2103120"/>
            <a:ext cx="457200" cy="1371600"/>
          </a:xfrm>
          <a:prstGeom prst="rect">
            <a:avLst/>
          </a:prstGeom>
          <a:noFill/>
          <a:ln/>
        </p:spPr>
        <p:txBody>
          <a:bodyPr wrap="square" lIns="0" tIns="0" rIns="0" bIns="0" rtlCol="0" anchor="ctr"/>
          <a:lstStyle/>
          <a:p>
            <a:pPr algn="ctr" indent="0" marL="0">
              <a:buNone/>
            </a:pPr>
            <a:r>
              <a:rPr lang="en-US" sz="2200" b="1" dirty="0">
                <a:solidFill>
                  <a:srgbClr val="B85042"/>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8778240" y="2103120"/>
            <a:ext cx="2286000" cy="1371600"/>
          </a:xfrm>
          <a:prstGeom prst="roundRect">
            <a:avLst>
              <a:gd name="adj" fmla="val 6667"/>
            </a:avLst>
          </a:prstGeom>
          <a:solidFill>
            <a:srgbClr val="F4EFE7"/>
          </a:solidFill>
          <a:ln/>
        </p:spPr>
      </p:sp>
      <p:sp>
        <p:nvSpPr>
          <p:cNvPr id="14" name="Text 12"/>
          <p:cNvSpPr/>
          <p:nvPr/>
        </p:nvSpPr>
        <p:spPr>
          <a:xfrm>
            <a:off x="8915400" y="2103120"/>
            <a:ext cx="2011680" cy="1371600"/>
          </a:xfrm>
          <a:prstGeom prst="rect">
            <a:avLst/>
          </a:prstGeom>
          <a:noFill/>
          <a:ln/>
        </p:spPr>
        <p:txBody>
          <a:bodyPr wrap="square" lIns="0" tIns="0" rIns="0" bIns="0" rtlCol="0" anchor="ctr"/>
          <a:lstStyle/>
          <a:p>
            <a:pPr algn="ctr" indent="0" marL="0">
              <a:buNone/>
            </a:pPr>
            <a:r>
              <a:rPr lang="en-US" sz="1250" b="1" dirty="0">
                <a:solidFill>
                  <a:srgbClr val="3A2B26"/>
                </a:solidFill>
                <a:latin typeface="Calibri" pitchFamily="34" charset="0"/>
                <a:ea typeface="Calibri" pitchFamily="34" charset="-122"/>
                <a:cs typeface="Calibri" pitchFamily="34" charset="-120"/>
              </a:rPr>
              <a:t>4. Boxes stack up</a:t>
            </a:r>
            <a:endParaRPr lang="en-US" sz="1250" dirty="0"/>
          </a:p>
          <a:p>
            <a:pPr algn="ctr" indent="0" marL="0">
              <a:buNone/>
            </a:pPr>
            <a:r>
              <a:rPr lang="en-US" sz="1250" b="1" dirty="0">
                <a:solidFill>
                  <a:srgbClr val="3A2B26"/>
                </a:solidFill>
                <a:latin typeface="Calibri" pitchFamily="34" charset="0"/>
                <a:ea typeface="Calibri" pitchFamily="34" charset="-122"/>
                <a:cs typeface="Calibri" pitchFamily="34" charset="-120"/>
              </a:rPr>
              <a:t>into a page</a:t>
            </a:r>
            <a:endParaRPr lang="en-US" sz="1250" dirty="0"/>
          </a:p>
        </p:txBody>
      </p:sp>
      <p:sp>
        <p:nvSpPr>
          <p:cNvPr id="15" name="Text 13"/>
          <p:cNvSpPr/>
          <p:nvPr/>
        </p:nvSpPr>
        <p:spPr>
          <a:xfrm>
            <a:off x="548640" y="3931920"/>
            <a:ext cx="10698480" cy="548640"/>
          </a:xfrm>
          <a:prstGeom prst="rect">
            <a:avLst/>
          </a:prstGeom>
          <a:noFill/>
          <a:ln/>
        </p:spPr>
        <p:txBody>
          <a:bodyPr wrap="square" lIns="0" tIns="0" rIns="0" bIns="0" rtlCol="0" anchor="ctr"/>
          <a:lstStyle/>
          <a:p>
            <a:pPr indent="0" marL="0">
              <a:buNone/>
            </a:pPr>
            <a:r>
              <a:rPr lang="en-US" sz="1400" i="1" dirty="0">
                <a:solidFill>
                  <a:srgbClr val="555555"/>
                </a:solidFill>
                <a:latin typeface="Calibri" pitchFamily="34" charset="0"/>
                <a:ea typeface="Calibri" pitchFamily="34" charset="-122"/>
                <a:cs typeface="Calibri" pitchFamily="34" charset="-120"/>
              </a:rPr>
              <a:t>This is why we can preview our page just by opening the HTML file — no server, no internet needed yet.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Anatomy of a Tag</a:t>
            </a:r>
            <a:endParaRPr lang="en-US" sz="2700" dirty="0"/>
          </a:p>
        </p:txBody>
      </p:sp>
      <p:sp>
        <p:nvSpPr>
          <p:cNvPr id="4" name="Shape 2"/>
          <p:cNvSpPr/>
          <p:nvPr/>
        </p:nvSpPr>
        <p:spPr>
          <a:xfrm>
            <a:off x="548640" y="1828800"/>
            <a:ext cx="5669280" cy="1828800"/>
          </a:xfrm>
          <a:prstGeom prst="roundRect">
            <a:avLst>
              <a:gd name="adj" fmla="val 5000"/>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157216" cy="1234440"/>
          </a:xfrm>
          <a:prstGeom prst="rect">
            <a:avLst/>
          </a:prstGeom>
          <a:noFill/>
          <a:ln/>
        </p:spPr>
        <p:txBody>
          <a:bodyPr wrap="square" lIns="0" tIns="0" rIns="0" bIns="0" rtlCol="0" anchor="ctr"/>
          <a:lstStyle/>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&lt;a href=</a:t>
            </a:r>
            <a:pPr indent="0" marL="0">
              <a:lnSpc>
                <a:spcPct val="122000"/>
              </a:lnSpc>
              <a:buNone/>
            </a:pPr>
            <a:r>
              <a:rPr lang="en-US" sz="1300" dirty="0">
                <a:solidFill>
                  <a:srgbClr val="D98C6B"/>
                </a:solidFill>
                <a:latin typeface="Courier New" pitchFamily="34" charset="0"/>
                <a:ea typeface="Courier New" pitchFamily="34" charset="-122"/>
                <a:cs typeface="Courier New" pitchFamily="34" charset="-120"/>
              </a:rPr>
              <a:t>"about.html"</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&gt;About&lt;/a&gt;</a:t>
            </a:r>
            <a:endParaRPr lang="en-US" sz="1300" dirty="0"/>
          </a:p>
        </p:txBody>
      </p:sp>
      <p:sp>
        <p:nvSpPr>
          <p:cNvPr id="9" name="Text 7"/>
          <p:cNvSpPr/>
          <p:nvPr/>
        </p:nvSpPr>
        <p:spPr>
          <a:xfrm>
            <a:off x="6537960" y="1920240"/>
            <a:ext cx="5074920" cy="1280160"/>
          </a:xfrm>
          <a:prstGeom prst="rect">
            <a:avLst/>
          </a:prstGeom>
          <a:noFill/>
          <a:ln/>
        </p:spPr>
        <p:txBody>
          <a:bodyPr wrap="square" lIns="0" tIns="0" rIns="0" bIns="0" rtlCol="0" anchor="ctr"/>
          <a:lstStyle/>
          <a:p>
            <a:pPr indent="0" marL="0">
              <a:buNone/>
            </a:pPr>
            <a:r>
              <a:rPr lang="en-US" sz="1400" dirty="0">
                <a:solidFill>
                  <a:srgbClr val="2D2D2D"/>
                </a:solidFill>
                <a:latin typeface="Calibri" pitchFamily="34" charset="0"/>
                <a:ea typeface="Calibri" pitchFamily="34" charset="-122"/>
                <a:cs typeface="Calibri" pitchFamily="34" charset="-120"/>
              </a:rPr>
              <a:t>Every tag has an opening tag, optional attributes, the content inside, and a matching closing tag.</a:t>
            </a:r>
            <a:endParaRPr lang="en-US" sz="1400" dirty="0"/>
          </a:p>
        </p:txBody>
      </p:sp>
      <p:sp>
        <p:nvSpPr>
          <p:cNvPr id="10" name="Shape 8"/>
          <p:cNvSpPr/>
          <p:nvPr/>
        </p:nvSpPr>
        <p:spPr>
          <a:xfrm>
            <a:off x="6537960" y="3383280"/>
            <a:ext cx="5074920" cy="2286000"/>
          </a:xfrm>
          <a:prstGeom prst="roundRect">
            <a:avLst>
              <a:gd name="adj" fmla="val 4000"/>
            </a:avLst>
          </a:prstGeom>
          <a:solidFill>
            <a:srgbClr val="F4EFE7"/>
          </a:solidFill>
          <a:ln/>
        </p:spPr>
      </p:sp>
      <p:sp>
        <p:nvSpPr>
          <p:cNvPr id="11" name="Text 9"/>
          <p:cNvSpPr/>
          <p:nvPr/>
        </p:nvSpPr>
        <p:spPr>
          <a:xfrm>
            <a:off x="6766560" y="3566160"/>
            <a:ext cx="1463040" cy="411480"/>
          </a:xfrm>
          <a:prstGeom prst="rect">
            <a:avLst/>
          </a:prstGeom>
          <a:noFill/>
          <a:ln/>
        </p:spPr>
        <p:txBody>
          <a:bodyPr wrap="square" lIns="0" tIns="0" rIns="0" bIns="0" rtlCol="0" anchor="ctr"/>
          <a:lstStyle/>
          <a:p>
            <a:pPr indent="0" marL="0">
              <a:buNone/>
            </a:pPr>
            <a:r>
              <a:rPr lang="en-US" sz="1200" b="1" dirty="0">
                <a:solidFill>
                  <a:srgbClr val="B85042"/>
                </a:solidFill>
                <a:latin typeface="Courier New" pitchFamily="34" charset="0"/>
                <a:ea typeface="Courier New" pitchFamily="34" charset="-122"/>
                <a:cs typeface="Courier New" pitchFamily="34" charset="-120"/>
              </a:rPr>
              <a:t>&lt;a ...&gt;</a:t>
            </a:r>
            <a:endParaRPr lang="en-US" sz="1200" dirty="0"/>
          </a:p>
        </p:txBody>
      </p:sp>
      <p:sp>
        <p:nvSpPr>
          <p:cNvPr id="12" name="Text 10"/>
          <p:cNvSpPr/>
          <p:nvPr/>
        </p:nvSpPr>
        <p:spPr>
          <a:xfrm>
            <a:off x="8275320" y="3566160"/>
            <a:ext cx="3200400" cy="411480"/>
          </a:xfrm>
          <a:prstGeom prst="rect">
            <a:avLst/>
          </a:prstGeom>
          <a:noFill/>
          <a:ln/>
        </p:spPr>
        <p:txBody>
          <a:bodyPr wrap="square" lIns="0" tIns="0" rIns="0" bIns="0" rtlCol="0" anchor="ctr"/>
          <a:lstStyle/>
          <a:p>
            <a:pPr indent="0" marL="0">
              <a:buNone/>
            </a:pPr>
            <a:r>
              <a:rPr lang="en-US" sz="1100" dirty="0">
                <a:solidFill>
                  <a:srgbClr val="3A2B26"/>
                </a:solidFill>
                <a:latin typeface="Calibri" pitchFamily="34" charset="0"/>
                <a:ea typeface="Calibri" pitchFamily="34" charset="-122"/>
                <a:cs typeface="Calibri" pitchFamily="34" charset="-120"/>
              </a:rPr>
              <a:t>opening tag — says "a link starts here"</a:t>
            </a:r>
            <a:endParaRPr lang="en-US" sz="1100" dirty="0"/>
          </a:p>
        </p:txBody>
      </p:sp>
      <p:sp>
        <p:nvSpPr>
          <p:cNvPr id="13" name="Text 11"/>
          <p:cNvSpPr/>
          <p:nvPr/>
        </p:nvSpPr>
        <p:spPr>
          <a:xfrm>
            <a:off x="6766560" y="4069080"/>
            <a:ext cx="1463040" cy="411480"/>
          </a:xfrm>
          <a:prstGeom prst="rect">
            <a:avLst/>
          </a:prstGeom>
          <a:noFill/>
          <a:ln/>
        </p:spPr>
        <p:txBody>
          <a:bodyPr wrap="square" lIns="0" tIns="0" rIns="0" bIns="0" rtlCol="0" anchor="ctr"/>
          <a:lstStyle/>
          <a:p>
            <a:pPr indent="0" marL="0">
              <a:buNone/>
            </a:pPr>
            <a:r>
              <a:rPr lang="en-US" sz="1200" b="1" dirty="0">
                <a:solidFill>
                  <a:srgbClr val="B85042"/>
                </a:solidFill>
                <a:latin typeface="Courier New" pitchFamily="34" charset="0"/>
                <a:ea typeface="Courier New" pitchFamily="34" charset="-122"/>
                <a:cs typeface="Courier New" pitchFamily="34" charset="-120"/>
              </a:rPr>
              <a:t>href="..."</a:t>
            </a:r>
            <a:endParaRPr lang="en-US" sz="1200" dirty="0"/>
          </a:p>
        </p:txBody>
      </p:sp>
      <p:sp>
        <p:nvSpPr>
          <p:cNvPr id="14" name="Text 12"/>
          <p:cNvSpPr/>
          <p:nvPr/>
        </p:nvSpPr>
        <p:spPr>
          <a:xfrm>
            <a:off x="8275320" y="4069080"/>
            <a:ext cx="3200400" cy="411480"/>
          </a:xfrm>
          <a:prstGeom prst="rect">
            <a:avLst/>
          </a:prstGeom>
          <a:noFill/>
          <a:ln/>
        </p:spPr>
        <p:txBody>
          <a:bodyPr wrap="square" lIns="0" tIns="0" rIns="0" bIns="0" rtlCol="0" anchor="ctr"/>
          <a:lstStyle/>
          <a:p>
            <a:pPr indent="0" marL="0">
              <a:buNone/>
            </a:pPr>
            <a:r>
              <a:rPr lang="en-US" sz="1100" dirty="0">
                <a:solidFill>
                  <a:srgbClr val="3A2B26"/>
                </a:solidFill>
                <a:latin typeface="Calibri" pitchFamily="34" charset="0"/>
                <a:ea typeface="Calibri" pitchFamily="34" charset="-122"/>
                <a:cs typeface="Calibri" pitchFamily="34" charset="-120"/>
              </a:rPr>
              <a:t>attribute — extra info about the tag</a:t>
            </a:r>
            <a:endParaRPr lang="en-US" sz="1100" dirty="0"/>
          </a:p>
        </p:txBody>
      </p:sp>
      <p:sp>
        <p:nvSpPr>
          <p:cNvPr id="15" name="Text 13"/>
          <p:cNvSpPr/>
          <p:nvPr/>
        </p:nvSpPr>
        <p:spPr>
          <a:xfrm>
            <a:off x="6766560" y="4572000"/>
            <a:ext cx="1463040" cy="411480"/>
          </a:xfrm>
          <a:prstGeom prst="rect">
            <a:avLst/>
          </a:prstGeom>
          <a:noFill/>
          <a:ln/>
        </p:spPr>
        <p:txBody>
          <a:bodyPr wrap="square" lIns="0" tIns="0" rIns="0" bIns="0" rtlCol="0" anchor="ctr"/>
          <a:lstStyle/>
          <a:p>
            <a:pPr indent="0" marL="0">
              <a:buNone/>
            </a:pPr>
            <a:r>
              <a:rPr lang="en-US" sz="1200" b="1" dirty="0">
                <a:solidFill>
                  <a:srgbClr val="B85042"/>
                </a:solidFill>
                <a:latin typeface="Courier New" pitchFamily="34" charset="0"/>
                <a:ea typeface="Courier New" pitchFamily="34" charset="-122"/>
                <a:cs typeface="Courier New" pitchFamily="34" charset="-120"/>
              </a:rPr>
              <a:t>About</a:t>
            </a:r>
            <a:endParaRPr lang="en-US" sz="1200" dirty="0"/>
          </a:p>
        </p:txBody>
      </p:sp>
      <p:sp>
        <p:nvSpPr>
          <p:cNvPr id="16" name="Text 14"/>
          <p:cNvSpPr/>
          <p:nvPr/>
        </p:nvSpPr>
        <p:spPr>
          <a:xfrm>
            <a:off x="8275320" y="4572000"/>
            <a:ext cx="3200400" cy="411480"/>
          </a:xfrm>
          <a:prstGeom prst="rect">
            <a:avLst/>
          </a:prstGeom>
          <a:noFill/>
          <a:ln/>
        </p:spPr>
        <p:txBody>
          <a:bodyPr wrap="square" lIns="0" tIns="0" rIns="0" bIns="0" rtlCol="0" anchor="ctr"/>
          <a:lstStyle/>
          <a:p>
            <a:pPr indent="0" marL="0">
              <a:buNone/>
            </a:pPr>
            <a:r>
              <a:rPr lang="en-US" sz="1100" dirty="0">
                <a:solidFill>
                  <a:srgbClr val="3A2B26"/>
                </a:solidFill>
                <a:latin typeface="Calibri" pitchFamily="34" charset="0"/>
                <a:ea typeface="Calibri" pitchFamily="34" charset="-122"/>
                <a:cs typeface="Calibri" pitchFamily="34" charset="-120"/>
              </a:rPr>
              <a:t>content — what shows on the page</a:t>
            </a:r>
            <a:endParaRPr lang="en-US" sz="1100" dirty="0"/>
          </a:p>
        </p:txBody>
      </p:sp>
      <p:sp>
        <p:nvSpPr>
          <p:cNvPr id="17" name="Text 15"/>
          <p:cNvSpPr/>
          <p:nvPr/>
        </p:nvSpPr>
        <p:spPr>
          <a:xfrm>
            <a:off x="6766560" y="5074920"/>
            <a:ext cx="1463040" cy="411480"/>
          </a:xfrm>
          <a:prstGeom prst="rect">
            <a:avLst/>
          </a:prstGeom>
          <a:noFill/>
          <a:ln/>
        </p:spPr>
        <p:txBody>
          <a:bodyPr wrap="square" lIns="0" tIns="0" rIns="0" bIns="0" rtlCol="0" anchor="ctr"/>
          <a:lstStyle/>
          <a:p>
            <a:pPr indent="0" marL="0">
              <a:buNone/>
            </a:pPr>
            <a:r>
              <a:rPr lang="en-US" sz="1200" b="1" dirty="0">
                <a:solidFill>
                  <a:srgbClr val="B85042"/>
                </a:solidFill>
                <a:latin typeface="Courier New" pitchFamily="34" charset="0"/>
                <a:ea typeface="Courier New" pitchFamily="34" charset="-122"/>
                <a:cs typeface="Courier New" pitchFamily="34" charset="-120"/>
              </a:rPr>
              <a:t>&lt;/a&gt;</a:t>
            </a:r>
            <a:endParaRPr lang="en-US" sz="1200" dirty="0"/>
          </a:p>
        </p:txBody>
      </p:sp>
      <p:sp>
        <p:nvSpPr>
          <p:cNvPr id="18" name="Text 16"/>
          <p:cNvSpPr/>
          <p:nvPr/>
        </p:nvSpPr>
        <p:spPr>
          <a:xfrm>
            <a:off x="8275320" y="5074920"/>
            <a:ext cx="3200400" cy="411480"/>
          </a:xfrm>
          <a:prstGeom prst="rect">
            <a:avLst/>
          </a:prstGeom>
          <a:noFill/>
          <a:ln/>
        </p:spPr>
        <p:txBody>
          <a:bodyPr wrap="square" lIns="0" tIns="0" rIns="0" bIns="0" rtlCol="0" anchor="ctr"/>
          <a:lstStyle/>
          <a:p>
            <a:pPr indent="0" marL="0">
              <a:buNone/>
            </a:pPr>
            <a:r>
              <a:rPr lang="en-US" sz="1100" dirty="0">
                <a:solidFill>
                  <a:srgbClr val="3A2B26"/>
                </a:solidFill>
                <a:latin typeface="Calibri" pitchFamily="34" charset="0"/>
                <a:ea typeface="Calibri" pitchFamily="34" charset="-122"/>
                <a:cs typeface="Calibri" pitchFamily="34" charset="-120"/>
              </a:rPr>
              <a:t>closing tag — says "the link ends here"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Attributes — Extra Info for a Tag</a:t>
            </a:r>
            <a:endParaRPr lang="en-US" sz="2700" dirty="0"/>
          </a:p>
        </p:txBody>
      </p:sp>
      <p:sp>
        <p:nvSpPr>
          <p:cNvPr id="4" name="Shape 2"/>
          <p:cNvSpPr/>
          <p:nvPr/>
        </p:nvSpPr>
        <p:spPr>
          <a:xfrm>
            <a:off x="548640" y="1828800"/>
            <a:ext cx="3566160" cy="1554480"/>
          </a:xfrm>
          <a:prstGeom prst="roundRect">
            <a:avLst>
              <a:gd name="adj" fmla="val 4706"/>
            </a:avLst>
          </a:prstGeom>
          <a:solidFill>
            <a:srgbClr val="F4EFE7"/>
          </a:solidFill>
          <a:ln/>
        </p:spPr>
      </p:sp>
      <p:sp>
        <p:nvSpPr>
          <p:cNvPr id="5" name="Text 3"/>
          <p:cNvSpPr/>
          <p:nvPr/>
        </p:nvSpPr>
        <p:spPr>
          <a:xfrm>
            <a:off x="731520" y="1938528"/>
            <a:ext cx="3200400" cy="365760"/>
          </a:xfrm>
          <a:prstGeom prst="rect">
            <a:avLst/>
          </a:prstGeom>
          <a:noFill/>
          <a:ln/>
        </p:spPr>
        <p:txBody>
          <a:bodyPr wrap="square" lIns="0" tIns="0" rIns="0" bIns="0" rtlCol="0" anchor="ctr"/>
          <a:lstStyle/>
          <a:p>
            <a:pPr indent="0" marL="0">
              <a:buNone/>
            </a:pPr>
            <a:r>
              <a:rPr lang="en-US" sz="1400" b="1" dirty="0">
                <a:solidFill>
                  <a:srgbClr val="B85042"/>
                </a:solidFill>
                <a:latin typeface="Courier New" pitchFamily="34" charset="0"/>
                <a:ea typeface="Courier New" pitchFamily="34" charset="-122"/>
                <a:cs typeface="Courier New" pitchFamily="34" charset="-120"/>
              </a:rPr>
              <a:t>class="..."</a:t>
            </a:r>
            <a:endParaRPr lang="en-US" sz="1400" dirty="0"/>
          </a:p>
        </p:txBody>
      </p:sp>
      <p:sp>
        <p:nvSpPr>
          <p:cNvPr id="6" name="Text 4"/>
          <p:cNvSpPr/>
          <p:nvPr/>
        </p:nvSpPr>
        <p:spPr>
          <a:xfrm>
            <a:off x="731520" y="2331720"/>
            <a:ext cx="3200400" cy="91440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gives a tag a name so you can style it later with CSS</a:t>
            </a:r>
            <a:endParaRPr lang="en-US" sz="1100" dirty="0"/>
          </a:p>
        </p:txBody>
      </p:sp>
      <p:sp>
        <p:nvSpPr>
          <p:cNvPr id="7" name="Shape 5"/>
          <p:cNvSpPr/>
          <p:nvPr/>
        </p:nvSpPr>
        <p:spPr>
          <a:xfrm>
            <a:off x="4297680" y="1828800"/>
            <a:ext cx="3566160" cy="1554480"/>
          </a:xfrm>
          <a:prstGeom prst="roundRect">
            <a:avLst>
              <a:gd name="adj" fmla="val 4706"/>
            </a:avLst>
          </a:prstGeom>
          <a:solidFill>
            <a:srgbClr val="F4EFE7"/>
          </a:solidFill>
          <a:ln/>
        </p:spPr>
      </p:sp>
      <p:sp>
        <p:nvSpPr>
          <p:cNvPr id="8" name="Text 6"/>
          <p:cNvSpPr/>
          <p:nvPr/>
        </p:nvSpPr>
        <p:spPr>
          <a:xfrm>
            <a:off x="4480560" y="1938528"/>
            <a:ext cx="3200400" cy="365760"/>
          </a:xfrm>
          <a:prstGeom prst="rect">
            <a:avLst/>
          </a:prstGeom>
          <a:noFill/>
          <a:ln/>
        </p:spPr>
        <p:txBody>
          <a:bodyPr wrap="square" lIns="0" tIns="0" rIns="0" bIns="0" rtlCol="0" anchor="ctr"/>
          <a:lstStyle/>
          <a:p>
            <a:pPr indent="0" marL="0">
              <a:buNone/>
            </a:pPr>
            <a:r>
              <a:rPr lang="en-US" sz="1400" b="1" dirty="0">
                <a:solidFill>
                  <a:srgbClr val="B85042"/>
                </a:solidFill>
                <a:latin typeface="Courier New" pitchFamily="34" charset="0"/>
                <a:ea typeface="Courier New" pitchFamily="34" charset="-122"/>
                <a:cs typeface="Courier New" pitchFamily="34" charset="-120"/>
              </a:rPr>
              <a:t>id="..."</a:t>
            </a:r>
            <a:endParaRPr lang="en-US" sz="1400" dirty="0"/>
          </a:p>
        </p:txBody>
      </p:sp>
      <p:sp>
        <p:nvSpPr>
          <p:cNvPr id="9" name="Text 7"/>
          <p:cNvSpPr/>
          <p:nvPr/>
        </p:nvSpPr>
        <p:spPr>
          <a:xfrm>
            <a:off x="4480560" y="2331720"/>
            <a:ext cx="3200400" cy="91440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a unique name for just ONE element on the page</a:t>
            </a:r>
            <a:endParaRPr lang="en-US" sz="1100" dirty="0"/>
          </a:p>
        </p:txBody>
      </p:sp>
      <p:sp>
        <p:nvSpPr>
          <p:cNvPr id="10" name="Shape 8"/>
          <p:cNvSpPr/>
          <p:nvPr/>
        </p:nvSpPr>
        <p:spPr>
          <a:xfrm>
            <a:off x="8046720" y="1828800"/>
            <a:ext cx="3566160" cy="1554480"/>
          </a:xfrm>
          <a:prstGeom prst="roundRect">
            <a:avLst>
              <a:gd name="adj" fmla="val 4706"/>
            </a:avLst>
          </a:prstGeom>
          <a:solidFill>
            <a:srgbClr val="F4EFE7"/>
          </a:solidFill>
          <a:ln/>
        </p:spPr>
      </p:sp>
      <p:sp>
        <p:nvSpPr>
          <p:cNvPr id="11" name="Text 9"/>
          <p:cNvSpPr/>
          <p:nvPr/>
        </p:nvSpPr>
        <p:spPr>
          <a:xfrm>
            <a:off x="8229600" y="1938528"/>
            <a:ext cx="3200400" cy="365760"/>
          </a:xfrm>
          <a:prstGeom prst="rect">
            <a:avLst/>
          </a:prstGeom>
          <a:noFill/>
          <a:ln/>
        </p:spPr>
        <p:txBody>
          <a:bodyPr wrap="square" lIns="0" tIns="0" rIns="0" bIns="0" rtlCol="0" anchor="ctr"/>
          <a:lstStyle/>
          <a:p>
            <a:pPr indent="0" marL="0">
              <a:buNone/>
            </a:pPr>
            <a:r>
              <a:rPr lang="en-US" sz="1400" b="1" dirty="0">
                <a:solidFill>
                  <a:srgbClr val="B85042"/>
                </a:solidFill>
                <a:latin typeface="Courier New" pitchFamily="34" charset="0"/>
                <a:ea typeface="Courier New" pitchFamily="34" charset="-122"/>
                <a:cs typeface="Courier New" pitchFamily="34" charset="-120"/>
              </a:rPr>
              <a:t>src="..."</a:t>
            </a:r>
            <a:endParaRPr lang="en-US" sz="1400" dirty="0"/>
          </a:p>
        </p:txBody>
      </p:sp>
      <p:sp>
        <p:nvSpPr>
          <p:cNvPr id="12" name="Text 10"/>
          <p:cNvSpPr/>
          <p:nvPr/>
        </p:nvSpPr>
        <p:spPr>
          <a:xfrm>
            <a:off x="8229600" y="2331720"/>
            <a:ext cx="3200400" cy="91440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tells an &lt;img&gt; which picture file to show</a:t>
            </a:r>
            <a:endParaRPr lang="en-US" sz="1100" dirty="0"/>
          </a:p>
        </p:txBody>
      </p:sp>
      <p:sp>
        <p:nvSpPr>
          <p:cNvPr id="13" name="Shape 11"/>
          <p:cNvSpPr/>
          <p:nvPr/>
        </p:nvSpPr>
        <p:spPr>
          <a:xfrm>
            <a:off x="548640" y="3566160"/>
            <a:ext cx="3566160" cy="1554480"/>
          </a:xfrm>
          <a:prstGeom prst="roundRect">
            <a:avLst>
              <a:gd name="adj" fmla="val 4706"/>
            </a:avLst>
          </a:prstGeom>
          <a:solidFill>
            <a:srgbClr val="F4EFE7"/>
          </a:solidFill>
          <a:ln/>
        </p:spPr>
      </p:sp>
      <p:sp>
        <p:nvSpPr>
          <p:cNvPr id="14" name="Text 12"/>
          <p:cNvSpPr/>
          <p:nvPr/>
        </p:nvSpPr>
        <p:spPr>
          <a:xfrm>
            <a:off x="731520" y="3675888"/>
            <a:ext cx="3200400" cy="365760"/>
          </a:xfrm>
          <a:prstGeom prst="rect">
            <a:avLst/>
          </a:prstGeom>
          <a:noFill/>
          <a:ln/>
        </p:spPr>
        <p:txBody>
          <a:bodyPr wrap="square" lIns="0" tIns="0" rIns="0" bIns="0" rtlCol="0" anchor="ctr"/>
          <a:lstStyle/>
          <a:p>
            <a:pPr indent="0" marL="0">
              <a:buNone/>
            </a:pPr>
            <a:r>
              <a:rPr lang="en-US" sz="1400" b="1" dirty="0">
                <a:solidFill>
                  <a:srgbClr val="B85042"/>
                </a:solidFill>
                <a:latin typeface="Courier New" pitchFamily="34" charset="0"/>
                <a:ea typeface="Courier New" pitchFamily="34" charset="-122"/>
                <a:cs typeface="Courier New" pitchFamily="34" charset="-120"/>
              </a:rPr>
              <a:t>href="..."</a:t>
            </a:r>
            <a:endParaRPr lang="en-US" sz="1400" dirty="0"/>
          </a:p>
        </p:txBody>
      </p:sp>
      <p:sp>
        <p:nvSpPr>
          <p:cNvPr id="15" name="Text 13"/>
          <p:cNvSpPr/>
          <p:nvPr/>
        </p:nvSpPr>
        <p:spPr>
          <a:xfrm>
            <a:off x="731520" y="4069080"/>
            <a:ext cx="3200400" cy="91440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tells an &lt;a&gt; link where to go</a:t>
            </a:r>
            <a:endParaRPr lang="en-US" sz="1100" dirty="0"/>
          </a:p>
        </p:txBody>
      </p:sp>
      <p:sp>
        <p:nvSpPr>
          <p:cNvPr id="16" name="Shape 14"/>
          <p:cNvSpPr/>
          <p:nvPr/>
        </p:nvSpPr>
        <p:spPr>
          <a:xfrm>
            <a:off x="4297680" y="3566160"/>
            <a:ext cx="3566160" cy="1554480"/>
          </a:xfrm>
          <a:prstGeom prst="roundRect">
            <a:avLst>
              <a:gd name="adj" fmla="val 4706"/>
            </a:avLst>
          </a:prstGeom>
          <a:solidFill>
            <a:srgbClr val="F4EFE7"/>
          </a:solidFill>
          <a:ln/>
        </p:spPr>
      </p:sp>
      <p:sp>
        <p:nvSpPr>
          <p:cNvPr id="17" name="Text 15"/>
          <p:cNvSpPr/>
          <p:nvPr/>
        </p:nvSpPr>
        <p:spPr>
          <a:xfrm>
            <a:off x="4480560" y="3675888"/>
            <a:ext cx="3200400" cy="365760"/>
          </a:xfrm>
          <a:prstGeom prst="rect">
            <a:avLst/>
          </a:prstGeom>
          <a:noFill/>
          <a:ln/>
        </p:spPr>
        <p:txBody>
          <a:bodyPr wrap="square" lIns="0" tIns="0" rIns="0" bIns="0" rtlCol="0" anchor="ctr"/>
          <a:lstStyle/>
          <a:p>
            <a:pPr indent="0" marL="0">
              <a:buNone/>
            </a:pPr>
            <a:r>
              <a:rPr lang="en-US" sz="1400" b="1" dirty="0">
                <a:solidFill>
                  <a:srgbClr val="B85042"/>
                </a:solidFill>
                <a:latin typeface="Courier New" pitchFamily="34" charset="0"/>
                <a:ea typeface="Courier New" pitchFamily="34" charset="-122"/>
                <a:cs typeface="Courier New" pitchFamily="34" charset="-120"/>
              </a:rPr>
              <a:t>alt="..."</a:t>
            </a:r>
            <a:endParaRPr lang="en-US" sz="1400" dirty="0"/>
          </a:p>
        </p:txBody>
      </p:sp>
      <p:sp>
        <p:nvSpPr>
          <p:cNvPr id="18" name="Text 16"/>
          <p:cNvSpPr/>
          <p:nvPr/>
        </p:nvSpPr>
        <p:spPr>
          <a:xfrm>
            <a:off x="4480560" y="4069080"/>
            <a:ext cx="3200400" cy="91440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words that describe an image, in case it doesn't load</a:t>
            </a:r>
            <a:endParaRPr lang="en-US" sz="1100" dirty="0"/>
          </a:p>
        </p:txBody>
      </p:sp>
      <p:sp>
        <p:nvSpPr>
          <p:cNvPr id="19" name="Shape 17"/>
          <p:cNvSpPr/>
          <p:nvPr/>
        </p:nvSpPr>
        <p:spPr>
          <a:xfrm>
            <a:off x="8046720" y="3566160"/>
            <a:ext cx="3566160" cy="1554480"/>
          </a:xfrm>
          <a:prstGeom prst="roundRect">
            <a:avLst>
              <a:gd name="adj" fmla="val 4706"/>
            </a:avLst>
          </a:prstGeom>
          <a:solidFill>
            <a:srgbClr val="F4EFE7"/>
          </a:solidFill>
          <a:ln/>
        </p:spPr>
      </p:sp>
      <p:sp>
        <p:nvSpPr>
          <p:cNvPr id="20" name="Text 18"/>
          <p:cNvSpPr/>
          <p:nvPr/>
        </p:nvSpPr>
        <p:spPr>
          <a:xfrm>
            <a:off x="8229600" y="3675888"/>
            <a:ext cx="3200400" cy="365760"/>
          </a:xfrm>
          <a:prstGeom prst="rect">
            <a:avLst/>
          </a:prstGeom>
          <a:noFill/>
          <a:ln/>
        </p:spPr>
        <p:txBody>
          <a:bodyPr wrap="square" lIns="0" tIns="0" rIns="0" bIns="0" rtlCol="0" anchor="ctr"/>
          <a:lstStyle/>
          <a:p>
            <a:pPr indent="0" marL="0">
              <a:buNone/>
            </a:pPr>
            <a:r>
              <a:rPr lang="en-US" sz="1400" b="1" dirty="0">
                <a:solidFill>
                  <a:srgbClr val="B85042"/>
                </a:solidFill>
                <a:latin typeface="Courier New" pitchFamily="34" charset="0"/>
                <a:ea typeface="Courier New" pitchFamily="34" charset="-122"/>
                <a:cs typeface="Courier New" pitchFamily="34" charset="-120"/>
              </a:rPr>
              <a:t>placeholder="..."</a:t>
            </a:r>
            <a:endParaRPr lang="en-US" sz="1400" dirty="0"/>
          </a:p>
        </p:txBody>
      </p:sp>
      <p:sp>
        <p:nvSpPr>
          <p:cNvPr id="21" name="Text 19"/>
          <p:cNvSpPr/>
          <p:nvPr/>
        </p:nvSpPr>
        <p:spPr>
          <a:xfrm>
            <a:off x="8229600" y="4069080"/>
            <a:ext cx="3200400" cy="91440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light grey hint text shown inside an empty box</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TAG TOUR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Structure Tags — the Big Boxes</a:t>
            </a:r>
            <a:endParaRPr lang="en-US" sz="2700" dirty="0"/>
          </a:p>
        </p:txBody>
      </p:sp>
      <p:sp>
        <p:nvSpPr>
          <p:cNvPr id="4" name="Shape 2"/>
          <p:cNvSpPr/>
          <p:nvPr/>
        </p:nvSpPr>
        <p:spPr>
          <a:xfrm>
            <a:off x="548640" y="1828800"/>
            <a:ext cx="5577840" cy="3931920"/>
          </a:xfrm>
          <a:prstGeom prst="roundRect">
            <a:avLst>
              <a:gd name="adj" fmla="val 2326"/>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3337560"/>
          </a:xfrm>
          <a:prstGeom prst="rect">
            <a:avLst/>
          </a:prstGeom>
          <a:noFill/>
          <a:ln/>
        </p:spPr>
        <p:txBody>
          <a:bodyPr wrap="square" lIns="0" tIns="0" rIns="0" bIns="0" rtlCol="0" anchor="ctr"/>
          <a:lstStyle/>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&lt;header&gt;...&lt;/header&gt;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&lt;nav&gt;...&lt;/nav&gt;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&lt;main&gt;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&lt;section&gt;...&lt;/section&gt;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&lt;section&gt;...&lt;/section&gt;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&lt;/main&gt;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&lt;footer&gt;...&lt;/footer&gt;</a:t>
            </a:r>
            <a:endParaRPr lang="en-US" sz="1200" dirty="0"/>
          </a:p>
        </p:txBody>
      </p:sp>
      <p:sp>
        <p:nvSpPr>
          <p:cNvPr id="9" name="Shape 7"/>
          <p:cNvSpPr/>
          <p:nvPr/>
        </p:nvSpPr>
        <p:spPr>
          <a:xfrm>
            <a:off x="6355080" y="1828800"/>
            <a:ext cx="5257800" cy="3931920"/>
          </a:xfrm>
          <a:prstGeom prst="roundRect">
            <a:avLst>
              <a:gd name="adj" fmla="val 2326"/>
            </a:avLst>
          </a:prstGeom>
          <a:solidFill>
            <a:srgbClr val="FFFFFF"/>
          </a:solidFill>
          <a:ln w="15875">
            <a:solidFill>
              <a:srgbClr val="A7BEAE"/>
            </a:solidFill>
            <a:prstDash val="solid"/>
          </a:ln>
        </p:spPr>
      </p:sp>
      <p:sp>
        <p:nvSpPr>
          <p:cNvPr id="10" name="Shape 8"/>
          <p:cNvSpPr/>
          <p:nvPr/>
        </p:nvSpPr>
        <p:spPr>
          <a:xfrm>
            <a:off x="6355080" y="1828800"/>
            <a:ext cx="5257800" cy="384048"/>
          </a:xfrm>
          <a:prstGeom prst="roundRect">
            <a:avLst>
              <a:gd name="adj" fmla="val 23810"/>
            </a:avLst>
          </a:prstGeom>
          <a:solidFill>
            <a:srgbClr val="F4EFE7"/>
          </a:solidFill>
          <a:ln/>
        </p:spPr>
      </p:sp>
      <p:sp>
        <p:nvSpPr>
          <p:cNvPr id="11" name="Shape 9"/>
          <p:cNvSpPr/>
          <p:nvPr/>
        </p:nvSpPr>
        <p:spPr>
          <a:xfrm>
            <a:off x="6519672" y="1956816"/>
            <a:ext cx="118872" cy="118872"/>
          </a:xfrm>
          <a:prstGeom prst="ellipse">
            <a:avLst/>
          </a:prstGeom>
          <a:solidFill>
            <a:srgbClr val="E06C75"/>
          </a:solidFill>
          <a:ln/>
        </p:spPr>
      </p:sp>
      <p:sp>
        <p:nvSpPr>
          <p:cNvPr id="12" name="Shape 10"/>
          <p:cNvSpPr/>
          <p:nvPr/>
        </p:nvSpPr>
        <p:spPr>
          <a:xfrm>
            <a:off x="6720840" y="1956816"/>
            <a:ext cx="118872" cy="118872"/>
          </a:xfrm>
          <a:prstGeom prst="ellipse">
            <a:avLst/>
          </a:prstGeom>
          <a:solidFill>
            <a:srgbClr val="E5C07B"/>
          </a:solidFill>
          <a:ln/>
        </p:spPr>
      </p:sp>
      <p:sp>
        <p:nvSpPr>
          <p:cNvPr id="13" name="Shape 11"/>
          <p:cNvSpPr/>
          <p:nvPr/>
        </p:nvSpPr>
        <p:spPr>
          <a:xfrm>
            <a:off x="6922008" y="1956816"/>
            <a:ext cx="118872" cy="118872"/>
          </a:xfrm>
          <a:prstGeom prst="ellipse">
            <a:avLst/>
          </a:prstGeom>
          <a:solidFill>
            <a:srgbClr val="98C379"/>
          </a:solidFill>
          <a:ln/>
        </p:spPr>
      </p:sp>
      <p:sp>
        <p:nvSpPr>
          <p:cNvPr id="14" name="Text 12"/>
          <p:cNvSpPr/>
          <p:nvPr/>
        </p:nvSpPr>
        <p:spPr>
          <a:xfrm>
            <a:off x="10149840" y="1883664"/>
            <a:ext cx="1280160" cy="274320"/>
          </a:xfrm>
          <a:prstGeom prst="rect">
            <a:avLst/>
          </a:prstGeom>
          <a:noFill/>
          <a:ln/>
        </p:spPr>
        <p:txBody>
          <a:bodyPr wrap="square" lIns="0" tIns="0" rIns="0" bIns="0" rtlCol="0" anchor="ctr"/>
          <a:lstStyle/>
          <a:p>
            <a:pPr algn="r" indent="0" marL="0">
              <a:buNone/>
            </a:pPr>
            <a:r>
              <a:rPr lang="en-US" sz="900" b="1" spc="100" kern="0" dirty="0">
                <a:solidFill>
                  <a:srgbClr val="999999"/>
                </a:solidFill>
                <a:latin typeface="Calibri" pitchFamily="34" charset="0"/>
                <a:ea typeface="Calibri" pitchFamily="34" charset="-122"/>
                <a:cs typeface="Calibri" pitchFamily="34" charset="-120"/>
              </a:rPr>
              <a:t>PREVIEW</a:t>
            </a:r>
            <a:endParaRPr lang="en-US" sz="900" dirty="0"/>
          </a:p>
        </p:txBody>
      </p:sp>
      <p:sp>
        <p:nvSpPr>
          <p:cNvPr id="15" name="Shape 13"/>
          <p:cNvSpPr/>
          <p:nvPr/>
        </p:nvSpPr>
        <p:spPr>
          <a:xfrm>
            <a:off x="6629400" y="2423160"/>
            <a:ext cx="4709160" cy="457200"/>
          </a:xfrm>
          <a:prstGeom prst="roundRect">
            <a:avLst>
              <a:gd name="adj" fmla="val 10000"/>
            </a:avLst>
          </a:prstGeom>
          <a:solidFill>
            <a:srgbClr val="B85042"/>
          </a:solidFill>
          <a:ln/>
        </p:spPr>
      </p:sp>
      <p:sp>
        <p:nvSpPr>
          <p:cNvPr id="16" name="Text 14"/>
          <p:cNvSpPr/>
          <p:nvPr/>
        </p:nvSpPr>
        <p:spPr>
          <a:xfrm>
            <a:off x="6629400" y="2423160"/>
            <a:ext cx="47091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header</a:t>
            </a:r>
            <a:endParaRPr lang="en-US" sz="1100" dirty="0"/>
          </a:p>
        </p:txBody>
      </p:sp>
      <p:sp>
        <p:nvSpPr>
          <p:cNvPr id="17" name="Shape 15"/>
          <p:cNvSpPr/>
          <p:nvPr/>
        </p:nvSpPr>
        <p:spPr>
          <a:xfrm>
            <a:off x="6629400" y="2990088"/>
            <a:ext cx="4709160" cy="365760"/>
          </a:xfrm>
          <a:prstGeom prst="roundRect">
            <a:avLst>
              <a:gd name="adj" fmla="val 12500"/>
            </a:avLst>
          </a:prstGeom>
          <a:solidFill>
            <a:srgbClr val="A7BEAE"/>
          </a:solidFill>
          <a:ln/>
        </p:spPr>
      </p:sp>
      <p:sp>
        <p:nvSpPr>
          <p:cNvPr id="18" name="Text 16"/>
          <p:cNvSpPr/>
          <p:nvPr/>
        </p:nvSpPr>
        <p:spPr>
          <a:xfrm>
            <a:off x="6629400" y="2990088"/>
            <a:ext cx="4709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nav</a:t>
            </a:r>
            <a:endParaRPr lang="en-US" sz="1100" dirty="0"/>
          </a:p>
        </p:txBody>
      </p:sp>
      <p:sp>
        <p:nvSpPr>
          <p:cNvPr id="19" name="Shape 17"/>
          <p:cNvSpPr/>
          <p:nvPr/>
        </p:nvSpPr>
        <p:spPr>
          <a:xfrm>
            <a:off x="6629400" y="3465576"/>
            <a:ext cx="4709160" cy="822960"/>
          </a:xfrm>
          <a:prstGeom prst="roundRect">
            <a:avLst>
              <a:gd name="adj" fmla="val 5556"/>
            </a:avLst>
          </a:prstGeom>
          <a:solidFill>
            <a:srgbClr val="D9C9A3"/>
          </a:solidFill>
          <a:ln/>
        </p:spPr>
      </p:sp>
      <p:sp>
        <p:nvSpPr>
          <p:cNvPr id="20" name="Text 18"/>
          <p:cNvSpPr/>
          <p:nvPr/>
        </p:nvSpPr>
        <p:spPr>
          <a:xfrm>
            <a:off x="6629400" y="3465576"/>
            <a:ext cx="470916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main &gt; section</a:t>
            </a:r>
            <a:endParaRPr lang="en-US" sz="1100" dirty="0"/>
          </a:p>
        </p:txBody>
      </p:sp>
      <p:sp>
        <p:nvSpPr>
          <p:cNvPr id="21" name="Shape 19"/>
          <p:cNvSpPr/>
          <p:nvPr/>
        </p:nvSpPr>
        <p:spPr>
          <a:xfrm>
            <a:off x="6629400" y="4398264"/>
            <a:ext cx="4709160" cy="822960"/>
          </a:xfrm>
          <a:prstGeom prst="roundRect">
            <a:avLst>
              <a:gd name="adj" fmla="val 5556"/>
            </a:avLst>
          </a:prstGeom>
          <a:solidFill>
            <a:srgbClr val="D9C9A3"/>
          </a:solidFill>
          <a:ln/>
        </p:spPr>
      </p:sp>
      <p:sp>
        <p:nvSpPr>
          <p:cNvPr id="22" name="Text 20"/>
          <p:cNvSpPr/>
          <p:nvPr/>
        </p:nvSpPr>
        <p:spPr>
          <a:xfrm>
            <a:off x="6629400" y="4398264"/>
            <a:ext cx="470916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main &gt; section</a:t>
            </a:r>
            <a:endParaRPr lang="en-US" sz="1100" dirty="0"/>
          </a:p>
        </p:txBody>
      </p:sp>
      <p:sp>
        <p:nvSpPr>
          <p:cNvPr id="23" name="Shape 21"/>
          <p:cNvSpPr/>
          <p:nvPr/>
        </p:nvSpPr>
        <p:spPr>
          <a:xfrm>
            <a:off x="6629400" y="5330952"/>
            <a:ext cx="4709160" cy="457200"/>
          </a:xfrm>
          <a:prstGeom prst="roundRect">
            <a:avLst>
              <a:gd name="adj" fmla="val 10000"/>
            </a:avLst>
          </a:prstGeom>
          <a:solidFill>
            <a:srgbClr val="3A2B26"/>
          </a:solidFill>
          <a:ln/>
        </p:spPr>
      </p:sp>
      <p:sp>
        <p:nvSpPr>
          <p:cNvPr id="24" name="Text 22"/>
          <p:cNvSpPr/>
          <p:nvPr/>
        </p:nvSpPr>
        <p:spPr>
          <a:xfrm>
            <a:off x="6629400" y="5330952"/>
            <a:ext cx="47091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footer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TAG TOUR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&lt;div&gt; &amp; &lt;span&gt; — Generic Containers</a:t>
            </a:r>
            <a:endParaRPr lang="en-US" sz="2700" dirty="0"/>
          </a:p>
        </p:txBody>
      </p:sp>
      <p:sp>
        <p:nvSpPr>
          <p:cNvPr id="4" name="Shape 2"/>
          <p:cNvSpPr/>
          <p:nvPr/>
        </p:nvSpPr>
        <p:spPr>
          <a:xfrm>
            <a:off x="548640" y="1828800"/>
            <a:ext cx="5577840" cy="2194560"/>
          </a:xfrm>
          <a:prstGeom prst="roundRect">
            <a:avLst>
              <a:gd name="adj" fmla="val 4167"/>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1600200"/>
          </a:xfrm>
          <a:prstGeom prst="rect">
            <a:avLst/>
          </a:prstGeom>
          <a:noFill/>
          <a:ln/>
        </p:spPr>
        <p:txBody>
          <a:bodyPr wrap="square" lIns="0" tIns="0" rIns="0" bIns="0" rtlCol="0" anchor="ctr"/>
          <a:lstStyle/>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&lt;div class=</a:t>
            </a:r>
            <a:pPr indent="0" marL="0">
              <a:lnSpc>
                <a:spcPct val="122000"/>
              </a:lnSpc>
              <a:buNone/>
            </a:pPr>
            <a:r>
              <a:rPr lang="en-US" sz="1200" dirty="0">
                <a:solidFill>
                  <a:srgbClr val="D98C6B"/>
                </a:solidFill>
                <a:latin typeface="Courier New" pitchFamily="34" charset="0"/>
                <a:ea typeface="Courier New" pitchFamily="34" charset="-122"/>
                <a:cs typeface="Courier New" pitchFamily="34" charset="-120"/>
              </a:rPr>
              <a:t>"card"&gt;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I am a &lt;span style=</a:t>
            </a:r>
            <a:pPr indent="0" marL="0">
              <a:lnSpc>
                <a:spcPct val="122000"/>
              </a:lnSpc>
              <a:buNone/>
            </a:pPr>
            <a:r>
              <a:rPr lang="en-US" sz="1200" dirty="0">
                <a:solidFill>
                  <a:srgbClr val="D98C6B"/>
                </a:solidFill>
                <a:latin typeface="Courier New" pitchFamily="34" charset="0"/>
                <a:ea typeface="Courier New" pitchFamily="34" charset="-122"/>
                <a:cs typeface="Courier New" pitchFamily="34" charset="-120"/>
              </a:rPr>
              <a:t>"color:red"&gt;</a:t>
            </a:r>
            <a:endParaRPr lang="en-US" sz="1200" dirty="0"/>
          </a:p>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    red word</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&lt;/span&gt; inside a block.</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&lt;/div&gt;</a:t>
            </a:r>
            <a:endParaRPr lang="en-US" sz="1200" dirty="0"/>
          </a:p>
        </p:txBody>
      </p:sp>
      <p:sp>
        <p:nvSpPr>
          <p:cNvPr id="9" name="Shape 7"/>
          <p:cNvSpPr/>
          <p:nvPr/>
        </p:nvSpPr>
        <p:spPr>
          <a:xfrm>
            <a:off x="6355080" y="1828800"/>
            <a:ext cx="5257800" cy="2194560"/>
          </a:xfrm>
          <a:prstGeom prst="roundRect">
            <a:avLst>
              <a:gd name="adj" fmla="val 4167"/>
            </a:avLst>
          </a:prstGeom>
          <a:solidFill>
            <a:srgbClr val="FFFFFF"/>
          </a:solidFill>
          <a:ln w="15875">
            <a:solidFill>
              <a:srgbClr val="A7BEAE"/>
            </a:solidFill>
            <a:prstDash val="solid"/>
          </a:ln>
        </p:spPr>
      </p:sp>
      <p:sp>
        <p:nvSpPr>
          <p:cNvPr id="10" name="Shape 8"/>
          <p:cNvSpPr/>
          <p:nvPr/>
        </p:nvSpPr>
        <p:spPr>
          <a:xfrm>
            <a:off x="6355080" y="1828800"/>
            <a:ext cx="5257800" cy="384048"/>
          </a:xfrm>
          <a:prstGeom prst="roundRect">
            <a:avLst>
              <a:gd name="adj" fmla="val 23810"/>
            </a:avLst>
          </a:prstGeom>
          <a:solidFill>
            <a:srgbClr val="F4EFE7"/>
          </a:solidFill>
          <a:ln/>
        </p:spPr>
      </p:sp>
      <p:sp>
        <p:nvSpPr>
          <p:cNvPr id="11" name="Shape 9"/>
          <p:cNvSpPr/>
          <p:nvPr/>
        </p:nvSpPr>
        <p:spPr>
          <a:xfrm>
            <a:off x="6519672" y="1956816"/>
            <a:ext cx="118872" cy="118872"/>
          </a:xfrm>
          <a:prstGeom prst="ellipse">
            <a:avLst/>
          </a:prstGeom>
          <a:solidFill>
            <a:srgbClr val="E06C75"/>
          </a:solidFill>
          <a:ln/>
        </p:spPr>
      </p:sp>
      <p:sp>
        <p:nvSpPr>
          <p:cNvPr id="12" name="Shape 10"/>
          <p:cNvSpPr/>
          <p:nvPr/>
        </p:nvSpPr>
        <p:spPr>
          <a:xfrm>
            <a:off x="6720840" y="1956816"/>
            <a:ext cx="118872" cy="118872"/>
          </a:xfrm>
          <a:prstGeom prst="ellipse">
            <a:avLst/>
          </a:prstGeom>
          <a:solidFill>
            <a:srgbClr val="E5C07B"/>
          </a:solidFill>
          <a:ln/>
        </p:spPr>
      </p:sp>
      <p:sp>
        <p:nvSpPr>
          <p:cNvPr id="13" name="Shape 11"/>
          <p:cNvSpPr/>
          <p:nvPr/>
        </p:nvSpPr>
        <p:spPr>
          <a:xfrm>
            <a:off x="6922008" y="1956816"/>
            <a:ext cx="118872" cy="118872"/>
          </a:xfrm>
          <a:prstGeom prst="ellipse">
            <a:avLst/>
          </a:prstGeom>
          <a:solidFill>
            <a:srgbClr val="98C379"/>
          </a:solidFill>
          <a:ln/>
        </p:spPr>
      </p:sp>
      <p:sp>
        <p:nvSpPr>
          <p:cNvPr id="14" name="Text 12"/>
          <p:cNvSpPr/>
          <p:nvPr/>
        </p:nvSpPr>
        <p:spPr>
          <a:xfrm>
            <a:off x="10149840" y="1883664"/>
            <a:ext cx="1280160" cy="274320"/>
          </a:xfrm>
          <a:prstGeom prst="rect">
            <a:avLst/>
          </a:prstGeom>
          <a:noFill/>
          <a:ln/>
        </p:spPr>
        <p:txBody>
          <a:bodyPr wrap="square" lIns="0" tIns="0" rIns="0" bIns="0" rtlCol="0" anchor="ctr"/>
          <a:lstStyle/>
          <a:p>
            <a:pPr algn="r" indent="0" marL="0">
              <a:buNone/>
            </a:pPr>
            <a:r>
              <a:rPr lang="en-US" sz="900" b="1" spc="100" kern="0" dirty="0">
                <a:solidFill>
                  <a:srgbClr val="999999"/>
                </a:solidFill>
                <a:latin typeface="Calibri" pitchFamily="34" charset="0"/>
                <a:ea typeface="Calibri" pitchFamily="34" charset="-122"/>
                <a:cs typeface="Calibri" pitchFamily="34" charset="-120"/>
              </a:rPr>
              <a:t>PREVIEW</a:t>
            </a:r>
            <a:endParaRPr lang="en-US" sz="900" dirty="0"/>
          </a:p>
        </p:txBody>
      </p:sp>
      <p:sp>
        <p:nvSpPr>
          <p:cNvPr id="15" name="Text 13"/>
          <p:cNvSpPr/>
          <p:nvPr/>
        </p:nvSpPr>
        <p:spPr>
          <a:xfrm>
            <a:off x="6629400" y="2423160"/>
            <a:ext cx="4709160" cy="1371600"/>
          </a:xfrm>
          <a:prstGeom prst="rect">
            <a:avLst/>
          </a:prstGeom>
          <a:noFill/>
          <a:ln/>
        </p:spPr>
        <p:txBody>
          <a:bodyPr wrap="square" lIns="0" tIns="0" rIns="0" bIns="0" rtlCol="0" anchor="ctr"/>
          <a:lstStyle/>
          <a:p>
            <a:pPr indent="0" marL="0">
              <a:buNone/>
            </a:pPr>
            <a:r>
              <a:rPr lang="en-US" sz="1300" dirty="0">
                <a:solidFill>
                  <a:srgbClr val="3A2B26"/>
                </a:solidFill>
                <a:latin typeface="Calibri" pitchFamily="34" charset="0"/>
                <a:ea typeface="Calibri" pitchFamily="34" charset="-122"/>
                <a:cs typeface="Calibri" pitchFamily="34" charset="-120"/>
              </a:rPr>
              <a:t>I am a </a:t>
            </a:r>
            <a:pPr indent="0" marL="0">
              <a:buNone/>
            </a:pPr>
            <a:r>
              <a:rPr lang="en-US" sz="1300" b="1" dirty="0">
                <a:solidFill>
                  <a:srgbClr val="C0392B"/>
                </a:solidFill>
                <a:latin typeface="Calibri" pitchFamily="34" charset="0"/>
                <a:ea typeface="Calibri" pitchFamily="34" charset="-122"/>
                <a:cs typeface="Calibri" pitchFamily="34" charset="-120"/>
              </a:rPr>
              <a:t>red word</a:t>
            </a:r>
            <a:pPr indent="0" marL="0">
              <a:buNone/>
            </a:pPr>
            <a:r>
              <a:rPr lang="en-US" sz="1300" dirty="0">
                <a:solidFill>
                  <a:srgbClr val="3A2B26"/>
                </a:solidFill>
                <a:latin typeface="Calibri" pitchFamily="34" charset="0"/>
                <a:ea typeface="Calibri" pitchFamily="34" charset="-122"/>
                <a:cs typeface="Calibri" pitchFamily="34" charset="-120"/>
              </a:rPr>
              <a:t> inside a block.</a:t>
            </a:r>
            <a:endParaRPr lang="en-US" sz="1300" dirty="0"/>
          </a:p>
        </p:txBody>
      </p:sp>
      <p:sp>
        <p:nvSpPr>
          <p:cNvPr id="16" name="Shape 14"/>
          <p:cNvSpPr/>
          <p:nvPr/>
        </p:nvSpPr>
        <p:spPr>
          <a:xfrm>
            <a:off x="548640" y="4297680"/>
            <a:ext cx="11064240" cy="1463040"/>
          </a:xfrm>
          <a:prstGeom prst="roundRect">
            <a:avLst>
              <a:gd name="adj" fmla="val 6250"/>
            </a:avLst>
          </a:prstGeom>
          <a:solidFill>
            <a:srgbClr val="F4EFE7"/>
          </a:solidFill>
          <a:ln/>
        </p:spPr>
      </p:sp>
      <p:sp>
        <p:nvSpPr>
          <p:cNvPr id="17" name="Text 15"/>
          <p:cNvSpPr/>
          <p:nvPr/>
        </p:nvSpPr>
        <p:spPr>
          <a:xfrm>
            <a:off x="822960" y="4498848"/>
            <a:ext cx="1051560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When do I use div vs. span?</a:t>
            </a:r>
            <a:endParaRPr lang="en-US" sz="1500" dirty="0"/>
          </a:p>
        </p:txBody>
      </p:sp>
      <p:sp>
        <p:nvSpPr>
          <p:cNvPr id="18" name="Text 16"/>
          <p:cNvSpPr/>
          <p:nvPr/>
        </p:nvSpPr>
        <p:spPr>
          <a:xfrm>
            <a:off x="822960" y="4919472"/>
            <a:ext cx="10515600" cy="64008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div — takes up its own line, like a paragraph. Use it to group bigger pieces together.</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span — stays inside a sentence. Use it to style just one word or a few words.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TAG TOUR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Headings &amp; Paragraphs</a:t>
            </a:r>
            <a:endParaRPr lang="en-US" sz="2700" dirty="0"/>
          </a:p>
        </p:txBody>
      </p:sp>
      <p:sp>
        <p:nvSpPr>
          <p:cNvPr id="4" name="Shape 2"/>
          <p:cNvSpPr/>
          <p:nvPr/>
        </p:nvSpPr>
        <p:spPr>
          <a:xfrm>
            <a:off x="548640" y="1828800"/>
            <a:ext cx="5577840" cy="3931920"/>
          </a:xfrm>
          <a:prstGeom prst="roundRect">
            <a:avLst>
              <a:gd name="adj" fmla="val 2326"/>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3337560"/>
          </a:xfrm>
          <a:prstGeom prst="rect">
            <a:avLst/>
          </a:prstGeom>
          <a:noFill/>
          <a:ln/>
        </p:spPr>
        <p:txBody>
          <a:bodyPr wrap="square" lIns="0" tIns="0" rIns="0" bIns="0" rtlCol="0" anchor="ctr"/>
          <a:lstStyle/>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&lt;h1&gt;Main Title&lt;/h1&gt;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&lt;h2&gt;Section Title&lt;/h2&gt;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&lt;h3&gt;Sub-section&lt;/h3&gt;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&lt;p&gt;A normal paragraph</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of body text goes here.&lt;/p&gt;</a:t>
            </a:r>
            <a:endParaRPr lang="en-US" sz="1200" dirty="0"/>
          </a:p>
        </p:txBody>
      </p:sp>
      <p:sp>
        <p:nvSpPr>
          <p:cNvPr id="9" name="Shape 7"/>
          <p:cNvSpPr/>
          <p:nvPr/>
        </p:nvSpPr>
        <p:spPr>
          <a:xfrm>
            <a:off x="6355080" y="1828800"/>
            <a:ext cx="5257800" cy="3931920"/>
          </a:xfrm>
          <a:prstGeom prst="roundRect">
            <a:avLst>
              <a:gd name="adj" fmla="val 2326"/>
            </a:avLst>
          </a:prstGeom>
          <a:solidFill>
            <a:srgbClr val="FFFFFF"/>
          </a:solidFill>
          <a:ln w="15875">
            <a:solidFill>
              <a:srgbClr val="A7BEAE"/>
            </a:solidFill>
            <a:prstDash val="solid"/>
          </a:ln>
        </p:spPr>
      </p:sp>
      <p:sp>
        <p:nvSpPr>
          <p:cNvPr id="10" name="Shape 8"/>
          <p:cNvSpPr/>
          <p:nvPr/>
        </p:nvSpPr>
        <p:spPr>
          <a:xfrm>
            <a:off x="6355080" y="1828800"/>
            <a:ext cx="5257800" cy="384048"/>
          </a:xfrm>
          <a:prstGeom prst="roundRect">
            <a:avLst>
              <a:gd name="adj" fmla="val 23810"/>
            </a:avLst>
          </a:prstGeom>
          <a:solidFill>
            <a:srgbClr val="F4EFE7"/>
          </a:solidFill>
          <a:ln/>
        </p:spPr>
      </p:sp>
      <p:sp>
        <p:nvSpPr>
          <p:cNvPr id="11" name="Shape 9"/>
          <p:cNvSpPr/>
          <p:nvPr/>
        </p:nvSpPr>
        <p:spPr>
          <a:xfrm>
            <a:off x="6519672" y="1956816"/>
            <a:ext cx="118872" cy="118872"/>
          </a:xfrm>
          <a:prstGeom prst="ellipse">
            <a:avLst/>
          </a:prstGeom>
          <a:solidFill>
            <a:srgbClr val="E06C75"/>
          </a:solidFill>
          <a:ln/>
        </p:spPr>
      </p:sp>
      <p:sp>
        <p:nvSpPr>
          <p:cNvPr id="12" name="Shape 10"/>
          <p:cNvSpPr/>
          <p:nvPr/>
        </p:nvSpPr>
        <p:spPr>
          <a:xfrm>
            <a:off x="6720840" y="1956816"/>
            <a:ext cx="118872" cy="118872"/>
          </a:xfrm>
          <a:prstGeom prst="ellipse">
            <a:avLst/>
          </a:prstGeom>
          <a:solidFill>
            <a:srgbClr val="E5C07B"/>
          </a:solidFill>
          <a:ln/>
        </p:spPr>
      </p:sp>
      <p:sp>
        <p:nvSpPr>
          <p:cNvPr id="13" name="Shape 11"/>
          <p:cNvSpPr/>
          <p:nvPr/>
        </p:nvSpPr>
        <p:spPr>
          <a:xfrm>
            <a:off x="6922008" y="1956816"/>
            <a:ext cx="118872" cy="118872"/>
          </a:xfrm>
          <a:prstGeom prst="ellipse">
            <a:avLst/>
          </a:prstGeom>
          <a:solidFill>
            <a:srgbClr val="98C379"/>
          </a:solidFill>
          <a:ln/>
        </p:spPr>
      </p:sp>
      <p:sp>
        <p:nvSpPr>
          <p:cNvPr id="14" name="Text 12"/>
          <p:cNvSpPr/>
          <p:nvPr/>
        </p:nvSpPr>
        <p:spPr>
          <a:xfrm>
            <a:off x="10149840" y="1883664"/>
            <a:ext cx="1280160" cy="274320"/>
          </a:xfrm>
          <a:prstGeom prst="rect">
            <a:avLst/>
          </a:prstGeom>
          <a:noFill/>
          <a:ln/>
        </p:spPr>
        <p:txBody>
          <a:bodyPr wrap="square" lIns="0" tIns="0" rIns="0" bIns="0" rtlCol="0" anchor="ctr"/>
          <a:lstStyle/>
          <a:p>
            <a:pPr algn="r" indent="0" marL="0">
              <a:buNone/>
            </a:pPr>
            <a:r>
              <a:rPr lang="en-US" sz="900" b="1" spc="100" kern="0" dirty="0">
                <a:solidFill>
                  <a:srgbClr val="999999"/>
                </a:solidFill>
                <a:latin typeface="Calibri" pitchFamily="34" charset="0"/>
                <a:ea typeface="Calibri" pitchFamily="34" charset="-122"/>
                <a:cs typeface="Calibri" pitchFamily="34" charset="-120"/>
              </a:rPr>
              <a:t>PREVIEW</a:t>
            </a:r>
            <a:endParaRPr lang="en-US" sz="900" dirty="0"/>
          </a:p>
        </p:txBody>
      </p:sp>
      <p:sp>
        <p:nvSpPr>
          <p:cNvPr id="15" name="Text 13"/>
          <p:cNvSpPr/>
          <p:nvPr/>
        </p:nvSpPr>
        <p:spPr>
          <a:xfrm>
            <a:off x="6629400" y="2423160"/>
            <a:ext cx="4709160" cy="548640"/>
          </a:xfrm>
          <a:prstGeom prst="rect">
            <a:avLst/>
          </a:prstGeom>
          <a:noFill/>
          <a:ln/>
        </p:spPr>
        <p:txBody>
          <a:bodyPr wrap="square" lIns="0" tIns="0" rIns="0" bIns="0" rtlCol="0" anchor="ctr"/>
          <a:lstStyle/>
          <a:p>
            <a:pPr indent="0" marL="0">
              <a:buNone/>
            </a:pPr>
            <a:r>
              <a:rPr lang="en-US" sz="2600" b="1" dirty="0">
                <a:solidFill>
                  <a:srgbClr val="3A2B26"/>
                </a:solidFill>
                <a:latin typeface="Cambria" pitchFamily="34" charset="0"/>
                <a:ea typeface="Cambria" pitchFamily="34" charset="-122"/>
                <a:cs typeface="Cambria" pitchFamily="34" charset="-120"/>
              </a:rPr>
              <a:t>Main Title</a:t>
            </a:r>
            <a:endParaRPr lang="en-US" sz="2600" dirty="0"/>
          </a:p>
        </p:txBody>
      </p:sp>
      <p:sp>
        <p:nvSpPr>
          <p:cNvPr id="16" name="Text 14"/>
          <p:cNvSpPr/>
          <p:nvPr/>
        </p:nvSpPr>
        <p:spPr>
          <a:xfrm>
            <a:off x="6629400" y="3017520"/>
            <a:ext cx="4709160" cy="45720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Section Title</a:t>
            </a:r>
            <a:endParaRPr lang="en-US" sz="1900" dirty="0"/>
          </a:p>
        </p:txBody>
      </p:sp>
      <p:sp>
        <p:nvSpPr>
          <p:cNvPr id="17" name="Text 15"/>
          <p:cNvSpPr/>
          <p:nvPr/>
        </p:nvSpPr>
        <p:spPr>
          <a:xfrm>
            <a:off x="6629400" y="3520440"/>
            <a:ext cx="470916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Sub-section</a:t>
            </a:r>
            <a:endParaRPr lang="en-US" sz="1500" dirty="0"/>
          </a:p>
        </p:txBody>
      </p:sp>
      <p:sp>
        <p:nvSpPr>
          <p:cNvPr id="18" name="Text 16"/>
          <p:cNvSpPr/>
          <p:nvPr/>
        </p:nvSpPr>
        <p:spPr>
          <a:xfrm>
            <a:off x="6629400" y="4023360"/>
            <a:ext cx="4709160" cy="548640"/>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A normal paragraph of body text goes here.</a:t>
            </a:r>
            <a:endParaRPr lang="en-US" sz="1300" dirty="0"/>
          </a:p>
        </p:txBody>
      </p:sp>
      <p:sp>
        <p:nvSpPr>
          <p:cNvPr id="19" name="Text 17"/>
          <p:cNvSpPr/>
          <p:nvPr/>
        </p:nvSpPr>
        <p:spPr>
          <a:xfrm>
            <a:off x="6629400" y="4709160"/>
            <a:ext cx="4709160" cy="640080"/>
          </a:xfrm>
          <a:prstGeom prst="rect">
            <a:avLst/>
          </a:prstGeom>
          <a:noFill/>
          <a:ln/>
        </p:spPr>
        <p:txBody>
          <a:bodyPr wrap="square" lIns="0" tIns="0" rIns="0" bIns="0"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h1 is the biggest/most important — use only ONE per page. Sizes get smaller down to h6.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TAG TOUR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Emphasis &amp; Line Breaks</a:t>
            </a:r>
            <a:endParaRPr lang="en-US" sz="2700" dirty="0"/>
          </a:p>
        </p:txBody>
      </p:sp>
      <p:sp>
        <p:nvSpPr>
          <p:cNvPr id="4" name="Shape 2"/>
          <p:cNvSpPr/>
          <p:nvPr/>
        </p:nvSpPr>
        <p:spPr>
          <a:xfrm>
            <a:off x="548640" y="1828800"/>
            <a:ext cx="5577840" cy="3931920"/>
          </a:xfrm>
          <a:prstGeom prst="roundRect">
            <a:avLst>
              <a:gd name="adj" fmla="val 2326"/>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3337560"/>
          </a:xfrm>
          <a:prstGeom prst="rect">
            <a:avLst/>
          </a:prstGeom>
          <a:noFill/>
          <a:ln/>
        </p:spPr>
        <p:txBody>
          <a:bodyPr wrap="square" lIns="0" tIns="0" rIns="0" bIns="0" rtlCol="0" anchor="ctr"/>
          <a:lstStyle/>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&lt;p&gt;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This is &lt;strong&gt;very&lt;/strong&gt;</a:t>
            </a:r>
            <a:endParaRPr lang="en-US" sz="1200" dirty="0"/>
          </a:p>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  important, and this is</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&lt;em&gt;emphasized&lt;/em&gt;.&lt;br&gt;</a:t>
            </a:r>
            <a:endParaRPr lang="en-US" sz="1200" dirty="0"/>
          </a:p>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  New line starts here.</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&lt;/p&gt;</a:t>
            </a:r>
            <a:endParaRPr lang="en-US" sz="1200" dirty="0"/>
          </a:p>
        </p:txBody>
      </p:sp>
      <p:sp>
        <p:nvSpPr>
          <p:cNvPr id="9" name="Shape 7"/>
          <p:cNvSpPr/>
          <p:nvPr/>
        </p:nvSpPr>
        <p:spPr>
          <a:xfrm>
            <a:off x="6355080" y="1828800"/>
            <a:ext cx="5257800" cy="3931920"/>
          </a:xfrm>
          <a:prstGeom prst="roundRect">
            <a:avLst>
              <a:gd name="adj" fmla="val 2326"/>
            </a:avLst>
          </a:prstGeom>
          <a:solidFill>
            <a:srgbClr val="FFFFFF"/>
          </a:solidFill>
          <a:ln w="15875">
            <a:solidFill>
              <a:srgbClr val="A7BEAE"/>
            </a:solidFill>
            <a:prstDash val="solid"/>
          </a:ln>
        </p:spPr>
      </p:sp>
      <p:sp>
        <p:nvSpPr>
          <p:cNvPr id="10" name="Shape 8"/>
          <p:cNvSpPr/>
          <p:nvPr/>
        </p:nvSpPr>
        <p:spPr>
          <a:xfrm>
            <a:off x="6355080" y="1828800"/>
            <a:ext cx="5257800" cy="384048"/>
          </a:xfrm>
          <a:prstGeom prst="roundRect">
            <a:avLst>
              <a:gd name="adj" fmla="val 23810"/>
            </a:avLst>
          </a:prstGeom>
          <a:solidFill>
            <a:srgbClr val="F4EFE7"/>
          </a:solidFill>
          <a:ln/>
        </p:spPr>
      </p:sp>
      <p:sp>
        <p:nvSpPr>
          <p:cNvPr id="11" name="Shape 9"/>
          <p:cNvSpPr/>
          <p:nvPr/>
        </p:nvSpPr>
        <p:spPr>
          <a:xfrm>
            <a:off x="6519672" y="1956816"/>
            <a:ext cx="118872" cy="118872"/>
          </a:xfrm>
          <a:prstGeom prst="ellipse">
            <a:avLst/>
          </a:prstGeom>
          <a:solidFill>
            <a:srgbClr val="E06C75"/>
          </a:solidFill>
          <a:ln/>
        </p:spPr>
      </p:sp>
      <p:sp>
        <p:nvSpPr>
          <p:cNvPr id="12" name="Shape 10"/>
          <p:cNvSpPr/>
          <p:nvPr/>
        </p:nvSpPr>
        <p:spPr>
          <a:xfrm>
            <a:off x="6720840" y="1956816"/>
            <a:ext cx="118872" cy="118872"/>
          </a:xfrm>
          <a:prstGeom prst="ellipse">
            <a:avLst/>
          </a:prstGeom>
          <a:solidFill>
            <a:srgbClr val="E5C07B"/>
          </a:solidFill>
          <a:ln/>
        </p:spPr>
      </p:sp>
      <p:sp>
        <p:nvSpPr>
          <p:cNvPr id="13" name="Shape 11"/>
          <p:cNvSpPr/>
          <p:nvPr/>
        </p:nvSpPr>
        <p:spPr>
          <a:xfrm>
            <a:off x="6922008" y="1956816"/>
            <a:ext cx="118872" cy="118872"/>
          </a:xfrm>
          <a:prstGeom prst="ellipse">
            <a:avLst/>
          </a:prstGeom>
          <a:solidFill>
            <a:srgbClr val="98C379"/>
          </a:solidFill>
          <a:ln/>
        </p:spPr>
      </p:sp>
      <p:sp>
        <p:nvSpPr>
          <p:cNvPr id="14" name="Text 12"/>
          <p:cNvSpPr/>
          <p:nvPr/>
        </p:nvSpPr>
        <p:spPr>
          <a:xfrm>
            <a:off x="10149840" y="1883664"/>
            <a:ext cx="1280160" cy="274320"/>
          </a:xfrm>
          <a:prstGeom prst="rect">
            <a:avLst/>
          </a:prstGeom>
          <a:noFill/>
          <a:ln/>
        </p:spPr>
        <p:txBody>
          <a:bodyPr wrap="square" lIns="0" tIns="0" rIns="0" bIns="0" rtlCol="0" anchor="ctr"/>
          <a:lstStyle/>
          <a:p>
            <a:pPr algn="r" indent="0" marL="0">
              <a:buNone/>
            </a:pPr>
            <a:r>
              <a:rPr lang="en-US" sz="900" b="1" spc="100" kern="0" dirty="0">
                <a:solidFill>
                  <a:srgbClr val="999999"/>
                </a:solidFill>
                <a:latin typeface="Calibri" pitchFamily="34" charset="0"/>
                <a:ea typeface="Calibri" pitchFamily="34" charset="-122"/>
                <a:cs typeface="Calibri" pitchFamily="34" charset="-120"/>
              </a:rPr>
              <a:t>PREVIEW</a:t>
            </a:r>
            <a:endParaRPr lang="en-US" sz="900" dirty="0"/>
          </a:p>
        </p:txBody>
      </p:sp>
      <p:sp>
        <p:nvSpPr>
          <p:cNvPr id="15" name="Text 13"/>
          <p:cNvSpPr/>
          <p:nvPr/>
        </p:nvSpPr>
        <p:spPr>
          <a:xfrm>
            <a:off x="6629400" y="2423160"/>
            <a:ext cx="4709160" cy="1463040"/>
          </a:xfrm>
          <a:prstGeom prst="rect">
            <a:avLst/>
          </a:prstGeom>
          <a:noFill/>
          <a:ln/>
        </p:spPr>
        <p:txBody>
          <a:bodyPr wrap="square" lIns="0" tIns="0" rIns="0" bIns="0" rtlCol="0" anchor="ctr"/>
          <a:lstStyle/>
          <a:p>
            <a:pPr indent="0" marL="0">
              <a:lnSpc>
                <a:spcPct val="130000"/>
              </a:lnSpc>
              <a:buNone/>
            </a:pPr>
            <a:r>
              <a:rPr lang="en-US" sz="1400" dirty="0">
                <a:solidFill>
                  <a:srgbClr val="3A2B26"/>
                </a:solidFill>
                <a:latin typeface="Calibri" pitchFamily="34" charset="0"/>
                <a:ea typeface="Calibri" pitchFamily="34" charset="-122"/>
                <a:cs typeface="Calibri" pitchFamily="34" charset="-120"/>
              </a:rPr>
              <a:t>This is </a:t>
            </a:r>
            <a:pPr indent="0" marL="0">
              <a:lnSpc>
                <a:spcPct val="130000"/>
              </a:lnSpc>
              <a:buNone/>
            </a:pPr>
            <a:r>
              <a:rPr lang="en-US" sz="1400" b="1" dirty="0">
                <a:solidFill>
                  <a:srgbClr val="3A2B26"/>
                </a:solidFill>
                <a:latin typeface="Calibri" pitchFamily="34" charset="0"/>
                <a:ea typeface="Calibri" pitchFamily="34" charset="-122"/>
                <a:cs typeface="Calibri" pitchFamily="34" charset="-120"/>
              </a:rPr>
              <a:t>very</a:t>
            </a:r>
            <a:pPr indent="0" marL="0">
              <a:lnSpc>
                <a:spcPct val="130000"/>
              </a:lnSpc>
              <a:buNone/>
            </a:pPr>
            <a:r>
              <a:rPr lang="en-US" sz="1400" dirty="0">
                <a:solidFill>
                  <a:srgbClr val="3A2B26"/>
                </a:solidFill>
                <a:latin typeface="Calibri" pitchFamily="34" charset="0"/>
                <a:ea typeface="Calibri" pitchFamily="34" charset="-122"/>
                <a:cs typeface="Calibri" pitchFamily="34" charset="-120"/>
              </a:rPr>
              <a:t> important, and this is </a:t>
            </a:r>
            <a:pPr indent="0" marL="0">
              <a:lnSpc>
                <a:spcPct val="130000"/>
              </a:lnSpc>
              <a:buNone/>
            </a:pPr>
            <a:r>
              <a:rPr lang="en-US" sz="1400" i="1" dirty="0">
                <a:solidFill>
                  <a:srgbClr val="3A2B26"/>
                </a:solidFill>
                <a:latin typeface="Calibri" pitchFamily="34" charset="0"/>
                <a:ea typeface="Calibri" pitchFamily="34" charset="-122"/>
                <a:cs typeface="Calibri" pitchFamily="34" charset="-120"/>
              </a:rPr>
              <a:t>emphasized</a:t>
            </a:r>
            <a:pPr indent="0" marL="0">
              <a:lnSpc>
                <a:spcPct val="130000"/>
              </a:lnSpc>
              <a:buNone/>
            </a:pPr>
            <a:r>
              <a:rPr lang="en-US" sz="1400" dirty="0">
                <a:solidFill>
                  <a:srgbClr val="3A2B26"/>
                </a:solidFill>
                <a:latin typeface="Calibri" pitchFamily="34" charset="0"/>
                <a:ea typeface="Calibri" pitchFamily="34" charset="-122"/>
                <a:cs typeface="Calibri" pitchFamily="34" charset="-120"/>
              </a:rPr>
              <a:t>.</a:t>
            </a:r>
            <a:endParaRPr lang="en-US" sz="1400" dirty="0"/>
          </a:p>
          <a:p>
            <a:pPr indent="0" marL="0">
              <a:lnSpc>
                <a:spcPct val="130000"/>
              </a:lnSpc>
              <a:buNone/>
            </a:pPr>
            <a:r>
              <a:rPr lang="en-US" sz="1400" dirty="0">
                <a:solidFill>
                  <a:srgbClr val="3A2B26"/>
                </a:solidFill>
                <a:latin typeface="Calibri" pitchFamily="34" charset="0"/>
                <a:ea typeface="Calibri" pitchFamily="34" charset="-122"/>
                <a:cs typeface="Calibri" pitchFamily="34" charset="-120"/>
              </a:rPr>
              <a:t>New line starts here.</a:t>
            </a:r>
            <a:endParaRPr lang="en-US" sz="1400" dirty="0"/>
          </a:p>
        </p:txBody>
      </p:sp>
      <p:sp>
        <p:nvSpPr>
          <p:cNvPr id="16" name="Text 14"/>
          <p:cNvSpPr/>
          <p:nvPr/>
        </p:nvSpPr>
        <p:spPr>
          <a:xfrm>
            <a:off x="6629400" y="4434840"/>
            <a:ext cx="4709160" cy="822960"/>
          </a:xfrm>
          <a:prstGeom prst="rect">
            <a:avLst/>
          </a:prstGeom>
          <a:noFill/>
          <a:ln/>
        </p:spPr>
        <p:txBody>
          <a:bodyPr wrap="square" lIns="0" tIns="0" rIns="0" bIns="0"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&lt;strong&gt; = bold + “this matters”.  &lt;em&gt; = italic + “said with emphasis”.  &lt;br&gt; forces a line break.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TAG TOUR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Links &amp; Images</a:t>
            </a:r>
            <a:endParaRPr lang="en-US" sz="2700" dirty="0"/>
          </a:p>
        </p:txBody>
      </p:sp>
      <p:sp>
        <p:nvSpPr>
          <p:cNvPr id="4" name="Shape 2"/>
          <p:cNvSpPr/>
          <p:nvPr/>
        </p:nvSpPr>
        <p:spPr>
          <a:xfrm>
            <a:off x="548640" y="1828800"/>
            <a:ext cx="5577840" cy="3931920"/>
          </a:xfrm>
          <a:prstGeom prst="roundRect">
            <a:avLst>
              <a:gd name="adj" fmla="val 2326"/>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3337560"/>
          </a:xfrm>
          <a:prstGeom prst="rect">
            <a:avLst/>
          </a:prstGeom>
          <a:noFill/>
          <a:ln/>
        </p:spPr>
        <p:txBody>
          <a:bodyPr wrap="square" lIns="0" tIns="0" rIns="0" bIns="0" rtlCol="0" anchor="ctr"/>
          <a:lstStyle/>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&lt;a href=</a:t>
            </a:r>
            <a:pPr indent="0" marL="0">
              <a:lnSpc>
                <a:spcPct val="122000"/>
              </a:lnSpc>
              <a:buNone/>
            </a:pPr>
            <a:r>
              <a:rPr lang="en-US" sz="1200" dirty="0">
                <a:solidFill>
                  <a:srgbClr val="D98C6B"/>
                </a:solidFill>
                <a:latin typeface="Courier New" pitchFamily="34" charset="0"/>
                <a:ea typeface="Courier New" pitchFamily="34" charset="-122"/>
                <a:cs typeface="Courier New" pitchFamily="34" charset="-120"/>
              </a:rPr>
              <a:t>"about.html"</a:t>
            </a:r>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&gt;</a:t>
            </a:r>
            <a:endParaRPr lang="en-US" sz="1200" dirty="0"/>
          </a:p>
          <a:p>
            <a:pPr indent="0" marL="0">
              <a:lnSpc>
                <a:spcPct val="122000"/>
              </a:lnSpc>
              <a:buNone/>
            </a:pPr>
            <a:r>
              <a:rPr lang="en-US" sz="1200" dirty="0">
                <a:solidFill>
                  <a:srgbClr val="E7E8D1"/>
                </a:solidFill>
                <a:latin typeface="Courier New" pitchFamily="34" charset="0"/>
                <a:ea typeface="Courier New" pitchFamily="34" charset="-122"/>
                <a:cs typeface="Courier New" pitchFamily="34" charset="-120"/>
              </a:rPr>
              <a:t>  About Us</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&lt;/a&gt;</a:t>
            </a:r>
            <a:endParaRPr lang="en-US" sz="1200" dirty="0"/>
          </a:p>
          <a:p>
            <a:pPr indent="0" marL="0">
              <a:lnSpc>
                <a:spcPct val="122000"/>
              </a:lnSpc>
              <a:buNone/>
            </a:pP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&lt;img </a:t>
            </a:r>
            <a:pPr indent="0" marL="0">
              <a:lnSpc>
                <a:spcPct val="122000"/>
              </a:lnSpc>
              <a:buNone/>
            </a:pPr>
            <a:r>
              <a:rPr lang="en-US" sz="1200" dirty="0">
                <a:solidFill>
                  <a:srgbClr val="D98C6B"/>
                </a:solidFill>
                <a:latin typeface="Courier New" pitchFamily="34" charset="0"/>
                <a:ea typeface="Courier New" pitchFamily="34" charset="-122"/>
                <a:cs typeface="Courier New" pitchFamily="34" charset="-120"/>
              </a:rPr>
              <a:t>src="team.jpg"</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a:t>
            </a:r>
            <a:pPr indent="0" marL="0">
              <a:lnSpc>
                <a:spcPct val="122000"/>
              </a:lnSpc>
              <a:buNone/>
            </a:pPr>
            <a:r>
              <a:rPr lang="en-US" sz="1200" dirty="0">
                <a:solidFill>
                  <a:srgbClr val="D98C6B"/>
                </a:solidFill>
                <a:latin typeface="Courier New" pitchFamily="34" charset="0"/>
                <a:ea typeface="Courier New" pitchFamily="34" charset="-122"/>
                <a:cs typeface="Courier New" pitchFamily="34" charset="-120"/>
              </a:rPr>
              <a:t>alt="Our team"</a:t>
            </a:r>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&gt;</a:t>
            </a:r>
            <a:endParaRPr lang="en-US" sz="1200" dirty="0"/>
          </a:p>
        </p:txBody>
      </p:sp>
      <p:sp>
        <p:nvSpPr>
          <p:cNvPr id="9" name="Shape 7"/>
          <p:cNvSpPr/>
          <p:nvPr/>
        </p:nvSpPr>
        <p:spPr>
          <a:xfrm>
            <a:off x="6355080" y="1828800"/>
            <a:ext cx="5257800" cy="3931920"/>
          </a:xfrm>
          <a:prstGeom prst="roundRect">
            <a:avLst>
              <a:gd name="adj" fmla="val 2326"/>
            </a:avLst>
          </a:prstGeom>
          <a:solidFill>
            <a:srgbClr val="FFFFFF"/>
          </a:solidFill>
          <a:ln w="15875">
            <a:solidFill>
              <a:srgbClr val="A7BEAE"/>
            </a:solidFill>
            <a:prstDash val="solid"/>
          </a:ln>
        </p:spPr>
      </p:sp>
      <p:sp>
        <p:nvSpPr>
          <p:cNvPr id="10" name="Shape 8"/>
          <p:cNvSpPr/>
          <p:nvPr/>
        </p:nvSpPr>
        <p:spPr>
          <a:xfrm>
            <a:off x="6355080" y="1828800"/>
            <a:ext cx="5257800" cy="384048"/>
          </a:xfrm>
          <a:prstGeom prst="roundRect">
            <a:avLst>
              <a:gd name="adj" fmla="val 23810"/>
            </a:avLst>
          </a:prstGeom>
          <a:solidFill>
            <a:srgbClr val="F4EFE7"/>
          </a:solidFill>
          <a:ln/>
        </p:spPr>
      </p:sp>
      <p:sp>
        <p:nvSpPr>
          <p:cNvPr id="11" name="Shape 9"/>
          <p:cNvSpPr/>
          <p:nvPr/>
        </p:nvSpPr>
        <p:spPr>
          <a:xfrm>
            <a:off x="6519672" y="1956816"/>
            <a:ext cx="118872" cy="118872"/>
          </a:xfrm>
          <a:prstGeom prst="ellipse">
            <a:avLst/>
          </a:prstGeom>
          <a:solidFill>
            <a:srgbClr val="E06C75"/>
          </a:solidFill>
          <a:ln/>
        </p:spPr>
      </p:sp>
      <p:sp>
        <p:nvSpPr>
          <p:cNvPr id="12" name="Shape 10"/>
          <p:cNvSpPr/>
          <p:nvPr/>
        </p:nvSpPr>
        <p:spPr>
          <a:xfrm>
            <a:off x="6720840" y="1956816"/>
            <a:ext cx="118872" cy="118872"/>
          </a:xfrm>
          <a:prstGeom prst="ellipse">
            <a:avLst/>
          </a:prstGeom>
          <a:solidFill>
            <a:srgbClr val="E5C07B"/>
          </a:solidFill>
          <a:ln/>
        </p:spPr>
      </p:sp>
      <p:sp>
        <p:nvSpPr>
          <p:cNvPr id="13" name="Shape 11"/>
          <p:cNvSpPr/>
          <p:nvPr/>
        </p:nvSpPr>
        <p:spPr>
          <a:xfrm>
            <a:off x="6922008" y="1956816"/>
            <a:ext cx="118872" cy="118872"/>
          </a:xfrm>
          <a:prstGeom prst="ellipse">
            <a:avLst/>
          </a:prstGeom>
          <a:solidFill>
            <a:srgbClr val="98C379"/>
          </a:solidFill>
          <a:ln/>
        </p:spPr>
      </p:sp>
      <p:sp>
        <p:nvSpPr>
          <p:cNvPr id="14" name="Text 12"/>
          <p:cNvSpPr/>
          <p:nvPr/>
        </p:nvSpPr>
        <p:spPr>
          <a:xfrm>
            <a:off x="10149840" y="1883664"/>
            <a:ext cx="1280160" cy="274320"/>
          </a:xfrm>
          <a:prstGeom prst="rect">
            <a:avLst/>
          </a:prstGeom>
          <a:noFill/>
          <a:ln/>
        </p:spPr>
        <p:txBody>
          <a:bodyPr wrap="square" lIns="0" tIns="0" rIns="0" bIns="0" rtlCol="0" anchor="ctr"/>
          <a:lstStyle/>
          <a:p>
            <a:pPr algn="r" indent="0" marL="0">
              <a:buNone/>
            </a:pPr>
            <a:r>
              <a:rPr lang="en-US" sz="900" b="1" spc="100" kern="0" dirty="0">
                <a:solidFill>
                  <a:srgbClr val="999999"/>
                </a:solidFill>
                <a:latin typeface="Calibri" pitchFamily="34" charset="0"/>
                <a:ea typeface="Calibri" pitchFamily="34" charset="-122"/>
                <a:cs typeface="Calibri" pitchFamily="34" charset="-120"/>
              </a:rPr>
              <a:t>PREVIEW</a:t>
            </a:r>
            <a:endParaRPr lang="en-US" sz="900" dirty="0"/>
          </a:p>
        </p:txBody>
      </p:sp>
      <p:sp>
        <p:nvSpPr>
          <p:cNvPr id="15" name="Text 13"/>
          <p:cNvSpPr/>
          <p:nvPr/>
        </p:nvSpPr>
        <p:spPr>
          <a:xfrm>
            <a:off x="6629400" y="2423160"/>
            <a:ext cx="4709160" cy="365760"/>
          </a:xfrm>
          <a:prstGeom prst="rect">
            <a:avLst/>
          </a:prstGeom>
          <a:noFill/>
          <a:ln/>
        </p:spPr>
        <p:txBody>
          <a:bodyPr wrap="square" lIns="0" tIns="0" rIns="0" bIns="0" rtlCol="0" anchor="ctr"/>
          <a:lstStyle/>
          <a:p>
            <a:pPr indent="0" marL="0">
              <a:buNone/>
            </a:pPr>
            <a:r>
              <a:rPr lang="en-US" sz="1400" u="sng" dirty="0">
                <a:solidFill>
                  <a:srgbClr val="3B6FA0"/>
                </a:solidFill>
                <a:latin typeface="Calibri" pitchFamily="34" charset="0"/>
                <a:ea typeface="Calibri" pitchFamily="34" charset="-122"/>
                <a:cs typeface="Calibri" pitchFamily="34" charset="-120"/>
              </a:rPr>
              <a:t>About Us</a:t>
            </a:r>
            <a:endParaRPr lang="en-US" sz="1400" dirty="0"/>
          </a:p>
        </p:txBody>
      </p:sp>
      <p:sp>
        <p:nvSpPr>
          <p:cNvPr id="16" name="Shape 14"/>
          <p:cNvSpPr/>
          <p:nvPr/>
        </p:nvSpPr>
        <p:spPr>
          <a:xfrm>
            <a:off x="6629400" y="2971800"/>
            <a:ext cx="2926080" cy="1737360"/>
          </a:xfrm>
          <a:prstGeom prst="roundRect">
            <a:avLst>
              <a:gd name="adj" fmla="val 3158"/>
            </a:avLst>
          </a:prstGeom>
          <a:solidFill>
            <a:srgbClr val="E3E3E3"/>
          </a:solidFill>
          <a:ln/>
        </p:spPr>
      </p:sp>
      <p:sp>
        <p:nvSpPr>
          <p:cNvPr id="17" name="Text 15"/>
          <p:cNvSpPr/>
          <p:nvPr/>
        </p:nvSpPr>
        <p:spPr>
          <a:xfrm>
            <a:off x="6629400" y="2971800"/>
            <a:ext cx="2926080" cy="1737360"/>
          </a:xfrm>
          <a:prstGeom prst="rect">
            <a:avLst/>
          </a:prstGeom>
          <a:noFill/>
          <a:ln/>
        </p:spPr>
        <p:txBody>
          <a:bodyPr wrap="square" lIns="0" tIns="0" rIns="0" bIns="0" rtlCol="0" anchor="ctr"/>
          <a:lstStyle/>
          <a:p>
            <a:pPr algn="ctr" indent="0" marL="0">
              <a:buNone/>
            </a:pPr>
            <a:r>
              <a:rPr lang="en-US" sz="3000" dirty="0">
                <a:solidFill>
                  <a:srgbClr val="999999"/>
                </a:solidFill>
                <a:latin typeface="Calibri" pitchFamily="34" charset="0"/>
                <a:ea typeface="Calibri" pitchFamily="34" charset="-122"/>
                <a:cs typeface="Calibri" pitchFamily="34" charset="-120"/>
              </a:rPr>
              <a:t>🖼</a:t>
            </a:r>
            <a:endParaRPr lang="en-US" sz="3000" dirty="0"/>
          </a:p>
        </p:txBody>
      </p:sp>
      <p:sp>
        <p:nvSpPr>
          <p:cNvPr id="18" name="Text 16"/>
          <p:cNvSpPr/>
          <p:nvPr/>
        </p:nvSpPr>
        <p:spPr>
          <a:xfrm>
            <a:off x="6629400" y="4892040"/>
            <a:ext cx="4709160" cy="731520"/>
          </a:xfrm>
          <a:prstGeom prst="rect">
            <a:avLst/>
          </a:prstGeom>
          <a:noFill/>
          <a:ln/>
        </p:spPr>
        <p:txBody>
          <a:bodyPr wrap="square" lIns="0" tIns="0" rIns="0" bIns="0"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A link's clickable text goes between &lt;a&gt; and &lt;/a&gt;. An &lt;img&gt; tag has no closing tag or content — everything is in its attributes.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TAG TOUR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Lists</a:t>
            </a:r>
            <a:endParaRPr lang="en-US" sz="2700" dirty="0"/>
          </a:p>
        </p:txBody>
      </p:sp>
      <p:sp>
        <p:nvSpPr>
          <p:cNvPr id="4" name="Shape 2"/>
          <p:cNvSpPr/>
          <p:nvPr/>
        </p:nvSpPr>
        <p:spPr>
          <a:xfrm>
            <a:off x="548640" y="1828800"/>
            <a:ext cx="5577840" cy="3931920"/>
          </a:xfrm>
          <a:prstGeom prst="roundRect">
            <a:avLst>
              <a:gd name="adj" fmla="val 2326"/>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3337560"/>
          </a:xfrm>
          <a:prstGeom prst="rect">
            <a:avLst/>
          </a:prstGeom>
          <a:noFill/>
          <a:ln/>
        </p:spPr>
        <p:txBody>
          <a:bodyPr wrap="square" lIns="0" tIns="0" rIns="0" bIns="0" rtlCol="0" anchor="ctr"/>
          <a:lstStyle/>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&lt;ul&gt;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&lt;li&gt;Scholarships&lt;/li&gt;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&lt;li&gt;Bible Study&lt;/li&gt;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&lt;li&gt;Community Center&lt;/li&gt;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&lt;/ul&gt;</a:t>
            </a:r>
            <a:endParaRPr lang="en-US" sz="1200" dirty="0"/>
          </a:p>
        </p:txBody>
      </p:sp>
      <p:sp>
        <p:nvSpPr>
          <p:cNvPr id="9" name="Shape 7"/>
          <p:cNvSpPr/>
          <p:nvPr/>
        </p:nvSpPr>
        <p:spPr>
          <a:xfrm>
            <a:off x="6355080" y="1828800"/>
            <a:ext cx="5257800" cy="3931920"/>
          </a:xfrm>
          <a:prstGeom prst="roundRect">
            <a:avLst>
              <a:gd name="adj" fmla="val 2326"/>
            </a:avLst>
          </a:prstGeom>
          <a:solidFill>
            <a:srgbClr val="FFFFFF"/>
          </a:solidFill>
          <a:ln w="15875">
            <a:solidFill>
              <a:srgbClr val="A7BEAE"/>
            </a:solidFill>
            <a:prstDash val="solid"/>
          </a:ln>
        </p:spPr>
      </p:sp>
      <p:sp>
        <p:nvSpPr>
          <p:cNvPr id="10" name="Shape 8"/>
          <p:cNvSpPr/>
          <p:nvPr/>
        </p:nvSpPr>
        <p:spPr>
          <a:xfrm>
            <a:off x="6355080" y="1828800"/>
            <a:ext cx="5257800" cy="384048"/>
          </a:xfrm>
          <a:prstGeom prst="roundRect">
            <a:avLst>
              <a:gd name="adj" fmla="val 23810"/>
            </a:avLst>
          </a:prstGeom>
          <a:solidFill>
            <a:srgbClr val="F4EFE7"/>
          </a:solidFill>
          <a:ln/>
        </p:spPr>
      </p:sp>
      <p:sp>
        <p:nvSpPr>
          <p:cNvPr id="11" name="Shape 9"/>
          <p:cNvSpPr/>
          <p:nvPr/>
        </p:nvSpPr>
        <p:spPr>
          <a:xfrm>
            <a:off x="6519672" y="1956816"/>
            <a:ext cx="118872" cy="118872"/>
          </a:xfrm>
          <a:prstGeom prst="ellipse">
            <a:avLst/>
          </a:prstGeom>
          <a:solidFill>
            <a:srgbClr val="E06C75"/>
          </a:solidFill>
          <a:ln/>
        </p:spPr>
      </p:sp>
      <p:sp>
        <p:nvSpPr>
          <p:cNvPr id="12" name="Shape 10"/>
          <p:cNvSpPr/>
          <p:nvPr/>
        </p:nvSpPr>
        <p:spPr>
          <a:xfrm>
            <a:off x="6720840" y="1956816"/>
            <a:ext cx="118872" cy="118872"/>
          </a:xfrm>
          <a:prstGeom prst="ellipse">
            <a:avLst/>
          </a:prstGeom>
          <a:solidFill>
            <a:srgbClr val="E5C07B"/>
          </a:solidFill>
          <a:ln/>
        </p:spPr>
      </p:sp>
      <p:sp>
        <p:nvSpPr>
          <p:cNvPr id="13" name="Shape 11"/>
          <p:cNvSpPr/>
          <p:nvPr/>
        </p:nvSpPr>
        <p:spPr>
          <a:xfrm>
            <a:off x="6922008" y="1956816"/>
            <a:ext cx="118872" cy="118872"/>
          </a:xfrm>
          <a:prstGeom prst="ellipse">
            <a:avLst/>
          </a:prstGeom>
          <a:solidFill>
            <a:srgbClr val="98C379"/>
          </a:solidFill>
          <a:ln/>
        </p:spPr>
      </p:sp>
      <p:sp>
        <p:nvSpPr>
          <p:cNvPr id="14" name="Text 12"/>
          <p:cNvSpPr/>
          <p:nvPr/>
        </p:nvSpPr>
        <p:spPr>
          <a:xfrm>
            <a:off x="10149840" y="1883664"/>
            <a:ext cx="1280160" cy="274320"/>
          </a:xfrm>
          <a:prstGeom prst="rect">
            <a:avLst/>
          </a:prstGeom>
          <a:noFill/>
          <a:ln/>
        </p:spPr>
        <p:txBody>
          <a:bodyPr wrap="square" lIns="0" tIns="0" rIns="0" bIns="0" rtlCol="0" anchor="ctr"/>
          <a:lstStyle/>
          <a:p>
            <a:pPr algn="r" indent="0" marL="0">
              <a:buNone/>
            </a:pPr>
            <a:r>
              <a:rPr lang="en-US" sz="900" b="1" spc="100" kern="0" dirty="0">
                <a:solidFill>
                  <a:srgbClr val="999999"/>
                </a:solidFill>
                <a:latin typeface="Calibri" pitchFamily="34" charset="0"/>
                <a:ea typeface="Calibri" pitchFamily="34" charset="-122"/>
                <a:cs typeface="Calibri" pitchFamily="34" charset="-120"/>
              </a:rPr>
              <a:t>PREVIEW</a:t>
            </a:r>
            <a:endParaRPr lang="en-US" sz="900" dirty="0"/>
          </a:p>
        </p:txBody>
      </p:sp>
      <p:sp>
        <p:nvSpPr>
          <p:cNvPr id="15" name="Text 13"/>
          <p:cNvSpPr/>
          <p:nvPr/>
        </p:nvSpPr>
        <p:spPr>
          <a:xfrm>
            <a:off x="6629400" y="2423160"/>
            <a:ext cx="4709160" cy="365760"/>
          </a:xfrm>
          <a:prstGeom prst="rect">
            <a:avLst/>
          </a:prstGeom>
          <a:noFill/>
          <a:ln/>
        </p:spPr>
        <p:txBody>
          <a:bodyPr wrap="square" lIns="0" tIns="0" rIns="0" bIns="0" rtlCol="0" anchor="ctr"/>
          <a:lstStyle/>
          <a:p>
            <a:pPr indent="0" marL="0">
              <a:buNone/>
            </a:pPr>
            <a:r>
              <a:rPr lang="en-US" sz="1400" dirty="0">
                <a:solidFill>
                  <a:srgbClr val="3A2B26"/>
                </a:solidFill>
                <a:latin typeface="Calibri" pitchFamily="34" charset="0"/>
                <a:ea typeface="Calibri" pitchFamily="34" charset="-122"/>
                <a:cs typeface="Calibri" pitchFamily="34" charset="-120"/>
              </a:rPr>
              <a:t>•  Scholarships</a:t>
            </a:r>
            <a:endParaRPr lang="en-US" sz="1400" dirty="0"/>
          </a:p>
        </p:txBody>
      </p:sp>
      <p:sp>
        <p:nvSpPr>
          <p:cNvPr id="16" name="Text 14"/>
          <p:cNvSpPr/>
          <p:nvPr/>
        </p:nvSpPr>
        <p:spPr>
          <a:xfrm>
            <a:off x="6629400" y="2880360"/>
            <a:ext cx="4709160" cy="365760"/>
          </a:xfrm>
          <a:prstGeom prst="rect">
            <a:avLst/>
          </a:prstGeom>
          <a:noFill/>
          <a:ln/>
        </p:spPr>
        <p:txBody>
          <a:bodyPr wrap="square" lIns="0" tIns="0" rIns="0" bIns="0" rtlCol="0" anchor="ctr"/>
          <a:lstStyle/>
          <a:p>
            <a:pPr indent="0" marL="0">
              <a:buNone/>
            </a:pPr>
            <a:r>
              <a:rPr lang="en-US" sz="1400" dirty="0">
                <a:solidFill>
                  <a:srgbClr val="3A2B26"/>
                </a:solidFill>
                <a:latin typeface="Calibri" pitchFamily="34" charset="0"/>
                <a:ea typeface="Calibri" pitchFamily="34" charset="-122"/>
                <a:cs typeface="Calibri" pitchFamily="34" charset="-120"/>
              </a:rPr>
              <a:t>•  Bible Study</a:t>
            </a:r>
            <a:endParaRPr lang="en-US" sz="1400" dirty="0"/>
          </a:p>
        </p:txBody>
      </p:sp>
      <p:sp>
        <p:nvSpPr>
          <p:cNvPr id="17" name="Text 15"/>
          <p:cNvSpPr/>
          <p:nvPr/>
        </p:nvSpPr>
        <p:spPr>
          <a:xfrm>
            <a:off x="6629400" y="3337560"/>
            <a:ext cx="4709160" cy="365760"/>
          </a:xfrm>
          <a:prstGeom prst="rect">
            <a:avLst/>
          </a:prstGeom>
          <a:noFill/>
          <a:ln/>
        </p:spPr>
        <p:txBody>
          <a:bodyPr wrap="square" lIns="0" tIns="0" rIns="0" bIns="0" rtlCol="0" anchor="ctr"/>
          <a:lstStyle/>
          <a:p>
            <a:pPr indent="0" marL="0">
              <a:buNone/>
            </a:pPr>
            <a:r>
              <a:rPr lang="en-US" sz="1400" dirty="0">
                <a:solidFill>
                  <a:srgbClr val="3A2B26"/>
                </a:solidFill>
                <a:latin typeface="Calibri" pitchFamily="34" charset="0"/>
                <a:ea typeface="Calibri" pitchFamily="34" charset="-122"/>
                <a:cs typeface="Calibri" pitchFamily="34" charset="-120"/>
              </a:rPr>
              <a:t>•  Community Center</a:t>
            </a:r>
            <a:endParaRPr lang="en-US" sz="1400" dirty="0"/>
          </a:p>
        </p:txBody>
      </p:sp>
      <p:sp>
        <p:nvSpPr>
          <p:cNvPr id="18" name="Text 16"/>
          <p:cNvSpPr/>
          <p:nvPr/>
        </p:nvSpPr>
        <p:spPr>
          <a:xfrm>
            <a:off x="6629400" y="4069080"/>
            <a:ext cx="4709160" cy="731520"/>
          </a:xfrm>
          <a:prstGeom prst="rect">
            <a:avLst/>
          </a:prstGeom>
          <a:noFill/>
          <a:ln/>
        </p:spPr>
        <p:txBody>
          <a:bodyPr wrap="square" lIns="0" tIns="0" rIns="0" bIns="0"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&lt;ul&gt; = unordered (bullet) list. Swap it for &lt;ol&gt; to get 1, 2, 3... numbers instead. &lt;li&gt; = each list item.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TAG TOUR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Buttons &amp; Forms</a:t>
            </a:r>
            <a:endParaRPr lang="en-US" sz="2700" dirty="0"/>
          </a:p>
        </p:txBody>
      </p:sp>
      <p:sp>
        <p:nvSpPr>
          <p:cNvPr id="4" name="Shape 2"/>
          <p:cNvSpPr/>
          <p:nvPr/>
        </p:nvSpPr>
        <p:spPr>
          <a:xfrm>
            <a:off x="548640" y="1828800"/>
            <a:ext cx="5577840" cy="3931920"/>
          </a:xfrm>
          <a:prstGeom prst="roundRect">
            <a:avLst>
              <a:gd name="adj" fmla="val 2326"/>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3337560"/>
          </a:xfrm>
          <a:prstGeom prst="rect">
            <a:avLst/>
          </a:prstGeom>
          <a:noFill/>
          <a:ln/>
        </p:spPr>
        <p:txBody>
          <a:bodyPr wrap="square" lIns="0" tIns="0" rIns="0" bIns="0" rtlCol="0" anchor="ctr"/>
          <a:lstStyle/>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&lt;form&gt;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&lt;input </a:t>
            </a:r>
            <a:pPr indent="0" marL="0">
              <a:lnSpc>
                <a:spcPct val="122000"/>
              </a:lnSpc>
              <a:buNone/>
            </a:pPr>
            <a:r>
              <a:rPr lang="en-US" sz="1200" dirty="0">
                <a:solidFill>
                  <a:srgbClr val="D98C6B"/>
                </a:solidFill>
                <a:latin typeface="Courier New" pitchFamily="34" charset="0"/>
                <a:ea typeface="Courier New" pitchFamily="34" charset="-122"/>
                <a:cs typeface="Courier New" pitchFamily="34" charset="-120"/>
              </a:rPr>
              <a:t>placeholder="Your name"</a:t>
            </a:r>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  &lt;button&gt;Submit&lt;/button&gt;</a:t>
            </a:r>
            <a:endParaRPr lang="en-US" sz="1200" dirty="0"/>
          </a:p>
          <a:p>
            <a:pPr indent="0" marL="0">
              <a:lnSpc>
                <a:spcPct val="122000"/>
              </a:lnSpc>
              <a:buNone/>
            </a:pPr>
            <a:r>
              <a:rPr lang="en-US" sz="1200" dirty="0">
                <a:solidFill>
                  <a:srgbClr val="A7BEAE"/>
                </a:solidFill>
                <a:latin typeface="Courier New" pitchFamily="34" charset="0"/>
                <a:ea typeface="Courier New" pitchFamily="34" charset="-122"/>
                <a:cs typeface="Courier New" pitchFamily="34" charset="-120"/>
              </a:rPr>
              <a:t>&lt;/form&gt;</a:t>
            </a:r>
            <a:endParaRPr lang="en-US" sz="1200" dirty="0"/>
          </a:p>
        </p:txBody>
      </p:sp>
      <p:sp>
        <p:nvSpPr>
          <p:cNvPr id="9" name="Shape 7"/>
          <p:cNvSpPr/>
          <p:nvPr/>
        </p:nvSpPr>
        <p:spPr>
          <a:xfrm>
            <a:off x="6355080" y="1828800"/>
            <a:ext cx="5257800" cy="3931920"/>
          </a:xfrm>
          <a:prstGeom prst="roundRect">
            <a:avLst>
              <a:gd name="adj" fmla="val 2326"/>
            </a:avLst>
          </a:prstGeom>
          <a:solidFill>
            <a:srgbClr val="FFFFFF"/>
          </a:solidFill>
          <a:ln w="15875">
            <a:solidFill>
              <a:srgbClr val="A7BEAE"/>
            </a:solidFill>
            <a:prstDash val="solid"/>
          </a:ln>
        </p:spPr>
      </p:sp>
      <p:sp>
        <p:nvSpPr>
          <p:cNvPr id="10" name="Shape 8"/>
          <p:cNvSpPr/>
          <p:nvPr/>
        </p:nvSpPr>
        <p:spPr>
          <a:xfrm>
            <a:off x="6355080" y="1828800"/>
            <a:ext cx="5257800" cy="384048"/>
          </a:xfrm>
          <a:prstGeom prst="roundRect">
            <a:avLst>
              <a:gd name="adj" fmla="val 23810"/>
            </a:avLst>
          </a:prstGeom>
          <a:solidFill>
            <a:srgbClr val="F4EFE7"/>
          </a:solidFill>
          <a:ln/>
        </p:spPr>
      </p:sp>
      <p:sp>
        <p:nvSpPr>
          <p:cNvPr id="11" name="Shape 9"/>
          <p:cNvSpPr/>
          <p:nvPr/>
        </p:nvSpPr>
        <p:spPr>
          <a:xfrm>
            <a:off x="6519672" y="1956816"/>
            <a:ext cx="118872" cy="118872"/>
          </a:xfrm>
          <a:prstGeom prst="ellipse">
            <a:avLst/>
          </a:prstGeom>
          <a:solidFill>
            <a:srgbClr val="E06C75"/>
          </a:solidFill>
          <a:ln/>
        </p:spPr>
      </p:sp>
      <p:sp>
        <p:nvSpPr>
          <p:cNvPr id="12" name="Shape 10"/>
          <p:cNvSpPr/>
          <p:nvPr/>
        </p:nvSpPr>
        <p:spPr>
          <a:xfrm>
            <a:off x="6720840" y="1956816"/>
            <a:ext cx="118872" cy="118872"/>
          </a:xfrm>
          <a:prstGeom prst="ellipse">
            <a:avLst/>
          </a:prstGeom>
          <a:solidFill>
            <a:srgbClr val="E5C07B"/>
          </a:solidFill>
          <a:ln/>
        </p:spPr>
      </p:sp>
      <p:sp>
        <p:nvSpPr>
          <p:cNvPr id="13" name="Shape 11"/>
          <p:cNvSpPr/>
          <p:nvPr/>
        </p:nvSpPr>
        <p:spPr>
          <a:xfrm>
            <a:off x="6922008" y="1956816"/>
            <a:ext cx="118872" cy="118872"/>
          </a:xfrm>
          <a:prstGeom prst="ellipse">
            <a:avLst/>
          </a:prstGeom>
          <a:solidFill>
            <a:srgbClr val="98C379"/>
          </a:solidFill>
          <a:ln/>
        </p:spPr>
      </p:sp>
      <p:sp>
        <p:nvSpPr>
          <p:cNvPr id="14" name="Text 12"/>
          <p:cNvSpPr/>
          <p:nvPr/>
        </p:nvSpPr>
        <p:spPr>
          <a:xfrm>
            <a:off x="10149840" y="1883664"/>
            <a:ext cx="1280160" cy="274320"/>
          </a:xfrm>
          <a:prstGeom prst="rect">
            <a:avLst/>
          </a:prstGeom>
          <a:noFill/>
          <a:ln/>
        </p:spPr>
        <p:txBody>
          <a:bodyPr wrap="square" lIns="0" tIns="0" rIns="0" bIns="0" rtlCol="0" anchor="ctr"/>
          <a:lstStyle/>
          <a:p>
            <a:pPr algn="r" indent="0" marL="0">
              <a:buNone/>
            </a:pPr>
            <a:r>
              <a:rPr lang="en-US" sz="900" b="1" spc="100" kern="0" dirty="0">
                <a:solidFill>
                  <a:srgbClr val="999999"/>
                </a:solidFill>
                <a:latin typeface="Calibri" pitchFamily="34" charset="0"/>
                <a:ea typeface="Calibri" pitchFamily="34" charset="-122"/>
                <a:cs typeface="Calibri" pitchFamily="34" charset="-120"/>
              </a:rPr>
              <a:t>PREVIEW</a:t>
            </a:r>
            <a:endParaRPr lang="en-US" sz="900" dirty="0"/>
          </a:p>
        </p:txBody>
      </p:sp>
      <p:sp>
        <p:nvSpPr>
          <p:cNvPr id="15" name="Shape 13"/>
          <p:cNvSpPr/>
          <p:nvPr/>
        </p:nvSpPr>
        <p:spPr>
          <a:xfrm>
            <a:off x="6629400" y="2423160"/>
            <a:ext cx="3200400" cy="457200"/>
          </a:xfrm>
          <a:prstGeom prst="roundRect">
            <a:avLst>
              <a:gd name="adj" fmla="val 12000"/>
            </a:avLst>
          </a:prstGeom>
          <a:solidFill>
            <a:srgbClr val="FFFFFF"/>
          </a:solidFill>
          <a:ln w="12700">
            <a:solidFill>
              <a:srgbClr val="999999"/>
            </a:solidFill>
            <a:prstDash val="solid"/>
          </a:ln>
        </p:spPr>
      </p:sp>
      <p:sp>
        <p:nvSpPr>
          <p:cNvPr id="16" name="Text 14"/>
          <p:cNvSpPr/>
          <p:nvPr/>
        </p:nvSpPr>
        <p:spPr>
          <a:xfrm>
            <a:off x="6766560" y="2423160"/>
            <a:ext cx="2926080" cy="457200"/>
          </a:xfrm>
          <a:prstGeom prst="rect">
            <a:avLst/>
          </a:prstGeom>
          <a:noFill/>
          <a:ln/>
        </p:spPr>
        <p:txBody>
          <a:bodyPr wrap="square" lIns="0" tIns="0" rIns="0" bIns="0" rtlCol="0" anchor="ctr"/>
          <a:lstStyle/>
          <a:p>
            <a:pPr indent="0" marL="0">
              <a:buNone/>
            </a:pPr>
            <a:r>
              <a:rPr lang="en-US" sz="1200" dirty="0">
                <a:solidFill>
                  <a:srgbClr val="999999"/>
                </a:solidFill>
                <a:latin typeface="Calibri" pitchFamily="34" charset="0"/>
                <a:ea typeface="Calibri" pitchFamily="34" charset="-122"/>
                <a:cs typeface="Calibri" pitchFamily="34" charset="-120"/>
              </a:rPr>
              <a:t>Your name</a:t>
            </a:r>
            <a:endParaRPr lang="en-US" sz="1200" dirty="0"/>
          </a:p>
        </p:txBody>
      </p:sp>
      <p:sp>
        <p:nvSpPr>
          <p:cNvPr id="17" name="Shape 15"/>
          <p:cNvSpPr/>
          <p:nvPr/>
        </p:nvSpPr>
        <p:spPr>
          <a:xfrm>
            <a:off x="6629400" y="3063240"/>
            <a:ext cx="1280160" cy="457200"/>
          </a:xfrm>
          <a:prstGeom prst="roundRect">
            <a:avLst>
              <a:gd name="adj" fmla="val 50000"/>
            </a:avLst>
          </a:prstGeom>
          <a:solidFill>
            <a:srgbClr val="B85042"/>
          </a:solidFill>
          <a:ln/>
        </p:spPr>
      </p:sp>
      <p:sp>
        <p:nvSpPr>
          <p:cNvPr id="18" name="Text 16"/>
          <p:cNvSpPr/>
          <p:nvPr/>
        </p:nvSpPr>
        <p:spPr>
          <a:xfrm>
            <a:off x="6629400" y="3063240"/>
            <a:ext cx="12801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Submit</a:t>
            </a:r>
            <a:endParaRPr lang="en-US" sz="1200" dirty="0"/>
          </a:p>
        </p:txBody>
      </p:sp>
      <p:sp>
        <p:nvSpPr>
          <p:cNvPr id="19" name="Text 17"/>
          <p:cNvSpPr/>
          <p:nvPr/>
        </p:nvSpPr>
        <p:spPr>
          <a:xfrm>
            <a:off x="6629400" y="3794760"/>
            <a:ext cx="4709160" cy="914400"/>
          </a:xfrm>
          <a:prstGeom prst="rect">
            <a:avLst/>
          </a:prstGeom>
          <a:noFill/>
          <a:ln/>
        </p:spPr>
        <p:txBody>
          <a:bodyPr wrap="square" lIns="0" tIns="0" rIns="0" bIns="0"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&lt;form&gt; wraps everything a person will fill out. &lt;input&gt; collects text, &lt;button&gt; submits it — you'll wire up the “what happens next” part with JavaScript on Day 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Why Semantic Tags Matter</a:t>
            </a:r>
            <a:endParaRPr lang="en-US" sz="2700" dirty="0"/>
          </a:p>
        </p:txBody>
      </p:sp>
      <p:sp>
        <p:nvSpPr>
          <p:cNvPr id="4" name="Shape 2"/>
          <p:cNvSpPr/>
          <p:nvPr/>
        </p:nvSpPr>
        <p:spPr>
          <a:xfrm>
            <a:off x="548640" y="1828800"/>
            <a:ext cx="5303520" cy="3931920"/>
          </a:xfrm>
          <a:prstGeom prst="roundRect">
            <a:avLst>
              <a:gd name="adj" fmla="val 2326"/>
            </a:avLst>
          </a:prstGeom>
          <a:solidFill>
            <a:srgbClr val="F4EFE7"/>
          </a:solidFill>
          <a:ln/>
        </p:spPr>
      </p:sp>
      <p:sp>
        <p:nvSpPr>
          <p:cNvPr id="5" name="Text 3"/>
          <p:cNvSpPr/>
          <p:nvPr/>
        </p:nvSpPr>
        <p:spPr>
          <a:xfrm>
            <a:off x="822960" y="2029968"/>
            <a:ext cx="475488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 The old way</a:t>
            </a:r>
            <a:endParaRPr lang="en-US" sz="1500" dirty="0"/>
          </a:p>
        </p:txBody>
      </p:sp>
      <p:sp>
        <p:nvSpPr>
          <p:cNvPr id="6" name="Text 4"/>
          <p:cNvSpPr/>
          <p:nvPr/>
        </p:nvSpPr>
        <p:spPr>
          <a:xfrm>
            <a:off x="822960" y="2450592"/>
            <a:ext cx="4754880" cy="31089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Everything is just &lt;div&gt;: header, menu, footer — all look the same to a computer</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It still works and looks fine, but nothing says what each part IS</a:t>
            </a:r>
            <a:endParaRPr lang="en-US" sz="1200" dirty="0"/>
          </a:p>
        </p:txBody>
      </p:sp>
      <p:sp>
        <p:nvSpPr>
          <p:cNvPr id="7" name="Shape 5"/>
          <p:cNvSpPr/>
          <p:nvPr/>
        </p:nvSpPr>
        <p:spPr>
          <a:xfrm>
            <a:off x="6126480" y="1828800"/>
            <a:ext cx="5486400" cy="3931920"/>
          </a:xfrm>
          <a:prstGeom prst="roundRect">
            <a:avLst>
              <a:gd name="adj" fmla="val 2326"/>
            </a:avLst>
          </a:prstGeom>
          <a:solidFill>
            <a:srgbClr val="E7E8D1"/>
          </a:solidFill>
          <a:ln/>
        </p:spPr>
      </p:sp>
      <p:sp>
        <p:nvSpPr>
          <p:cNvPr id="8" name="Text 6"/>
          <p:cNvSpPr/>
          <p:nvPr/>
        </p:nvSpPr>
        <p:spPr>
          <a:xfrm>
            <a:off x="6400800" y="2029968"/>
            <a:ext cx="4937760" cy="365760"/>
          </a:xfrm>
          <a:prstGeom prst="rect">
            <a:avLst/>
          </a:prstGeom>
          <a:noFill/>
          <a:ln/>
        </p:spPr>
        <p:txBody>
          <a:bodyPr wrap="square" lIns="0" tIns="0" rIns="0" bIns="0" rtlCol="0" anchor="ctr"/>
          <a:lstStyle/>
          <a:p>
            <a:pPr indent="0" marL="0">
              <a:buNone/>
            </a:pPr>
            <a:r>
              <a:rPr lang="en-US" sz="1500" b="1" dirty="0">
                <a:solidFill>
                  <a:srgbClr val="3A2B26"/>
                </a:solidFill>
                <a:latin typeface="Cambria" pitchFamily="34" charset="0"/>
                <a:ea typeface="Cambria" pitchFamily="34" charset="-122"/>
                <a:cs typeface="Cambria" pitchFamily="34" charset="-120"/>
              </a:rPr>
              <a:t>✅ The better way</a:t>
            </a:r>
            <a:endParaRPr lang="en-US" sz="1500" dirty="0"/>
          </a:p>
        </p:txBody>
      </p:sp>
      <p:sp>
        <p:nvSpPr>
          <p:cNvPr id="9" name="Text 7"/>
          <p:cNvSpPr/>
          <p:nvPr/>
        </p:nvSpPr>
        <p:spPr>
          <a:xfrm>
            <a:off x="6400800" y="2450592"/>
            <a:ext cx="4937760" cy="31089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&lt;header&gt;, &lt;nav&gt;, &lt;main&gt;, &lt;footer&gt; — the name tells you what's inside</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Blind users' screen readers can jump straight to the menu or the main content</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Google can also understand your page better, which helps people find it</a:t>
            </a:r>
            <a:endParaRPr lang="en-US" sz="1200" dirty="0"/>
          </a:p>
          <a:p>
            <a:pPr marL="342900" indent="-342900">
              <a:spcAft>
                <a:spcPts val="700"/>
              </a:spcAft>
              <a:buSzPct val="100000"/>
              <a:buChar char="•"/>
            </a:pPr>
            <a:r>
              <a:rPr lang="en-US" sz="1200" dirty="0">
                <a:solidFill>
                  <a:srgbClr val="3A2B26"/>
                </a:solidFill>
                <a:latin typeface="Calibri" pitchFamily="34" charset="0"/>
                <a:ea typeface="Calibri" pitchFamily="34" charset="-122"/>
                <a:cs typeface="Calibri" pitchFamily="34" charset="-120"/>
              </a:rPr>
              <a:t>Use div only when none of these fit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PRACTICE 1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Complete the Page Skeleton</a:t>
            </a:r>
            <a:endParaRPr lang="en-US" sz="2700" dirty="0"/>
          </a:p>
        </p:txBody>
      </p:sp>
      <p:sp>
        <p:nvSpPr>
          <p:cNvPr id="4" name="Shape 2"/>
          <p:cNvSpPr/>
          <p:nvPr/>
        </p:nvSpPr>
        <p:spPr>
          <a:xfrm>
            <a:off x="548640" y="1828800"/>
            <a:ext cx="6675120" cy="4114800"/>
          </a:xfrm>
          <a:prstGeom prst="roundRect">
            <a:avLst>
              <a:gd name="adj" fmla="val 2222"/>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3520440"/>
          </a:xfrm>
          <a:prstGeom prst="rect">
            <a:avLst/>
          </a:prstGeom>
          <a:noFill/>
          <a:ln/>
        </p:spPr>
        <p:txBody>
          <a:bodyPr wrap="square" lIns="0" tIns="0" rIns="0" bIns="0" rtlCol="0" anchor="ctr"/>
          <a:lstStyle/>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 class=</a:t>
            </a:r>
            <a:pPr indent="0" marL="0">
              <a:lnSpc>
                <a:spcPct val="122000"/>
              </a:lnSpc>
              <a:buNone/>
            </a:pPr>
            <a:r>
              <a:rPr lang="en-US" sz="1300" dirty="0">
                <a:solidFill>
                  <a:srgbClr val="D98C6B"/>
                </a:solidFill>
                <a:latin typeface="Courier New" pitchFamily="34" charset="0"/>
                <a:ea typeface="Courier New" pitchFamily="34" charset="-122"/>
                <a:cs typeface="Courier New" pitchFamily="34" charset="-120"/>
              </a:rPr>
              <a:t>"site-header"&gt;</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&lt;nav&gt;...&lt;/nav&gt;</a:t>
            </a:r>
            <a:endParaRPr lang="en-US" sz="1300" dirty="0"/>
          </a:p>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t>
            </a:r>
            <a:endParaRPr lang="en-US" sz="1300" dirty="0"/>
          </a:p>
          <a:p>
            <a:pPr indent="0" marL="0">
              <a:lnSpc>
                <a:spcPct val="122000"/>
              </a:lnSpc>
              <a:buNone/>
            </a:pPr>
            <a:endParaRPr lang="en-US" sz="1300" dirty="0"/>
          </a:p>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&lt;h1&gt;Hi, I'm [Name]&lt;/h1&gt;</a:t>
            </a:r>
            <a:endParaRPr lang="en-US" sz="1300" dirty="0"/>
          </a:p>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  &lt;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&gt;Click me&lt;/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t>
            </a:r>
            <a:endParaRPr lang="en-US" sz="1300" dirty="0"/>
          </a:p>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&lt;/section&gt;</a:t>
            </a:r>
            <a:endParaRPr lang="en-US" sz="1300" dirty="0"/>
          </a:p>
        </p:txBody>
      </p:sp>
      <p:sp>
        <p:nvSpPr>
          <p:cNvPr id="9" name="Text 7"/>
          <p:cNvSpPr/>
          <p:nvPr/>
        </p:nvSpPr>
        <p:spPr>
          <a:xfrm>
            <a:off x="548640" y="6080760"/>
            <a:ext cx="6400800" cy="274320"/>
          </a:xfrm>
          <a:prstGeom prst="rect">
            <a:avLst/>
          </a:prstGeom>
          <a:noFill/>
          <a:ln/>
        </p:spPr>
        <p:txBody>
          <a:bodyPr wrap="square" lIns="0" tIns="0" rIns="0" bIns="0" rtlCol="0" anchor="ctr"/>
          <a:lstStyle/>
          <a:p>
            <a:pPr indent="0" marL="0">
              <a:buNone/>
            </a:pPr>
            <a:r>
              <a:rPr lang="en-US" sz="11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6400800"/>
            <a:ext cx="859536" cy="384048"/>
          </a:xfrm>
          <a:prstGeom prst="roundRect">
            <a:avLst>
              <a:gd name="adj" fmla="val 50000"/>
            </a:avLst>
          </a:prstGeom>
          <a:solidFill>
            <a:srgbClr val="E7E8D1"/>
          </a:solidFill>
          <a:ln w="12700">
            <a:solidFill>
              <a:srgbClr val="A7BEAE"/>
            </a:solidFill>
            <a:prstDash val="solid"/>
          </a:ln>
        </p:spPr>
      </p:sp>
      <p:sp>
        <p:nvSpPr>
          <p:cNvPr id="11" name="Text 9"/>
          <p:cNvSpPr/>
          <p:nvPr/>
        </p:nvSpPr>
        <p:spPr>
          <a:xfrm>
            <a:off x="548640" y="6400800"/>
            <a:ext cx="859536"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header</a:t>
            </a:r>
            <a:endParaRPr lang="en-US" sz="1200" dirty="0"/>
          </a:p>
        </p:txBody>
      </p:sp>
      <p:sp>
        <p:nvSpPr>
          <p:cNvPr id="12" name="Shape 10"/>
          <p:cNvSpPr/>
          <p:nvPr/>
        </p:nvSpPr>
        <p:spPr>
          <a:xfrm>
            <a:off x="1554480" y="6400800"/>
            <a:ext cx="859536" cy="384048"/>
          </a:xfrm>
          <a:prstGeom prst="roundRect">
            <a:avLst>
              <a:gd name="adj" fmla="val 50000"/>
            </a:avLst>
          </a:prstGeom>
          <a:solidFill>
            <a:srgbClr val="E7E8D1"/>
          </a:solidFill>
          <a:ln w="12700">
            <a:solidFill>
              <a:srgbClr val="A7BEAE"/>
            </a:solidFill>
            <a:prstDash val="solid"/>
          </a:ln>
        </p:spPr>
      </p:sp>
      <p:sp>
        <p:nvSpPr>
          <p:cNvPr id="13" name="Text 11"/>
          <p:cNvSpPr/>
          <p:nvPr/>
        </p:nvSpPr>
        <p:spPr>
          <a:xfrm>
            <a:off x="1554480" y="6400800"/>
            <a:ext cx="859536"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header</a:t>
            </a:r>
            <a:endParaRPr lang="en-US" sz="1200" dirty="0"/>
          </a:p>
        </p:txBody>
      </p:sp>
      <p:sp>
        <p:nvSpPr>
          <p:cNvPr id="14" name="Shape 12"/>
          <p:cNvSpPr/>
          <p:nvPr/>
        </p:nvSpPr>
        <p:spPr>
          <a:xfrm>
            <a:off x="2560320" y="6400800"/>
            <a:ext cx="960120" cy="384048"/>
          </a:xfrm>
          <a:prstGeom prst="roundRect">
            <a:avLst>
              <a:gd name="adj" fmla="val 50000"/>
            </a:avLst>
          </a:prstGeom>
          <a:solidFill>
            <a:srgbClr val="E7E8D1"/>
          </a:solidFill>
          <a:ln w="12700">
            <a:solidFill>
              <a:srgbClr val="A7BEAE"/>
            </a:solidFill>
            <a:prstDash val="solid"/>
          </a:ln>
        </p:spPr>
      </p:sp>
      <p:sp>
        <p:nvSpPr>
          <p:cNvPr id="15" name="Text 13"/>
          <p:cNvSpPr/>
          <p:nvPr/>
        </p:nvSpPr>
        <p:spPr>
          <a:xfrm>
            <a:off x="2560320" y="6400800"/>
            <a:ext cx="960120"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section</a:t>
            </a:r>
            <a:endParaRPr lang="en-US" sz="1200" dirty="0"/>
          </a:p>
        </p:txBody>
      </p:sp>
      <p:sp>
        <p:nvSpPr>
          <p:cNvPr id="16" name="Shape 14"/>
          <p:cNvSpPr/>
          <p:nvPr/>
        </p:nvSpPr>
        <p:spPr>
          <a:xfrm>
            <a:off x="3666744" y="6400800"/>
            <a:ext cx="859536" cy="384048"/>
          </a:xfrm>
          <a:prstGeom prst="roundRect">
            <a:avLst>
              <a:gd name="adj" fmla="val 50000"/>
            </a:avLst>
          </a:prstGeom>
          <a:solidFill>
            <a:srgbClr val="E7E8D1"/>
          </a:solidFill>
          <a:ln w="12700">
            <a:solidFill>
              <a:srgbClr val="A7BEAE"/>
            </a:solidFill>
            <a:prstDash val="solid"/>
          </a:ln>
        </p:spPr>
      </p:sp>
      <p:sp>
        <p:nvSpPr>
          <p:cNvPr id="17" name="Text 15"/>
          <p:cNvSpPr/>
          <p:nvPr/>
        </p:nvSpPr>
        <p:spPr>
          <a:xfrm>
            <a:off x="3666744" y="6400800"/>
            <a:ext cx="859536"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button</a:t>
            </a:r>
            <a:endParaRPr lang="en-US" sz="1200" dirty="0"/>
          </a:p>
        </p:txBody>
      </p:sp>
      <p:sp>
        <p:nvSpPr>
          <p:cNvPr id="18" name="Shape 16"/>
          <p:cNvSpPr/>
          <p:nvPr/>
        </p:nvSpPr>
        <p:spPr>
          <a:xfrm>
            <a:off x="4672584" y="6400800"/>
            <a:ext cx="859536" cy="384048"/>
          </a:xfrm>
          <a:prstGeom prst="roundRect">
            <a:avLst>
              <a:gd name="adj" fmla="val 50000"/>
            </a:avLst>
          </a:prstGeom>
          <a:solidFill>
            <a:srgbClr val="E7E8D1"/>
          </a:solidFill>
          <a:ln w="12700">
            <a:solidFill>
              <a:srgbClr val="A7BEAE"/>
            </a:solidFill>
            <a:prstDash val="solid"/>
          </a:ln>
        </p:spPr>
      </p:sp>
      <p:sp>
        <p:nvSpPr>
          <p:cNvPr id="19" name="Text 17"/>
          <p:cNvSpPr/>
          <p:nvPr/>
        </p:nvSpPr>
        <p:spPr>
          <a:xfrm>
            <a:off x="4672584" y="6400800"/>
            <a:ext cx="859536"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button</a:t>
            </a:r>
            <a:endParaRPr lang="en-US" sz="1200" dirty="0"/>
          </a:p>
        </p:txBody>
      </p:sp>
      <p:sp>
        <p:nvSpPr>
          <p:cNvPr id="20" name="Text 18"/>
          <p:cNvSpPr/>
          <p:nvPr/>
        </p:nvSpPr>
        <p:spPr>
          <a:xfrm>
            <a:off x="7452360" y="2103120"/>
            <a:ext cx="4206240" cy="3200400"/>
          </a:xfrm>
          <a:prstGeom prst="rect">
            <a:avLst/>
          </a:prstGeom>
          <a:noFill/>
          <a:ln/>
        </p:spPr>
        <p:txBody>
          <a:bodyPr wrap="square" lIns="0" tIns="0" rIns="0" bIns="0" rtlCol="0" anchor="ctr"/>
          <a:lstStyle/>
          <a:p>
            <a:pPr indent="0" marL="0">
              <a:buNone/>
            </a:pPr>
            <a:r>
              <a:rPr lang="en-US" sz="1350" i="1" dirty="0">
                <a:solidFill>
                  <a:srgbClr val="555555"/>
                </a:solidFill>
                <a:latin typeface="Calibri" pitchFamily="34" charset="0"/>
                <a:ea typeface="Calibri" pitchFamily="34" charset="-122"/>
                <a:cs typeface="Calibri" pitchFamily="34" charset="-120"/>
              </a:rPr>
              <a:t>Open your skeleton index.html and check your answers against it.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PRACTICE 2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Add a Link and an Image</a:t>
            </a:r>
            <a:endParaRPr lang="en-US" sz="2700" dirty="0"/>
          </a:p>
        </p:txBody>
      </p:sp>
      <p:sp>
        <p:nvSpPr>
          <p:cNvPr id="4" name="Shape 2"/>
          <p:cNvSpPr/>
          <p:nvPr/>
        </p:nvSpPr>
        <p:spPr>
          <a:xfrm>
            <a:off x="548640" y="1828800"/>
            <a:ext cx="6675120" cy="2743200"/>
          </a:xfrm>
          <a:prstGeom prst="roundRect">
            <a:avLst>
              <a:gd name="adj" fmla="val 3333"/>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2148840"/>
          </a:xfrm>
          <a:prstGeom prst="rect">
            <a:avLst/>
          </a:prstGeom>
          <a:noFill/>
          <a:ln/>
        </p:spPr>
        <p:txBody>
          <a:bodyPr wrap="square" lIns="0" tIns="0" rIns="0" bIns="0" rtlCol="0" anchor="ctr"/>
          <a:lstStyle/>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&lt;a </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a:t>
            </a:r>
            <a:pPr indent="0" marL="0">
              <a:lnSpc>
                <a:spcPct val="122000"/>
              </a:lnSpc>
              <a:buNone/>
            </a:pPr>
            <a:r>
              <a:rPr lang="en-US" sz="1300" dirty="0">
                <a:solidFill>
                  <a:srgbClr val="D98C6B"/>
                </a:solidFill>
                <a:latin typeface="Courier New" pitchFamily="34" charset="0"/>
                <a:ea typeface="Courier New" pitchFamily="34" charset="-122"/>
                <a:cs typeface="Courier New" pitchFamily="34" charset="-120"/>
              </a:rPr>
              <a:t>"about.html"</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&gt;About Us&lt;/a&gt;</a:t>
            </a:r>
            <a:endParaRPr lang="en-US" sz="1300" dirty="0"/>
          </a:p>
          <a:p>
            <a:pPr indent="0" marL="0">
              <a:lnSpc>
                <a:spcPct val="122000"/>
              </a:lnSpc>
              <a:buNone/>
            </a:pPr>
            <a:endParaRPr lang="en-US" sz="1300" dirty="0"/>
          </a:p>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&lt;img </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a:t>
            </a:r>
            <a:pPr indent="0" marL="0">
              <a:lnSpc>
                <a:spcPct val="122000"/>
              </a:lnSpc>
              <a:buNone/>
            </a:pPr>
            <a:r>
              <a:rPr lang="en-US" sz="1300" dirty="0">
                <a:solidFill>
                  <a:srgbClr val="D98C6B"/>
                </a:solidFill>
                <a:latin typeface="Courier New" pitchFamily="34" charset="0"/>
                <a:ea typeface="Courier New" pitchFamily="34" charset="-122"/>
                <a:cs typeface="Courier New" pitchFamily="34" charset="-120"/>
              </a:rPr>
              <a:t>"team.jpg"</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 </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a:t>
            </a:r>
            <a:pPr indent="0" marL="0">
              <a:lnSpc>
                <a:spcPct val="122000"/>
              </a:lnSpc>
              <a:buNone/>
            </a:pPr>
            <a:r>
              <a:rPr lang="en-US" sz="1300" dirty="0">
                <a:solidFill>
                  <a:srgbClr val="D98C6B"/>
                </a:solidFill>
                <a:latin typeface="Courier New" pitchFamily="34" charset="0"/>
                <a:ea typeface="Courier New" pitchFamily="34" charset="-122"/>
                <a:cs typeface="Courier New" pitchFamily="34" charset="-120"/>
              </a:rPr>
              <a:t>"Our team"</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t>
            </a:r>
            <a:endParaRPr lang="en-US" sz="1300" dirty="0"/>
          </a:p>
        </p:txBody>
      </p:sp>
      <p:sp>
        <p:nvSpPr>
          <p:cNvPr id="9" name="Text 7"/>
          <p:cNvSpPr/>
          <p:nvPr/>
        </p:nvSpPr>
        <p:spPr>
          <a:xfrm>
            <a:off x="548640" y="4754880"/>
            <a:ext cx="6400800" cy="274320"/>
          </a:xfrm>
          <a:prstGeom prst="rect">
            <a:avLst/>
          </a:prstGeom>
          <a:noFill/>
          <a:ln/>
        </p:spPr>
        <p:txBody>
          <a:bodyPr wrap="square" lIns="0" tIns="0" rIns="0" bIns="0" rtlCol="0" anchor="ctr"/>
          <a:lstStyle/>
          <a:p>
            <a:pPr indent="0" marL="0">
              <a:buNone/>
            </a:pPr>
            <a:r>
              <a:rPr lang="en-US" sz="11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5074920"/>
            <a:ext cx="658368" cy="384048"/>
          </a:xfrm>
          <a:prstGeom prst="roundRect">
            <a:avLst>
              <a:gd name="adj" fmla="val 50000"/>
            </a:avLst>
          </a:prstGeom>
          <a:solidFill>
            <a:srgbClr val="E7E8D1"/>
          </a:solidFill>
          <a:ln w="12700">
            <a:solidFill>
              <a:srgbClr val="A7BEAE"/>
            </a:solidFill>
            <a:prstDash val="solid"/>
          </a:ln>
        </p:spPr>
      </p:sp>
      <p:sp>
        <p:nvSpPr>
          <p:cNvPr id="11" name="Text 9"/>
          <p:cNvSpPr/>
          <p:nvPr/>
        </p:nvSpPr>
        <p:spPr>
          <a:xfrm>
            <a:off x="548640" y="5074920"/>
            <a:ext cx="658368"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href</a:t>
            </a:r>
            <a:endParaRPr lang="en-US" sz="1200" dirty="0"/>
          </a:p>
        </p:txBody>
      </p:sp>
      <p:sp>
        <p:nvSpPr>
          <p:cNvPr id="12" name="Shape 10"/>
          <p:cNvSpPr/>
          <p:nvPr/>
        </p:nvSpPr>
        <p:spPr>
          <a:xfrm>
            <a:off x="1353312" y="5074920"/>
            <a:ext cx="557784" cy="384048"/>
          </a:xfrm>
          <a:prstGeom prst="roundRect">
            <a:avLst>
              <a:gd name="adj" fmla="val 50000"/>
            </a:avLst>
          </a:prstGeom>
          <a:solidFill>
            <a:srgbClr val="E7E8D1"/>
          </a:solidFill>
          <a:ln w="12700">
            <a:solidFill>
              <a:srgbClr val="A7BEAE"/>
            </a:solidFill>
            <a:prstDash val="solid"/>
          </a:ln>
        </p:spPr>
      </p:sp>
      <p:sp>
        <p:nvSpPr>
          <p:cNvPr id="13" name="Text 11"/>
          <p:cNvSpPr/>
          <p:nvPr/>
        </p:nvSpPr>
        <p:spPr>
          <a:xfrm>
            <a:off x="1353312" y="5074920"/>
            <a:ext cx="557784"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src</a:t>
            </a:r>
            <a:endParaRPr lang="en-US" sz="1200" dirty="0"/>
          </a:p>
        </p:txBody>
      </p:sp>
      <p:sp>
        <p:nvSpPr>
          <p:cNvPr id="14" name="Shape 12"/>
          <p:cNvSpPr/>
          <p:nvPr/>
        </p:nvSpPr>
        <p:spPr>
          <a:xfrm>
            <a:off x="2057400" y="5074920"/>
            <a:ext cx="557784" cy="384048"/>
          </a:xfrm>
          <a:prstGeom prst="roundRect">
            <a:avLst>
              <a:gd name="adj" fmla="val 50000"/>
            </a:avLst>
          </a:prstGeom>
          <a:solidFill>
            <a:srgbClr val="E7E8D1"/>
          </a:solidFill>
          <a:ln w="12700">
            <a:solidFill>
              <a:srgbClr val="A7BEAE"/>
            </a:solidFill>
            <a:prstDash val="solid"/>
          </a:ln>
        </p:spPr>
      </p:sp>
      <p:sp>
        <p:nvSpPr>
          <p:cNvPr id="15" name="Text 13"/>
          <p:cNvSpPr/>
          <p:nvPr/>
        </p:nvSpPr>
        <p:spPr>
          <a:xfrm>
            <a:off x="2057400" y="5074920"/>
            <a:ext cx="557784"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alt</a:t>
            </a:r>
            <a:endParaRPr lang="en-US" sz="1200" dirty="0"/>
          </a:p>
        </p:txBody>
      </p:sp>
      <p:sp>
        <p:nvSpPr>
          <p:cNvPr id="16" name="Text 14"/>
          <p:cNvSpPr/>
          <p:nvPr/>
        </p:nvSpPr>
        <p:spPr>
          <a:xfrm>
            <a:off x="7452360" y="2103120"/>
            <a:ext cx="4206240" cy="2286000"/>
          </a:xfrm>
          <a:prstGeom prst="rect">
            <a:avLst/>
          </a:prstGeom>
          <a:noFill/>
          <a:ln/>
        </p:spPr>
        <p:txBody>
          <a:bodyPr wrap="square" lIns="0" tIns="0" rIns="0" bIns="0" rtlCol="0" anchor="ctr"/>
          <a:lstStyle/>
          <a:p>
            <a:pPr indent="0" marL="0">
              <a:buNone/>
            </a:pPr>
            <a:r>
              <a:rPr lang="en-US" sz="1350" i="1" dirty="0">
                <a:solidFill>
                  <a:srgbClr val="555555"/>
                </a:solidFill>
                <a:latin typeface="Calibri" pitchFamily="34" charset="0"/>
                <a:ea typeface="Calibri" pitchFamily="34" charset="-122"/>
                <a:cs typeface="Calibri" pitchFamily="34" charset="-120"/>
              </a:rPr>
              <a:t>alt text describes the image for people using screen readers — always include it!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PRACTICE 3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Build a List of Programs</a:t>
            </a:r>
            <a:endParaRPr lang="en-US" sz="2700" dirty="0"/>
          </a:p>
        </p:txBody>
      </p:sp>
      <p:sp>
        <p:nvSpPr>
          <p:cNvPr id="4" name="Shape 2"/>
          <p:cNvSpPr/>
          <p:nvPr/>
        </p:nvSpPr>
        <p:spPr>
          <a:xfrm>
            <a:off x="548640" y="1828800"/>
            <a:ext cx="6675120" cy="3017520"/>
          </a:xfrm>
          <a:prstGeom prst="roundRect">
            <a:avLst>
              <a:gd name="adj" fmla="val 3030"/>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2423160"/>
          </a:xfrm>
          <a:prstGeom prst="rect">
            <a:avLst/>
          </a:prstGeom>
          <a:noFill/>
          <a:ln/>
        </p:spPr>
        <p:txBody>
          <a:bodyPr wrap="square" lIns="0" tIns="0" rIns="0" bIns="0" rtlCol="0" anchor="ctr"/>
          <a:lstStyle/>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t>
            </a:r>
            <a:endParaRPr lang="en-US" sz="1300" dirty="0"/>
          </a:p>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  &lt;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&gt;Scholarships&lt;/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&lt;li&gt;Bible Study&lt;/li&gt;</a:t>
            </a:r>
            <a:endParaRPr lang="en-US" sz="1300" dirty="0"/>
          </a:p>
          <a:p>
            <a:pPr indent="0" marL="0">
              <a:lnSpc>
                <a:spcPct val="122000"/>
              </a:lnSpc>
              <a:buNone/>
            </a:pPr>
            <a:r>
              <a:rPr lang="en-US" sz="1300" dirty="0">
                <a:solidFill>
                  <a:srgbClr val="E7E8D1"/>
                </a:solidFill>
                <a:latin typeface="Courier New" pitchFamily="34" charset="0"/>
                <a:ea typeface="Courier New" pitchFamily="34" charset="-122"/>
                <a:cs typeface="Courier New" pitchFamily="34" charset="-120"/>
              </a:rPr>
              <a:t>  &lt;li&gt;Community Center&lt;/li&gt;</a:t>
            </a:r>
            <a:endParaRPr lang="en-US" sz="1300" dirty="0"/>
          </a:p>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&lt;/ul&gt;</a:t>
            </a:r>
            <a:endParaRPr lang="en-US" sz="1300" dirty="0"/>
          </a:p>
        </p:txBody>
      </p:sp>
      <p:sp>
        <p:nvSpPr>
          <p:cNvPr id="9" name="Text 7"/>
          <p:cNvSpPr/>
          <p:nvPr/>
        </p:nvSpPr>
        <p:spPr>
          <a:xfrm>
            <a:off x="548640" y="5029200"/>
            <a:ext cx="6400800" cy="274320"/>
          </a:xfrm>
          <a:prstGeom prst="rect">
            <a:avLst/>
          </a:prstGeom>
          <a:noFill/>
          <a:ln/>
        </p:spPr>
        <p:txBody>
          <a:bodyPr wrap="square" lIns="0" tIns="0" rIns="0" bIns="0" rtlCol="0" anchor="ctr"/>
          <a:lstStyle/>
          <a:p>
            <a:pPr indent="0" marL="0">
              <a:buNone/>
            </a:pPr>
            <a:r>
              <a:rPr lang="en-US" sz="11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5349240"/>
            <a:ext cx="457200" cy="384048"/>
          </a:xfrm>
          <a:prstGeom prst="roundRect">
            <a:avLst>
              <a:gd name="adj" fmla="val 50000"/>
            </a:avLst>
          </a:prstGeom>
          <a:solidFill>
            <a:srgbClr val="E7E8D1"/>
          </a:solidFill>
          <a:ln w="12700">
            <a:solidFill>
              <a:srgbClr val="A7BEAE"/>
            </a:solidFill>
            <a:prstDash val="solid"/>
          </a:ln>
        </p:spPr>
      </p:sp>
      <p:sp>
        <p:nvSpPr>
          <p:cNvPr id="11" name="Text 9"/>
          <p:cNvSpPr/>
          <p:nvPr/>
        </p:nvSpPr>
        <p:spPr>
          <a:xfrm>
            <a:off x="548640" y="5349240"/>
            <a:ext cx="457200"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ul</a:t>
            </a:r>
            <a:endParaRPr lang="en-US" sz="1200" dirty="0"/>
          </a:p>
        </p:txBody>
      </p:sp>
      <p:sp>
        <p:nvSpPr>
          <p:cNvPr id="12" name="Shape 10"/>
          <p:cNvSpPr/>
          <p:nvPr/>
        </p:nvSpPr>
        <p:spPr>
          <a:xfrm>
            <a:off x="1152144" y="5349240"/>
            <a:ext cx="457200" cy="384048"/>
          </a:xfrm>
          <a:prstGeom prst="roundRect">
            <a:avLst>
              <a:gd name="adj" fmla="val 50000"/>
            </a:avLst>
          </a:prstGeom>
          <a:solidFill>
            <a:srgbClr val="E7E8D1"/>
          </a:solidFill>
          <a:ln w="12700">
            <a:solidFill>
              <a:srgbClr val="A7BEAE"/>
            </a:solidFill>
            <a:prstDash val="solid"/>
          </a:ln>
        </p:spPr>
      </p:sp>
      <p:sp>
        <p:nvSpPr>
          <p:cNvPr id="13" name="Text 11"/>
          <p:cNvSpPr/>
          <p:nvPr/>
        </p:nvSpPr>
        <p:spPr>
          <a:xfrm>
            <a:off x="1152144" y="5349240"/>
            <a:ext cx="457200"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li</a:t>
            </a:r>
            <a:endParaRPr lang="en-US" sz="1200" dirty="0"/>
          </a:p>
        </p:txBody>
      </p:sp>
      <p:sp>
        <p:nvSpPr>
          <p:cNvPr id="14" name="Shape 12"/>
          <p:cNvSpPr/>
          <p:nvPr/>
        </p:nvSpPr>
        <p:spPr>
          <a:xfrm>
            <a:off x="1755648" y="5349240"/>
            <a:ext cx="457200" cy="384048"/>
          </a:xfrm>
          <a:prstGeom prst="roundRect">
            <a:avLst>
              <a:gd name="adj" fmla="val 50000"/>
            </a:avLst>
          </a:prstGeom>
          <a:solidFill>
            <a:srgbClr val="E7E8D1"/>
          </a:solidFill>
          <a:ln w="12700">
            <a:solidFill>
              <a:srgbClr val="A7BEAE"/>
            </a:solidFill>
            <a:prstDash val="solid"/>
          </a:ln>
        </p:spPr>
      </p:sp>
      <p:sp>
        <p:nvSpPr>
          <p:cNvPr id="15" name="Text 13"/>
          <p:cNvSpPr/>
          <p:nvPr/>
        </p:nvSpPr>
        <p:spPr>
          <a:xfrm>
            <a:off x="1755648" y="5349240"/>
            <a:ext cx="457200"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li</a:t>
            </a:r>
            <a:endParaRPr lang="en-US" sz="1200" dirty="0"/>
          </a:p>
        </p:txBody>
      </p:sp>
      <p:sp>
        <p:nvSpPr>
          <p:cNvPr id="16" name="Text 14"/>
          <p:cNvSpPr/>
          <p:nvPr/>
        </p:nvSpPr>
        <p:spPr>
          <a:xfrm>
            <a:off x="7452360" y="2103120"/>
            <a:ext cx="4206240" cy="2286000"/>
          </a:xfrm>
          <a:prstGeom prst="rect">
            <a:avLst/>
          </a:prstGeom>
          <a:noFill/>
          <a:ln/>
        </p:spPr>
        <p:txBody>
          <a:bodyPr wrap="square" lIns="0" tIns="0" rIns="0" bIns="0" rtlCol="0" anchor="ctr"/>
          <a:lstStyle/>
          <a:p>
            <a:pPr indent="0" marL="0">
              <a:buNone/>
            </a:pPr>
            <a:r>
              <a:rPr lang="en-US" sz="1350" i="1" dirty="0">
                <a:solidFill>
                  <a:srgbClr val="555555"/>
                </a:solidFill>
                <a:latin typeface="Calibri" pitchFamily="34" charset="0"/>
                <a:ea typeface="Calibri" pitchFamily="34" charset="-122"/>
                <a:cs typeface="Calibri" pitchFamily="34" charset="-120"/>
              </a:rPr>
              <a:t>This is the same pattern you'll use for PAF/CGF's Programs page later this week.</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300" b="1" spc="100" kern="0" dirty="0">
                <a:solidFill>
                  <a:srgbClr val="B85042"/>
                </a:solidFill>
                <a:latin typeface="Calibri" pitchFamily="34" charset="0"/>
                <a:ea typeface="Calibri" pitchFamily="34" charset="-122"/>
                <a:cs typeface="Calibri" pitchFamily="34" charset="-120"/>
              </a:rPr>
              <a:t>PRACTICE 4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2700" b="1" dirty="0">
                <a:solidFill>
                  <a:srgbClr val="2D2D2D"/>
                </a:solidFill>
                <a:latin typeface="Cambria" pitchFamily="34" charset="0"/>
                <a:ea typeface="Cambria" pitchFamily="34" charset="-122"/>
                <a:cs typeface="Cambria" pitchFamily="34" charset="-120"/>
              </a:rPr>
              <a:t>Build a Simple Form</a:t>
            </a:r>
            <a:endParaRPr lang="en-US" sz="2700" dirty="0"/>
          </a:p>
        </p:txBody>
      </p:sp>
      <p:sp>
        <p:nvSpPr>
          <p:cNvPr id="4" name="Shape 2"/>
          <p:cNvSpPr/>
          <p:nvPr/>
        </p:nvSpPr>
        <p:spPr>
          <a:xfrm>
            <a:off x="548640" y="1828800"/>
            <a:ext cx="6675120" cy="3017520"/>
          </a:xfrm>
          <a:prstGeom prst="roundRect">
            <a:avLst>
              <a:gd name="adj" fmla="val 3030"/>
            </a:avLst>
          </a:prstGeom>
          <a:solidFill>
            <a:srgbClr val="2D2321"/>
          </a:solidFill>
          <a:ln/>
        </p:spPr>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2423160"/>
          </a:xfrm>
          <a:prstGeom prst="rect">
            <a:avLst/>
          </a:prstGeom>
          <a:noFill/>
          <a:ln/>
        </p:spPr>
        <p:txBody>
          <a:bodyPr wrap="square" lIns="0" tIns="0" rIns="0" bIns="0" rtlCol="0" anchor="ctr"/>
          <a:lstStyle/>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t>
            </a:r>
            <a:endParaRPr lang="en-US" sz="1300" dirty="0"/>
          </a:p>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  &lt;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 </a:t>
            </a:r>
            <a:pPr indent="0" marL="0">
              <a:lnSpc>
                <a:spcPct val="122000"/>
              </a:lnSpc>
              <a:buNone/>
            </a:pPr>
            <a:r>
              <a:rPr lang="en-US" sz="1300" dirty="0">
                <a:solidFill>
                  <a:srgbClr val="D98C6B"/>
                </a:solidFill>
                <a:latin typeface="Courier New" pitchFamily="34" charset="0"/>
                <a:ea typeface="Courier New" pitchFamily="34" charset="-122"/>
                <a:cs typeface="Courier New" pitchFamily="34" charset="-120"/>
              </a:rPr>
              <a:t>placeholder</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a:t>
            </a:r>
            <a:pPr indent="0" marL="0">
              <a:lnSpc>
                <a:spcPct val="122000"/>
              </a:lnSpc>
              <a:buNone/>
            </a:pPr>
            <a:r>
              <a:rPr lang="en-US" sz="1300" dirty="0">
                <a:solidFill>
                  <a:srgbClr val="D98C6B"/>
                </a:solidFill>
                <a:latin typeface="Courier New" pitchFamily="34" charset="0"/>
                <a:ea typeface="Courier New" pitchFamily="34" charset="-122"/>
                <a:cs typeface="Courier New" pitchFamily="34" charset="-120"/>
              </a:rPr>
              <a:t>"Your name"</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t>
            </a:r>
            <a:endParaRPr lang="en-US" sz="1300" dirty="0"/>
          </a:p>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  &lt;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&gt;Submit&lt;/</a:t>
            </a:r>
            <a:pPr indent="0" marL="0">
              <a:lnSpc>
                <a:spcPct val="122000"/>
              </a:lnSpc>
              <a:buNone/>
            </a:pPr>
            <a:r>
              <a:rPr lang="en-US" sz="13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&gt;</a:t>
            </a:r>
            <a:endParaRPr lang="en-US" sz="1300" dirty="0"/>
          </a:p>
          <a:p>
            <a:pPr indent="0" marL="0">
              <a:lnSpc>
                <a:spcPct val="122000"/>
              </a:lnSpc>
              <a:buNone/>
            </a:pPr>
            <a:r>
              <a:rPr lang="en-US" sz="1300" dirty="0">
                <a:solidFill>
                  <a:srgbClr val="A7BEAE"/>
                </a:solidFill>
                <a:latin typeface="Courier New" pitchFamily="34" charset="0"/>
                <a:ea typeface="Courier New" pitchFamily="34" charset="-122"/>
                <a:cs typeface="Courier New" pitchFamily="34" charset="-120"/>
              </a:rPr>
              <a:t>&lt;/form&gt;</a:t>
            </a:r>
            <a:endParaRPr lang="en-US" sz="1300" dirty="0"/>
          </a:p>
        </p:txBody>
      </p:sp>
      <p:sp>
        <p:nvSpPr>
          <p:cNvPr id="9" name="Text 7"/>
          <p:cNvSpPr/>
          <p:nvPr/>
        </p:nvSpPr>
        <p:spPr>
          <a:xfrm>
            <a:off x="548640" y="5029200"/>
            <a:ext cx="6400800" cy="274320"/>
          </a:xfrm>
          <a:prstGeom prst="rect">
            <a:avLst/>
          </a:prstGeom>
          <a:noFill/>
          <a:ln/>
        </p:spPr>
        <p:txBody>
          <a:bodyPr wrap="square" lIns="0" tIns="0" rIns="0" bIns="0" rtlCol="0" anchor="ctr"/>
          <a:lstStyle/>
          <a:p>
            <a:pPr indent="0" marL="0">
              <a:buNone/>
            </a:pPr>
            <a:r>
              <a:rPr lang="en-US" sz="11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5349240"/>
            <a:ext cx="658368" cy="384048"/>
          </a:xfrm>
          <a:prstGeom prst="roundRect">
            <a:avLst>
              <a:gd name="adj" fmla="val 50000"/>
            </a:avLst>
          </a:prstGeom>
          <a:solidFill>
            <a:srgbClr val="E7E8D1"/>
          </a:solidFill>
          <a:ln w="12700">
            <a:solidFill>
              <a:srgbClr val="A7BEAE"/>
            </a:solidFill>
            <a:prstDash val="solid"/>
          </a:ln>
        </p:spPr>
      </p:sp>
      <p:sp>
        <p:nvSpPr>
          <p:cNvPr id="11" name="Text 9"/>
          <p:cNvSpPr/>
          <p:nvPr/>
        </p:nvSpPr>
        <p:spPr>
          <a:xfrm>
            <a:off x="548640" y="5349240"/>
            <a:ext cx="658368"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form</a:t>
            </a:r>
            <a:endParaRPr lang="en-US" sz="1200" dirty="0"/>
          </a:p>
        </p:txBody>
      </p:sp>
      <p:sp>
        <p:nvSpPr>
          <p:cNvPr id="12" name="Shape 10"/>
          <p:cNvSpPr/>
          <p:nvPr/>
        </p:nvSpPr>
        <p:spPr>
          <a:xfrm>
            <a:off x="1353312" y="5349240"/>
            <a:ext cx="758952" cy="384048"/>
          </a:xfrm>
          <a:prstGeom prst="roundRect">
            <a:avLst>
              <a:gd name="adj" fmla="val 50000"/>
            </a:avLst>
          </a:prstGeom>
          <a:solidFill>
            <a:srgbClr val="E7E8D1"/>
          </a:solidFill>
          <a:ln w="12700">
            <a:solidFill>
              <a:srgbClr val="A7BEAE"/>
            </a:solidFill>
            <a:prstDash val="solid"/>
          </a:ln>
        </p:spPr>
      </p:sp>
      <p:sp>
        <p:nvSpPr>
          <p:cNvPr id="13" name="Text 11"/>
          <p:cNvSpPr/>
          <p:nvPr/>
        </p:nvSpPr>
        <p:spPr>
          <a:xfrm>
            <a:off x="1353312" y="5349240"/>
            <a:ext cx="758952"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input</a:t>
            </a:r>
            <a:endParaRPr lang="en-US" sz="1200" dirty="0"/>
          </a:p>
        </p:txBody>
      </p:sp>
      <p:sp>
        <p:nvSpPr>
          <p:cNvPr id="14" name="Shape 12"/>
          <p:cNvSpPr/>
          <p:nvPr/>
        </p:nvSpPr>
        <p:spPr>
          <a:xfrm>
            <a:off x="2258568" y="5349240"/>
            <a:ext cx="859536" cy="384048"/>
          </a:xfrm>
          <a:prstGeom prst="roundRect">
            <a:avLst>
              <a:gd name="adj" fmla="val 50000"/>
            </a:avLst>
          </a:prstGeom>
          <a:solidFill>
            <a:srgbClr val="E7E8D1"/>
          </a:solidFill>
          <a:ln w="12700">
            <a:solidFill>
              <a:srgbClr val="A7BEAE"/>
            </a:solidFill>
            <a:prstDash val="solid"/>
          </a:ln>
        </p:spPr>
      </p:sp>
      <p:sp>
        <p:nvSpPr>
          <p:cNvPr id="15" name="Text 13"/>
          <p:cNvSpPr/>
          <p:nvPr/>
        </p:nvSpPr>
        <p:spPr>
          <a:xfrm>
            <a:off x="2258568" y="5349240"/>
            <a:ext cx="859536"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button</a:t>
            </a:r>
            <a:endParaRPr lang="en-US" sz="1200" dirty="0"/>
          </a:p>
        </p:txBody>
      </p:sp>
      <p:sp>
        <p:nvSpPr>
          <p:cNvPr id="16" name="Shape 14"/>
          <p:cNvSpPr/>
          <p:nvPr/>
        </p:nvSpPr>
        <p:spPr>
          <a:xfrm>
            <a:off x="3264408" y="5349240"/>
            <a:ext cx="859536" cy="384048"/>
          </a:xfrm>
          <a:prstGeom prst="roundRect">
            <a:avLst>
              <a:gd name="adj" fmla="val 50000"/>
            </a:avLst>
          </a:prstGeom>
          <a:solidFill>
            <a:srgbClr val="E7E8D1"/>
          </a:solidFill>
          <a:ln w="12700">
            <a:solidFill>
              <a:srgbClr val="A7BEAE"/>
            </a:solidFill>
            <a:prstDash val="solid"/>
          </a:ln>
        </p:spPr>
      </p:sp>
      <p:sp>
        <p:nvSpPr>
          <p:cNvPr id="17" name="Text 15"/>
          <p:cNvSpPr/>
          <p:nvPr/>
        </p:nvSpPr>
        <p:spPr>
          <a:xfrm>
            <a:off x="3264408" y="5349240"/>
            <a:ext cx="859536" cy="384048"/>
          </a:xfrm>
          <a:prstGeom prst="rect">
            <a:avLst/>
          </a:prstGeom>
          <a:noFill/>
          <a:ln/>
        </p:spPr>
        <p:txBody>
          <a:bodyPr wrap="square" lIns="0" tIns="0" rIns="0" bIns="0" rtlCol="0" anchor="ctr"/>
          <a:lstStyle/>
          <a:p>
            <a:pPr algn="ctr" indent="0" marL="0">
              <a:buNone/>
            </a:pPr>
            <a:r>
              <a:rPr lang="en-US" sz="1200" b="1" dirty="0">
                <a:solidFill>
                  <a:srgbClr val="3A2B26"/>
                </a:solidFill>
                <a:latin typeface="Courier New" pitchFamily="34" charset="0"/>
                <a:ea typeface="Courier New" pitchFamily="34" charset="-122"/>
                <a:cs typeface="Courier New" pitchFamily="34" charset="-120"/>
              </a:rPr>
              <a:t>button</a:t>
            </a:r>
            <a:endParaRPr lang="en-US" sz="1200" dirty="0"/>
          </a:p>
        </p:txBody>
      </p:sp>
      <p:sp>
        <p:nvSpPr>
          <p:cNvPr id="18" name="Text 16"/>
          <p:cNvSpPr/>
          <p:nvPr/>
        </p:nvSpPr>
        <p:spPr>
          <a:xfrm>
            <a:off x="7452360" y="2103120"/>
            <a:ext cx="4206240" cy="2286000"/>
          </a:xfrm>
          <a:prstGeom prst="rect">
            <a:avLst/>
          </a:prstGeom>
          <a:noFill/>
          <a:ln/>
        </p:spPr>
        <p:txBody>
          <a:bodyPr wrap="square" lIns="0" tIns="0" rIns="0" bIns="0" rtlCol="0" anchor="ctr"/>
          <a:lstStyle/>
          <a:p>
            <a:pPr indent="0" marL="0">
              <a:buNone/>
            </a:pPr>
            <a:r>
              <a:rPr lang="en-US" sz="1350" i="1" dirty="0">
                <a:solidFill>
                  <a:srgbClr val="555555"/>
                </a:solidFill>
                <a:latin typeface="Calibri" pitchFamily="34" charset="0"/>
                <a:ea typeface="Calibri" pitchFamily="34" charset="-122"/>
                <a:cs typeface="Calibri" pitchFamily="34" charset="-120"/>
              </a:rPr>
              <a:t>We'll make the Submit button actually do something on Day 4 with JavaScript.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FFFFFF">
              <a:alpha val="10000"/>
            </a:srgbClr>
          </a:solidFill>
          <a:ln/>
        </p:spPr>
      </p:sp>
      <p:sp>
        <p:nvSpPr>
          <p:cNvPr id="3" name="Text 1"/>
          <p:cNvSpPr/>
          <p:nvPr/>
        </p:nvSpPr>
        <p:spPr>
          <a:xfrm>
            <a:off x="548640" y="2651760"/>
            <a:ext cx="100584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Great work today!</a:t>
            </a:r>
            <a:endParaRPr lang="en-US" sz="3800" dirty="0"/>
          </a:p>
        </p:txBody>
      </p:sp>
      <p:sp>
        <p:nvSpPr>
          <p:cNvPr id="4" name="Text 2"/>
          <p:cNvSpPr/>
          <p:nvPr/>
        </p:nvSpPr>
        <p:spPr>
          <a:xfrm>
            <a:off x="548640" y="3657600"/>
            <a:ext cx="9601200" cy="548640"/>
          </a:xfrm>
          <a:prstGeom prst="rect">
            <a:avLst/>
          </a:prstGeom>
          <a:noFill/>
          <a:ln/>
        </p:spPr>
        <p:txBody>
          <a:bodyPr wrap="square" lIns="0" tIns="0" rIns="0" bIns="0" rtlCol="0" anchor="ctr"/>
          <a:lstStyle/>
          <a:p>
            <a:pPr indent="0" marL="0">
              <a:buNone/>
            </a:pPr>
            <a:r>
              <a:rPr lang="en-US" sz="1600" dirty="0">
                <a:solidFill>
                  <a:srgbClr val="E7E8D1"/>
                </a:solidFill>
                <a:latin typeface="Calibri" pitchFamily="34" charset="0"/>
                <a:ea typeface="Calibri" pitchFamily="34" charset="-122"/>
                <a:cs typeface="Calibri" pitchFamily="34" charset="-120"/>
              </a:rPr>
              <a:t>Tomorrow: turning this structure into a real layout with CSS.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2026-08-10T08:46:23Z</dcterms:created>
  <dcterms:modified xsi:type="dcterms:W3CDTF">2026-08-10T08:46:23Z</dcterms:modified>
</cp:coreProperties>
</file>