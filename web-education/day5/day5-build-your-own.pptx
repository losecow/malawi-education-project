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to our last session! Today is different - less me talking, more you building. First we learn one new idea: linking multiple pages together. Then I hand you a starter template, and the rest of the time is yours to build your own site and put it on the internet. | TIMING: 0-10 recap | 10-25 multi-page websites | 25-35 meet the template | 35-45 plan your site | 45-75 build time | 75-85 deploy with Netlify | 85-90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look back at the whole week. Day 1 gave us HTML structure. Day 2 and 3 gave us CSS layout and design. Day 4 gave us JavaScript interaction. Today we put all of it together into one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far every project has been one page. Real websites usually have several - Home, About, Contact. Each one is simply its own HTML file, sitting in the same folder, all sharing one style.css so they look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Linking to another page uses the exact same a tag we already know. The only difference is what goes in href. A hashtag jumps to a section on the same page. A file name like about.html opens a whole different page. The name has to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habits make a multi-page site feel professional. First, copy the exact same header, nav, and footer onto every page - that's what makes it feel like one site. Second, mark the current page's link as active in the nav, and style it differently, so visitors always know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Your template has 3 HTML pages - index, about, and contact - plus one shared style.css and one shared script.js. Everything is already styled and working. Your job is to replace the placeholder text and images with your own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touching any code, take 5 minutes to plan. Pick a topic - yourself, a hobby, a small idea. Then sketch what goes on each of your 3 pages, even just a few words per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Work through your build in this order. First swap in your own content on all 3 pages. Then double check every link still works. Then adjust the design if you want. Adding extra JavaScript is optional, only if you have time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the plan for today's 90 minutes. A little time on the concept, a little time to plan, most of the time to build, then deploy and present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let's put your site on the real internet. We'll use Netlify Drop - a free tool that needs no account and no git, just a drag and drop. Before you deploy, make sure all your files are together in one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steps. Go to app.netlify.com/drop. Drag your whole project folder into the browser window - not individual files, the whole folder. And within seconds, Netlify gives you a real, working link you can share with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important thing to know - your live site is like a snapshot. If you keep editing your files afterward, the live version won't change by itself. Just drag your folder in again, and Netlify updates the same link with your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you present, run through this checklist. All your content is your own, every link works, the design feels intentional, it works on mobile, and you have a live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When it's your turn to present, tell us what your site is about, click through your pages so we can see the navigation working, and share one thing you're proud of and one thing you'd add with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Congratulations! On Day 1 you had a blank skeleton page. Today you have a real, live, multi-page website that you built and deployed yourself. This is a huge achievement — well done, all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418320" y="-1097280"/>
            <a:ext cx="4114800" cy="4114800"/>
          </a:xfrm>
          <a:prstGeom prst="ellipse">
            <a:avLst/>
          </a:prstGeom>
          <a:solidFill>
            <a:srgbClr val="FFFFFF">
              <a:alpha val="10000"/>
            </a:srgbClr>
          </a:solidFill>
          <a:ln/>
        </p:spPr>
        <p:txBody>
          <a:bodyPr/>
          <a:p/>
        </p:txBody>
      </p:sp>
      <p:sp>
        <p:nvSpPr>
          <p:cNvPr id="3" name="Shape 1"/>
          <p:cNvSpPr/>
          <p:nvPr/>
        </p:nvSpPr>
        <p:spPr>
          <a:xfrm>
            <a:off x="548640" y="548640"/>
            <a:ext cx="1463040" cy="1463040"/>
          </a:xfrm>
          <a:prstGeom prst="ellipse">
            <a:avLst/>
          </a:prstGeom>
          <a:solidFill>
            <a:srgbClr val="FFFFFF">
              <a:alpha val="12000"/>
            </a:srgbClr>
          </a:solidFill>
          <a:ln/>
        </p:spPr>
        <p:txBody>
          <a:bodyPr/>
          <a:p/>
        </p:txBody>
      </p:sp>
      <p:sp>
        <p:nvSpPr>
          <p:cNvPr id="4" name="Text 2"/>
          <p:cNvSpPr/>
          <p:nvPr/>
        </p:nvSpPr>
        <p:spPr>
          <a:xfrm>
            <a:off x="548640" y="2286000"/>
            <a:ext cx="8229600" cy="365760"/>
          </a:xfrm>
          <a:prstGeom prst="rect">
            <a:avLst/>
          </a:prstGeom>
          <a:noFill/>
          <a:ln/>
        </p:spPr>
        <p:txBody>
          <a:bodyPr wrap="square" lIns="0" tIns="0" rIns="0" bIns="0" rtlCol="0" anchor="ctr"/>
          <a:lstStyle/>
          <a:p>
            <a:pPr indent="0" marL="0">
              <a:buNone/>
            </a:pPr>
            <a:r>
              <a:rPr lang="en-US" sz="1700" b="1" spc="100" kern="0" dirty="0">
                <a:solidFill>
                  <a:srgbClr val="E7E8D1"/>
                </a:solidFill>
                <a:latin typeface="Calibri" pitchFamily="34" charset="0"/>
                <a:ea typeface="Calibri" pitchFamily="34" charset="-122"/>
                <a:cs typeface="Calibri" pitchFamily="34" charset="-120"/>
              </a:rPr>
              <a:t>PAF &amp; CGF YOUTH PROGRAM  ·  WEBSITE BASICS</a:t>
            </a:r>
            <a:endParaRPr lang="en-US" sz="1300" dirty="0"/>
          </a:p>
        </p:txBody>
      </p:sp>
      <p:sp>
        <p:nvSpPr>
          <p:cNvPr id="5" name="Text 3"/>
          <p:cNvSpPr/>
          <p:nvPr/>
        </p:nvSpPr>
        <p:spPr>
          <a:xfrm>
            <a:off x="548640" y="2651760"/>
            <a:ext cx="3657600" cy="548640"/>
          </a:xfrm>
          <a:prstGeom prst="rect">
            <a:avLst/>
          </a:prstGeom>
          <a:noFill/>
          <a:ln/>
        </p:spPr>
        <p:txBody>
          <a:bodyPr wrap="square" lIns="0" tIns="0" rIns="0" bIns="0" rtlCol="0" anchor="ctr"/>
          <a:lstStyle/>
          <a:p>
            <a:pPr indent="0" marL="0">
              <a:buNone/>
            </a:pPr>
            <a:r>
              <a:rPr lang="en-US" sz="2300" b="1" dirty="0">
                <a:solidFill>
                  <a:srgbClr val="E7E8D1"/>
                </a:solidFill>
                <a:latin typeface="Cambria" pitchFamily="34" charset="0"/>
                <a:ea typeface="Cambria" pitchFamily="34" charset="-122"/>
                <a:cs typeface="Cambria" pitchFamily="34" charset="-120"/>
              </a:rPr>
              <a:t>DAY 5 · 90 MIN</a:t>
            </a:r>
            <a:endParaRPr lang="en-US" sz="2000" dirty="0"/>
          </a:p>
        </p:txBody>
      </p:sp>
      <p:sp>
        <p:nvSpPr>
          <p:cNvPr id="6" name="Text 4"/>
          <p:cNvSpPr/>
          <p:nvPr/>
        </p:nvSpPr>
        <p:spPr>
          <a:xfrm>
            <a:off x="548640" y="3108960"/>
            <a:ext cx="1051560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Build Your Own</a:t>
            </a:r>
            <a:endParaRPr lang="en-US" sz="4000" dirty="0"/>
          </a:p>
          <a:p>
            <a:pPr indent="0" marL="0">
              <a:buNone/>
            </a:pPr>
            <a:r>
              <a:rPr lang="en-US" sz="4200" b="1" dirty="0">
                <a:solidFill>
                  <a:srgbClr val="FFFFFF"/>
                </a:solidFill>
                <a:latin typeface="Cambria" pitchFamily="34" charset="0"/>
                <a:ea typeface="Cambria" pitchFamily="34" charset="-122"/>
                <a:cs typeface="Cambria" pitchFamily="34" charset="-120"/>
              </a:rPr>
              <a:t>Website</a:t>
            </a:r>
            <a:endParaRPr lang="en-US" sz="4000" dirty="0"/>
          </a:p>
        </p:txBody>
      </p:sp>
      <p:sp>
        <p:nvSpPr>
          <p:cNvPr id="7" name="Text 5"/>
          <p:cNvSpPr/>
          <p:nvPr/>
        </p:nvSpPr>
        <p:spPr>
          <a:xfrm>
            <a:off x="548640" y="4343400"/>
            <a:ext cx="9601200" cy="731520"/>
          </a:xfrm>
          <a:prstGeom prst="rect">
            <a:avLst/>
          </a:prstGeom>
          <a:noFill/>
          <a:ln/>
        </p:spPr>
        <p:txBody>
          <a:bodyPr wrap="square" lIns="0" tIns="0" rIns="0" bIns="0" rtlCol="0" anchor="ctr"/>
          <a:lstStyle/>
          <a:p>
            <a:pPr indent="0" marL="0">
              <a:buNone/>
            </a:pPr>
            <a:r>
              <a:rPr lang="en-US" sz="2000" dirty="0">
                <a:solidFill>
                  <a:srgbClr val="E7E8D1"/>
                </a:solidFill>
                <a:latin typeface="Calibri" pitchFamily="34" charset="0"/>
                <a:ea typeface="Calibri" pitchFamily="34" charset="-122"/>
                <a:cs typeface="Calibri" pitchFamily="34" charset="-120"/>
              </a:rPr>
              <a:t>Use everything from this week to plan, build, and launch a real website — with more than one page.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RECAP</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Everything You Know So Far</a:t>
            </a:r>
            <a:endParaRPr lang="en-US" sz="2700" dirty="0"/>
          </a:p>
        </p:txBody>
      </p:sp>
      <p:sp>
        <p:nvSpPr>
          <p:cNvPr id="4" name="Shape 2"/>
          <p:cNvSpPr/>
          <p:nvPr/>
        </p:nvSpPr>
        <p:spPr>
          <a:xfrm>
            <a:off x="548640" y="2011680"/>
            <a:ext cx="548640" cy="548640"/>
          </a:xfrm>
          <a:prstGeom prst="ellipse">
            <a:avLst/>
          </a:prstGeom>
          <a:solidFill>
            <a:srgbClr val="A7BEAE"/>
          </a:solidFill>
          <a:ln/>
        </p:spPr>
      </p:sp>
      <p:sp>
        <p:nvSpPr>
          <p:cNvPr id="5" name="Text 3"/>
          <p:cNvSpPr/>
          <p:nvPr/>
        </p:nvSpPr>
        <p:spPr>
          <a:xfrm>
            <a:off x="548640"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H</a:t>
            </a:r>
            <a:endParaRPr lang="en-US" sz="1800" dirty="0"/>
          </a:p>
        </p:txBody>
      </p:sp>
      <p:sp>
        <p:nvSpPr>
          <p:cNvPr id="6" name="Text 4"/>
          <p:cNvSpPr/>
          <p:nvPr/>
        </p:nvSpPr>
        <p:spPr>
          <a:xfrm>
            <a:off x="1280160" y="196596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HTML — structure</a:t>
            </a:r>
            <a:endParaRPr lang="en-US" sz="1500" dirty="0"/>
          </a:p>
        </p:txBody>
      </p:sp>
      <p:sp>
        <p:nvSpPr>
          <p:cNvPr id="7" name="Text 5"/>
          <p:cNvSpPr/>
          <p:nvPr/>
        </p:nvSpPr>
        <p:spPr>
          <a:xfrm>
            <a:off x="1280160" y="230428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Tags for headings, text, links, images, lists, forms.</a:t>
            </a:r>
            <a:endParaRPr lang="en-US" sz="1200" dirty="0"/>
          </a:p>
        </p:txBody>
      </p:sp>
      <p:sp>
        <p:nvSpPr>
          <p:cNvPr id="8" name="Shape 6"/>
          <p:cNvSpPr/>
          <p:nvPr/>
        </p:nvSpPr>
        <p:spPr>
          <a:xfrm>
            <a:off x="548640" y="3063240"/>
            <a:ext cx="548640" cy="548640"/>
          </a:xfrm>
          <a:prstGeom prst="ellipse">
            <a:avLst/>
          </a:prstGeom>
          <a:solidFill>
            <a:srgbClr val="A7BEAE"/>
          </a:solidFill>
          <a:ln/>
        </p:spPr>
      </p:sp>
      <p:sp>
        <p:nvSpPr>
          <p:cNvPr id="9" name="Text 7"/>
          <p:cNvSpPr/>
          <p:nvPr/>
        </p:nvSpPr>
        <p:spPr>
          <a:xfrm>
            <a:off x="548640" y="306324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C</a:t>
            </a:r>
            <a:endParaRPr lang="en-US" sz="1800" dirty="0"/>
          </a:p>
        </p:txBody>
      </p:sp>
      <p:sp>
        <p:nvSpPr>
          <p:cNvPr id="10" name="Text 8"/>
          <p:cNvSpPr/>
          <p:nvPr/>
        </p:nvSpPr>
        <p:spPr>
          <a:xfrm>
            <a:off x="1280160" y="301752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CSS — layout &amp; design</a:t>
            </a:r>
            <a:endParaRPr lang="en-US" sz="1500" dirty="0"/>
          </a:p>
        </p:txBody>
      </p:sp>
      <p:sp>
        <p:nvSpPr>
          <p:cNvPr id="11" name="Text 9"/>
          <p:cNvSpPr/>
          <p:nvPr/>
        </p:nvSpPr>
        <p:spPr>
          <a:xfrm>
            <a:off x="1280160" y="335584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Flexbox, Grid, color, fonts, spacing, responsive design, hover.</a:t>
            </a:r>
            <a:endParaRPr lang="en-US" sz="1200" dirty="0"/>
          </a:p>
        </p:txBody>
      </p:sp>
      <p:sp>
        <p:nvSpPr>
          <p:cNvPr id="12" name="Shape 10"/>
          <p:cNvSpPr/>
          <p:nvPr/>
        </p:nvSpPr>
        <p:spPr>
          <a:xfrm>
            <a:off x="548640" y="4114800"/>
            <a:ext cx="548640" cy="548640"/>
          </a:xfrm>
          <a:prstGeom prst="ellipse">
            <a:avLst/>
          </a:prstGeom>
          <a:solidFill>
            <a:srgbClr val="A7BEAE"/>
          </a:solidFill>
          <a:ln/>
        </p:spPr>
      </p:sp>
      <p:sp>
        <p:nvSpPr>
          <p:cNvPr id="13" name="Text 11"/>
          <p:cNvSpPr/>
          <p:nvPr/>
        </p:nvSpPr>
        <p:spPr>
          <a:xfrm>
            <a:off x="548640" y="411480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J</a:t>
            </a:r>
            <a:endParaRPr lang="en-US" sz="1800" dirty="0"/>
          </a:p>
        </p:txBody>
      </p:sp>
      <p:sp>
        <p:nvSpPr>
          <p:cNvPr id="14" name="Text 12"/>
          <p:cNvSpPr/>
          <p:nvPr/>
        </p:nvSpPr>
        <p:spPr>
          <a:xfrm>
            <a:off x="1280160" y="406908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JS — interaction</a:t>
            </a:r>
            <a:endParaRPr lang="en-US" sz="1500" dirty="0"/>
          </a:p>
        </p:txBody>
      </p:sp>
      <p:sp>
        <p:nvSpPr>
          <p:cNvPr id="15" name="Text 13"/>
          <p:cNvSpPr/>
          <p:nvPr/>
        </p:nvSpPr>
        <p:spPr>
          <a:xfrm>
            <a:off x="1280160" y="440740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Selecting elements, events, classList, scroll.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NEW 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Why Do Real Websites Have Multiple Pages?</a:t>
            </a:r>
            <a:endParaRPr lang="en-US" sz="2700" dirty="0"/>
          </a:p>
        </p:txBody>
      </p:sp>
      <p:sp>
        <p:nvSpPr>
          <p:cNvPr id="4" name="Shape 2"/>
          <p:cNvSpPr/>
          <p:nvPr/>
        </p:nvSpPr>
        <p:spPr>
          <a:xfrm>
            <a:off x="548640" y="1828800"/>
            <a:ext cx="5303520" cy="4023360"/>
          </a:xfrm>
          <a:prstGeom prst="roundRect">
            <a:avLst>
              <a:gd name="adj" fmla="val 2273"/>
            </a:avLst>
          </a:prstGeom>
          <a:solidFill>
            <a:srgbClr val="E7E8D1"/>
          </a:solidFill>
          <a:ln/>
        </p:spPr>
        <p:txBody>
          <a:bodyPr/>
          <a:p/>
        </p:txBody>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One page gets crowded</a:t>
            </a:r>
            <a:endParaRPr lang="en-US" sz="1500" dirty="0"/>
          </a:p>
        </p:txBody>
      </p:sp>
      <p:sp>
        <p:nvSpPr>
          <p:cNvPr id="6" name="Text 4"/>
          <p:cNvSpPr/>
          <p:nvPr/>
        </p:nvSpPr>
        <p:spPr>
          <a:xfrm>
            <a:off x="822960" y="2450592"/>
            <a:ext cx="4754880" cy="3200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Home, About, Programs, Contact — that's a lot for one page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Visitors want to jump straight to what they need</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Separate pages keep each topic focused and easy to find</a:t>
            </a:r>
            <a:endParaRPr lang="en-US" sz="1200" dirty="0"/>
          </a:p>
        </p:txBody>
      </p:sp>
      <p:sp>
        <p:nvSpPr>
          <p:cNvPr id="7" name="Shape 5"/>
          <p:cNvSpPr/>
          <p:nvPr/>
        </p:nvSpPr>
        <p:spPr>
          <a:xfrm>
            <a:off x="6126480" y="1828800"/>
            <a:ext cx="5486400" cy="4023360"/>
          </a:xfrm>
          <a:prstGeom prst="roundRect">
            <a:avLst>
              <a:gd name="adj" fmla="val 2273"/>
            </a:avLst>
          </a:prstGeom>
          <a:solidFill>
            <a:srgbClr val="F4EFE7"/>
          </a:solidFill>
          <a:ln/>
        </p:spPr>
        <p:txBody>
          <a:bodyPr/>
          <a:p/>
        </p:txBody>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It's simpler than it sounds</a:t>
            </a:r>
            <a:endParaRPr lang="en-US" sz="1500" dirty="0"/>
          </a:p>
        </p:txBody>
      </p:sp>
      <p:sp>
        <p:nvSpPr>
          <p:cNvPr id="9" name="Text 7"/>
          <p:cNvSpPr/>
          <p:nvPr/>
        </p:nvSpPr>
        <p:spPr>
          <a:xfrm>
            <a:off x="6400800" y="2450592"/>
            <a:ext cx="4937760" cy="3200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Each page is just its own .html file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index.html, about.html, contact.html — all in the same folder</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They share the same style.css, so they all look the same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NEW 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Linking to Another Page</a:t>
            </a:r>
            <a:endParaRPr lang="en-US" sz="2700" dirty="0"/>
          </a:p>
        </p:txBody>
      </p:sp>
      <p:sp>
        <p:nvSpPr>
          <p:cNvPr id="4" name="Shape 2"/>
          <p:cNvSpPr/>
          <p:nvPr/>
        </p:nvSpPr>
        <p:spPr>
          <a:xfrm>
            <a:off x="548640" y="1828800"/>
            <a:ext cx="5577840" cy="2103120"/>
          </a:xfrm>
          <a:prstGeom prst="roundRect">
            <a:avLst>
              <a:gd name="adj" fmla="val 4348"/>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1508760"/>
          </a:xfrm>
          <a:prstGeom prst="rect">
            <a:avLst/>
          </a:prstGeom>
          <a:noFill/>
          <a:ln/>
        </p:spPr>
        <p:txBody>
          <a:bodyPr wrap="square" lIns="0" tIns="0" rIns="0" bIns="0" rtlCol="0" anchor="ctr"/>
          <a:lstStyle/>
          <a:p>
            <a:pPr indent="0" marL="0">
              <a:lnSpc>
                <a:spcPct val="122000"/>
              </a:lnSpc>
              <a:buNone/>
            </a:pPr>
            <a:r>
              <a:rPr lang="en-US" sz="1400" dirty="0">
                <a:solidFill>
                  <a:srgbClr val="A7BEAE"/>
                </a:solidFill>
                <a:latin typeface="Courier New" pitchFamily="34" charset="0"/>
                <a:ea typeface="Courier New" pitchFamily="34" charset="-122"/>
                <a:cs typeface="Courier New" pitchFamily="34" charset="-120"/>
              </a:rPr>
              <a:t>&lt;a href=</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"about.html"</a:t>
            </a:r>
            <a:pPr indent="0" marL="0">
              <a:lnSpc>
                <a:spcPct val="122000"/>
              </a:lnSpc>
              <a:buNone/>
            </a:pPr>
            <a:r>
              <a:rPr lang="en-US" sz="1400" dirty="0">
                <a:solidFill>
                  <a:srgbClr val="A7BEAE"/>
                </a:solidFill>
                <a:latin typeface="Courier New" pitchFamily="34" charset="0"/>
                <a:ea typeface="Courier New" pitchFamily="34" charset="-122"/>
                <a:cs typeface="Courier New" pitchFamily="34" charset="-120"/>
              </a:rPr>
              <a:t>&gt;About&lt;/a&gt;</a:t>
            </a:r>
            <a:endParaRPr lang="en-US" sz="1200" dirty="0"/>
          </a:p>
        </p:txBody>
      </p:sp>
      <p:sp>
        <p:nvSpPr>
          <p:cNvPr id="9" name="Shape 7"/>
          <p:cNvSpPr/>
          <p:nvPr/>
        </p:nvSpPr>
        <p:spPr>
          <a:xfrm>
            <a:off x="6355080" y="1828800"/>
            <a:ext cx="5257800" cy="3840480"/>
          </a:xfrm>
          <a:prstGeom prst="roundRect">
            <a:avLst>
              <a:gd name="adj" fmla="val 2381"/>
            </a:avLst>
          </a:prstGeom>
          <a:solidFill>
            <a:srgbClr val="E7E8D1"/>
          </a:solidFill>
          <a:ln/>
        </p:spPr>
        <p:txBody>
          <a:bodyPr/>
          <a:p/>
        </p:txBody>
      </p:sp>
      <p:sp>
        <p:nvSpPr>
          <p:cNvPr id="10" name="Text 8"/>
          <p:cNvSpPr/>
          <p:nvPr/>
        </p:nvSpPr>
        <p:spPr>
          <a:xfrm>
            <a:off x="6629400" y="2029968"/>
            <a:ext cx="47091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Same idea as before, new destination</a:t>
            </a:r>
            <a:endParaRPr lang="en-US" sz="1500" dirty="0"/>
          </a:p>
        </p:txBody>
      </p:sp>
      <p:sp>
        <p:nvSpPr>
          <p:cNvPr id="11" name="Text 9"/>
          <p:cNvSpPr/>
          <p:nvPr/>
        </p:nvSpPr>
        <p:spPr>
          <a:xfrm>
            <a:off x="6629400" y="2450592"/>
            <a:ext cx="4709160" cy="301752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href="#about" jumps to a SECTION on the same page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href="about.html" opens a whole DIFFERENT page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 file name must match exactly, including .html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NEW 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Keeping Every Page Consistent</a:t>
            </a:r>
            <a:endParaRPr lang="en-US" sz="2700" dirty="0"/>
          </a:p>
        </p:txBody>
      </p:sp>
      <p:sp>
        <p:nvSpPr>
          <p:cNvPr id="4" name="Shape 2"/>
          <p:cNvSpPr/>
          <p:nvPr/>
        </p:nvSpPr>
        <p:spPr>
          <a:xfrm>
            <a:off x="548640" y="1828800"/>
            <a:ext cx="5303520" cy="4023360"/>
          </a:xfrm>
          <a:prstGeom prst="roundRect">
            <a:avLst>
              <a:gd name="adj" fmla="val 2273"/>
            </a:avLst>
          </a:prstGeom>
          <a:solidFill>
            <a:srgbClr val="E7E8D1"/>
          </a:solidFill>
          <a:ln/>
        </p:spPr>
        <p:txBody>
          <a:bodyPr/>
          <a:p/>
        </p:txBody>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Copy the header, nav, and footer</a:t>
            </a:r>
            <a:endParaRPr lang="en-US" sz="1500" dirty="0"/>
          </a:p>
        </p:txBody>
      </p:sp>
      <p:sp>
        <p:nvSpPr>
          <p:cNvPr id="6" name="Text 4"/>
          <p:cNvSpPr/>
          <p:nvPr/>
        </p:nvSpPr>
        <p:spPr>
          <a:xfrm>
            <a:off x="822960" y="2450592"/>
            <a:ext cx="4754880" cy="3200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Every page should have the exact same header and footer</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That's what makes it feel like ONE website, not three random pages</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Copy-paste them into each new .html file you create</a:t>
            </a:r>
            <a:endParaRPr lang="en-US" sz="1200" dirty="0"/>
          </a:p>
        </p:txBody>
      </p:sp>
      <p:sp>
        <p:nvSpPr>
          <p:cNvPr id="7" name="Shape 5"/>
          <p:cNvSpPr/>
          <p:nvPr/>
        </p:nvSpPr>
        <p:spPr>
          <a:xfrm>
            <a:off x="6126480" y="1828800"/>
            <a:ext cx="5486400" cy="4023360"/>
          </a:xfrm>
          <a:prstGeom prst="roundRect">
            <a:avLst>
              <a:gd name="adj" fmla="val 2273"/>
            </a:avLst>
          </a:prstGeom>
          <a:solidFill>
            <a:srgbClr val="F4EFE7"/>
          </a:solidFill>
          <a:ln/>
        </p:spPr>
        <p:txBody>
          <a:bodyPr/>
          <a:p/>
        </p:txBody>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Show people where they are</a:t>
            </a:r>
            <a:endParaRPr lang="en-US" sz="1500" dirty="0"/>
          </a:p>
        </p:txBody>
      </p:sp>
      <p:sp>
        <p:nvSpPr>
          <p:cNvPr id="9" name="Text 7"/>
          <p:cNvSpPr/>
          <p:nvPr/>
        </p:nvSpPr>
        <p:spPr>
          <a:xfrm>
            <a:off x="6400800" y="2450592"/>
            <a:ext cx="4937760" cy="3200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Give the current page's nav link a class="active"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Style .active in CSS — a different color or underline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Small detail, but it makes navigation feel professional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YOUR STARTER TEMPLATE</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3 Pages, Ready to Customize</a:t>
            </a:r>
            <a:endParaRPr lang="en-US" sz="2700" dirty="0"/>
          </a:p>
        </p:txBody>
      </p:sp>
      <p:sp>
        <p:nvSpPr>
          <p:cNvPr id="4" name="Shape 2"/>
          <p:cNvSpPr/>
          <p:nvPr/>
        </p:nvSpPr>
        <p:spPr>
          <a:xfrm>
            <a:off x="548640" y="1920240"/>
            <a:ext cx="3474720" cy="2011680"/>
          </a:xfrm>
          <a:prstGeom prst="roundRect">
            <a:avLst>
              <a:gd name="adj" fmla="val 4545"/>
            </a:avLst>
          </a:prstGeom>
          <a:solidFill>
            <a:srgbClr val="E7E8D1"/>
          </a:solidFill>
          <a:ln/>
        </p:spPr>
        <p:txBody>
          <a:bodyPr/>
          <a:p/>
        </p:txBody>
      </p:sp>
      <p:sp>
        <p:nvSpPr>
          <p:cNvPr id="5" name="Text 3"/>
          <p:cNvSpPr/>
          <p:nvPr/>
        </p:nvSpPr>
        <p:spPr>
          <a:xfrm>
            <a:off x="777240" y="2103120"/>
            <a:ext cx="3017520" cy="457200"/>
          </a:xfrm>
          <a:prstGeom prst="rect">
            <a:avLst/>
          </a:prstGeom>
          <a:noFill/>
          <a:ln/>
        </p:spPr>
        <p:txBody>
          <a:bodyPr wrap="square" lIns="0" tIns="0" rIns="0" bIns="0" rtlCol="0" anchor="ctr"/>
          <a:lstStyle/>
          <a:p>
            <a:pPr indent="0" marL="0">
              <a:buNone/>
            </a:pPr>
            <a:r>
              <a:rPr lang="en-US" sz="1800" b="1" dirty="0">
                <a:solidFill>
                  <a:srgbClr val="B85042"/>
                </a:solidFill>
                <a:latin typeface="Courier New" pitchFamily="34" charset="0"/>
                <a:ea typeface="Courier New" pitchFamily="34" charset="-122"/>
                <a:cs typeface="Courier New" pitchFamily="34" charset="-120"/>
              </a:rPr>
              <a:t>index.html</a:t>
            </a:r>
            <a:endParaRPr lang="en-US" sz="1600" dirty="0"/>
          </a:p>
        </p:txBody>
      </p:sp>
      <p:sp>
        <p:nvSpPr>
          <p:cNvPr id="6" name="Text 4"/>
          <p:cNvSpPr/>
          <p:nvPr/>
        </p:nvSpPr>
        <p:spPr>
          <a:xfrm>
            <a:off x="777240" y="2606040"/>
            <a:ext cx="3017520" cy="1188720"/>
          </a:xfrm>
          <a:prstGeom prst="rect">
            <a:avLst/>
          </a:prstGeom>
          <a:noFill/>
          <a:ln/>
        </p:spPr>
        <p:txBody>
          <a:bodyPr wrap="square" lIns="0" tIns="0" rIns="0" bIns="0" rtlCol="0" anchor="ctr"/>
          <a:lstStyle/>
          <a:p>
            <a:pPr indent="0" marL="0">
              <a:buNone/>
            </a:pPr>
            <a:r>
              <a:rPr lang="en-US" sz="1650" dirty="0">
                <a:solidFill>
                  <a:srgbClr val="3A2B26"/>
                </a:solidFill>
                <a:latin typeface="Calibri" pitchFamily="34" charset="0"/>
                <a:ea typeface="Calibri" pitchFamily="34" charset="-122"/>
                <a:cs typeface="Calibri" pitchFamily="34" charset="-120"/>
              </a:rPr>
              <a:t>Home page — hero section + intro</a:t>
            </a:r>
            <a:endParaRPr lang="en-US" sz="1250" dirty="0"/>
          </a:p>
        </p:txBody>
      </p:sp>
      <p:sp>
        <p:nvSpPr>
          <p:cNvPr id="7" name="Shape 5"/>
          <p:cNvSpPr/>
          <p:nvPr/>
        </p:nvSpPr>
        <p:spPr>
          <a:xfrm>
            <a:off x="4251960" y="1920240"/>
            <a:ext cx="3474720" cy="2011680"/>
          </a:xfrm>
          <a:prstGeom prst="roundRect">
            <a:avLst>
              <a:gd name="adj" fmla="val 4545"/>
            </a:avLst>
          </a:prstGeom>
          <a:solidFill>
            <a:srgbClr val="F4EFE7"/>
          </a:solidFill>
          <a:ln/>
        </p:spPr>
        <p:txBody>
          <a:bodyPr/>
          <a:p/>
        </p:txBody>
      </p:sp>
      <p:sp>
        <p:nvSpPr>
          <p:cNvPr id="8" name="Text 6"/>
          <p:cNvSpPr/>
          <p:nvPr/>
        </p:nvSpPr>
        <p:spPr>
          <a:xfrm>
            <a:off x="4480560" y="2103120"/>
            <a:ext cx="3017520" cy="457200"/>
          </a:xfrm>
          <a:prstGeom prst="rect">
            <a:avLst/>
          </a:prstGeom>
          <a:noFill/>
          <a:ln/>
        </p:spPr>
        <p:txBody>
          <a:bodyPr wrap="square" lIns="0" tIns="0" rIns="0" bIns="0" rtlCol="0" anchor="ctr"/>
          <a:lstStyle/>
          <a:p>
            <a:pPr indent="0" marL="0">
              <a:buNone/>
            </a:pPr>
            <a:r>
              <a:rPr lang="en-US" sz="1800" b="1" dirty="0">
                <a:solidFill>
                  <a:srgbClr val="B85042"/>
                </a:solidFill>
                <a:latin typeface="Courier New" pitchFamily="34" charset="0"/>
                <a:ea typeface="Courier New" pitchFamily="34" charset="-122"/>
                <a:cs typeface="Courier New" pitchFamily="34" charset="-120"/>
              </a:rPr>
              <a:t>about.html</a:t>
            </a:r>
            <a:endParaRPr lang="en-US" sz="1600" dirty="0"/>
          </a:p>
        </p:txBody>
      </p:sp>
      <p:sp>
        <p:nvSpPr>
          <p:cNvPr id="9" name="Text 7"/>
          <p:cNvSpPr/>
          <p:nvPr/>
        </p:nvSpPr>
        <p:spPr>
          <a:xfrm>
            <a:off x="4480560" y="2606040"/>
            <a:ext cx="3017520" cy="1188720"/>
          </a:xfrm>
          <a:prstGeom prst="rect">
            <a:avLst/>
          </a:prstGeom>
          <a:noFill/>
          <a:ln/>
        </p:spPr>
        <p:txBody>
          <a:bodyPr wrap="square" lIns="0" tIns="0" rIns="0" bIns="0" rtlCol="0" anchor="ctr"/>
          <a:lstStyle/>
          <a:p>
            <a:pPr indent="0" marL="0">
              <a:buNone/>
            </a:pPr>
            <a:r>
              <a:rPr lang="en-US" sz="1650" dirty="0">
                <a:solidFill>
                  <a:srgbClr val="3A2B26"/>
                </a:solidFill>
                <a:latin typeface="Calibri" pitchFamily="34" charset="0"/>
                <a:ea typeface="Calibri" pitchFamily="34" charset="-122"/>
                <a:cs typeface="Calibri" pitchFamily="34" charset="-120"/>
              </a:rPr>
              <a:t>About page — your story, in more detail</a:t>
            </a:r>
            <a:endParaRPr lang="en-US" sz="1250" dirty="0"/>
          </a:p>
        </p:txBody>
      </p:sp>
      <p:sp>
        <p:nvSpPr>
          <p:cNvPr id="10" name="Shape 8"/>
          <p:cNvSpPr/>
          <p:nvPr/>
        </p:nvSpPr>
        <p:spPr>
          <a:xfrm>
            <a:off x="7955280" y="1920240"/>
            <a:ext cx="3474720" cy="2011680"/>
          </a:xfrm>
          <a:prstGeom prst="roundRect">
            <a:avLst>
              <a:gd name="adj" fmla="val 4545"/>
            </a:avLst>
          </a:prstGeom>
          <a:solidFill>
            <a:srgbClr val="E7E8D1"/>
          </a:solidFill>
          <a:ln/>
        </p:spPr>
        <p:txBody>
          <a:bodyPr/>
          <a:p/>
        </p:txBody>
      </p:sp>
      <p:sp>
        <p:nvSpPr>
          <p:cNvPr id="11" name="Text 9"/>
          <p:cNvSpPr/>
          <p:nvPr/>
        </p:nvSpPr>
        <p:spPr>
          <a:xfrm>
            <a:off x="8183880" y="2103120"/>
            <a:ext cx="3017520" cy="457200"/>
          </a:xfrm>
          <a:prstGeom prst="rect">
            <a:avLst/>
          </a:prstGeom>
          <a:noFill/>
          <a:ln/>
        </p:spPr>
        <p:txBody>
          <a:bodyPr wrap="square" lIns="0" tIns="0" rIns="0" bIns="0" rtlCol="0" anchor="ctr"/>
          <a:lstStyle/>
          <a:p>
            <a:pPr indent="0" marL="0">
              <a:buNone/>
            </a:pPr>
            <a:r>
              <a:rPr lang="en-US" sz="1800" b="1" dirty="0">
                <a:solidFill>
                  <a:srgbClr val="B85042"/>
                </a:solidFill>
                <a:latin typeface="Courier New" pitchFamily="34" charset="0"/>
                <a:ea typeface="Courier New" pitchFamily="34" charset="-122"/>
                <a:cs typeface="Courier New" pitchFamily="34" charset="-120"/>
              </a:rPr>
              <a:t>contact.html</a:t>
            </a:r>
            <a:endParaRPr lang="en-US" sz="1600" dirty="0"/>
          </a:p>
        </p:txBody>
      </p:sp>
      <p:sp>
        <p:nvSpPr>
          <p:cNvPr id="12" name="Text 10"/>
          <p:cNvSpPr/>
          <p:nvPr/>
        </p:nvSpPr>
        <p:spPr>
          <a:xfrm>
            <a:off x="8183880" y="2606040"/>
            <a:ext cx="3017520" cy="1188720"/>
          </a:xfrm>
          <a:prstGeom prst="rect">
            <a:avLst/>
          </a:prstGeom>
          <a:noFill/>
          <a:ln/>
        </p:spPr>
        <p:txBody>
          <a:bodyPr wrap="square" lIns="0" tIns="0" rIns="0" bIns="0" rtlCol="0" anchor="ctr"/>
          <a:lstStyle/>
          <a:p>
            <a:pPr indent="0" marL="0">
              <a:buNone/>
            </a:pPr>
            <a:r>
              <a:rPr lang="en-US" sz="1650" dirty="0">
                <a:solidFill>
                  <a:srgbClr val="3A2B26"/>
                </a:solidFill>
                <a:latin typeface="Calibri" pitchFamily="34" charset="0"/>
                <a:ea typeface="Calibri" pitchFamily="34" charset="-122"/>
                <a:cs typeface="Calibri" pitchFamily="34" charset="-120"/>
              </a:rPr>
              <a:t>Contact page — a working form</a:t>
            </a:r>
            <a:endParaRPr lang="en-US" sz="1250" dirty="0"/>
          </a:p>
        </p:txBody>
      </p:sp>
      <p:sp>
        <p:nvSpPr>
          <p:cNvPr id="13" name="Shape 11"/>
          <p:cNvSpPr/>
          <p:nvPr/>
        </p:nvSpPr>
        <p:spPr>
          <a:xfrm>
            <a:off x="548640" y="4206240"/>
            <a:ext cx="11064240" cy="1737360"/>
          </a:xfrm>
          <a:prstGeom prst="roundRect">
            <a:avLst>
              <a:gd name="adj" fmla="val 5263"/>
            </a:avLst>
          </a:prstGeom>
          <a:solidFill>
            <a:srgbClr val="F4EFE7"/>
          </a:solidFill>
          <a:ln/>
        </p:spPr>
        <p:txBody>
          <a:bodyPr/>
          <a:p/>
        </p:txBody>
      </p:sp>
      <p:sp>
        <p:nvSpPr>
          <p:cNvPr id="14" name="Text 12"/>
          <p:cNvSpPr/>
          <p:nvPr/>
        </p:nvSpPr>
        <p:spPr>
          <a:xfrm>
            <a:off x="822960" y="4407408"/>
            <a:ext cx="1051560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Plus 2 shared files</a:t>
            </a:r>
            <a:endParaRPr lang="en-US" sz="1500" dirty="0"/>
          </a:p>
        </p:txBody>
      </p:sp>
      <p:sp>
        <p:nvSpPr>
          <p:cNvPr id="15" name="Text 13"/>
          <p:cNvSpPr/>
          <p:nvPr/>
        </p:nvSpPr>
        <p:spPr>
          <a:xfrm>
            <a:off x="822960" y="4828032"/>
            <a:ext cx="10515600" cy="914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style.css — already designed with color, fonts, layout, hover effects (all 3 pages use this ONE file)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script.js — a working mobile menu toggle, ready for you to add more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BEFORE YOU BUILD</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Plan Your Site (5 minutes)</a:t>
            </a:r>
            <a:endParaRPr lang="en-US" sz="2700" dirty="0"/>
          </a:p>
        </p:txBody>
      </p:sp>
      <p:sp>
        <p:nvSpPr>
          <p:cNvPr id="4" name="Shape 2"/>
          <p:cNvSpPr/>
          <p:nvPr/>
        </p:nvSpPr>
        <p:spPr>
          <a:xfrm>
            <a:off x="548640" y="1920240"/>
            <a:ext cx="5303520" cy="3931920"/>
          </a:xfrm>
          <a:prstGeom prst="roundRect">
            <a:avLst>
              <a:gd name="adj" fmla="val 2326"/>
            </a:avLst>
          </a:prstGeom>
          <a:solidFill>
            <a:srgbClr val="E7E8D1"/>
          </a:solidFill>
          <a:ln/>
        </p:spPr>
        <p:txBody>
          <a:bodyPr/>
          <a:p/>
        </p:txBody>
      </p:sp>
      <p:sp>
        <p:nvSpPr>
          <p:cNvPr id="5" name="Text 3"/>
          <p:cNvSpPr/>
          <p:nvPr/>
        </p:nvSpPr>
        <p:spPr>
          <a:xfrm>
            <a:off x="822960" y="2121408"/>
            <a:ext cx="475488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1. Pick a topic</a:t>
            </a:r>
            <a:endParaRPr lang="en-US" sz="1500" dirty="0"/>
          </a:p>
        </p:txBody>
      </p:sp>
      <p:sp>
        <p:nvSpPr>
          <p:cNvPr id="6" name="Text 4"/>
          <p:cNvSpPr/>
          <p:nvPr/>
        </p:nvSpPr>
        <p:spPr>
          <a:xfrm>
            <a:off x="822960" y="254203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Yourself (a profile / portfolio site)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 hobby or interest you love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 small idea, club, or project you want to share</a:t>
            </a:r>
            <a:endParaRPr lang="en-US" sz="1200" dirty="0"/>
          </a:p>
        </p:txBody>
      </p:sp>
      <p:sp>
        <p:nvSpPr>
          <p:cNvPr id="7" name="Shape 5"/>
          <p:cNvSpPr/>
          <p:nvPr/>
        </p:nvSpPr>
        <p:spPr>
          <a:xfrm>
            <a:off x="6126480" y="1920240"/>
            <a:ext cx="5486400" cy="3931920"/>
          </a:xfrm>
          <a:prstGeom prst="roundRect">
            <a:avLst>
              <a:gd name="adj" fmla="val 2326"/>
            </a:avLst>
          </a:prstGeom>
          <a:solidFill>
            <a:srgbClr val="F4EFE7"/>
          </a:solidFill>
          <a:ln/>
        </p:spPr>
        <p:txBody>
          <a:bodyPr/>
          <a:p/>
        </p:txBody>
      </p:sp>
      <p:sp>
        <p:nvSpPr>
          <p:cNvPr id="8" name="Text 6"/>
          <p:cNvSpPr/>
          <p:nvPr/>
        </p:nvSpPr>
        <p:spPr>
          <a:xfrm>
            <a:off x="6400800" y="2121408"/>
            <a:ext cx="49377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2. Sketch each page</a:t>
            </a:r>
            <a:endParaRPr lang="en-US" sz="1500" dirty="0"/>
          </a:p>
        </p:txBody>
      </p:sp>
      <p:sp>
        <p:nvSpPr>
          <p:cNvPr id="9" name="Text 7"/>
          <p:cNvSpPr/>
          <p:nvPr/>
        </p:nvSpPr>
        <p:spPr>
          <a:xfrm>
            <a:off x="6400800" y="2542032"/>
            <a:ext cx="493776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Home: what's the headline? What's the one thing people should know?</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About: what's your story, in 3-5 sentences?</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Contact: how should people reach you?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BUILD CHECKLIST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Work Through It in Order</a:t>
            </a:r>
            <a:endParaRPr lang="en-US" sz="2700" dirty="0"/>
          </a:p>
        </p:txBody>
      </p:sp>
      <p:sp>
        <p:nvSpPr>
          <p:cNvPr id="4" name="Shape 2"/>
          <p:cNvSpPr/>
          <p:nvPr/>
        </p:nvSpPr>
        <p:spPr>
          <a:xfrm>
            <a:off x="548640" y="2011680"/>
            <a:ext cx="2468880" cy="3291840"/>
          </a:xfrm>
          <a:prstGeom prst="roundRect">
            <a:avLst>
              <a:gd name="adj" fmla="val 3704"/>
            </a:avLst>
          </a:prstGeom>
          <a:solidFill>
            <a:srgbClr val="E7E8D1"/>
          </a:solidFill>
          <a:ln/>
        </p:spPr>
        <p:txBody>
          <a:bodyPr/>
          <a:p/>
        </p:txBody>
      </p:sp>
      <p:sp>
        <p:nvSpPr>
          <p:cNvPr id="5" name="Shape 3"/>
          <p:cNvSpPr/>
          <p:nvPr/>
        </p:nvSpPr>
        <p:spPr>
          <a:xfrm>
            <a:off x="731520" y="2194560"/>
            <a:ext cx="457200" cy="457200"/>
          </a:xfrm>
          <a:prstGeom prst="ellipse">
            <a:avLst/>
          </a:prstGeom>
          <a:solidFill>
            <a:srgbClr val="B85042"/>
          </a:solidFill>
          <a:ln/>
        </p:spPr>
      </p:sp>
      <p:sp>
        <p:nvSpPr>
          <p:cNvPr id="6" name="Text 4"/>
          <p:cNvSpPr/>
          <p:nvPr/>
        </p:nvSpPr>
        <p:spPr>
          <a:xfrm>
            <a:off x="7315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731520" y="2788920"/>
            <a:ext cx="210312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Content</a:t>
            </a:r>
            <a:endParaRPr lang="en-US" sz="1500" dirty="0"/>
          </a:p>
        </p:txBody>
      </p:sp>
      <p:sp>
        <p:nvSpPr>
          <p:cNvPr id="8" name="Text 6"/>
          <p:cNvSpPr/>
          <p:nvPr/>
        </p:nvSpPr>
        <p:spPr>
          <a:xfrm>
            <a:off x="731520" y="3200400"/>
            <a:ext cx="2103120" cy="1920240"/>
          </a:xfrm>
          <a:prstGeom prst="rect">
            <a:avLst/>
          </a:prstGeom>
          <a:noFill/>
          <a:ln/>
        </p:spPr>
        <p:txBody>
          <a:bodyPr wrap="square" lIns="0" tIns="0" rIns="0" bIns="0" rtlCol="0" anchor="ctr"/>
          <a:lstStyle/>
          <a:p>
            <a:pPr indent="0" marL="0">
              <a:buNone/>
            </a:pPr>
            <a:r>
              <a:rPr lang="en-US" sz="1650" dirty="0">
                <a:solidFill>
                  <a:srgbClr val="555555"/>
                </a:solidFill>
                <a:latin typeface="Calibri" pitchFamily="34" charset="0"/>
                <a:ea typeface="Calibri" pitchFamily="34" charset="-122"/>
                <a:cs typeface="Calibri" pitchFamily="34" charset="-120"/>
              </a:rPr>
              <a:t>Replace placeholder text on all 3 pages with your own words</a:t>
            </a:r>
            <a:endParaRPr lang="en-US" sz="1150" dirty="0"/>
          </a:p>
        </p:txBody>
      </p:sp>
      <p:sp>
        <p:nvSpPr>
          <p:cNvPr id="9" name="Shape 7"/>
          <p:cNvSpPr/>
          <p:nvPr/>
        </p:nvSpPr>
        <p:spPr>
          <a:xfrm>
            <a:off x="3291840" y="2011680"/>
            <a:ext cx="2468880" cy="3291840"/>
          </a:xfrm>
          <a:prstGeom prst="roundRect">
            <a:avLst>
              <a:gd name="adj" fmla="val 3704"/>
            </a:avLst>
          </a:prstGeom>
          <a:solidFill>
            <a:srgbClr val="F4EFE7"/>
          </a:solidFill>
          <a:ln/>
        </p:spPr>
        <p:txBody>
          <a:bodyPr/>
          <a:p/>
        </p:txBody>
      </p:sp>
      <p:sp>
        <p:nvSpPr>
          <p:cNvPr id="10" name="Shape 8"/>
          <p:cNvSpPr/>
          <p:nvPr/>
        </p:nvSpPr>
        <p:spPr>
          <a:xfrm>
            <a:off x="3474720" y="2194560"/>
            <a:ext cx="457200" cy="457200"/>
          </a:xfrm>
          <a:prstGeom prst="ellipse">
            <a:avLst/>
          </a:prstGeom>
          <a:solidFill>
            <a:srgbClr val="B85042"/>
          </a:solidFill>
          <a:ln/>
        </p:spPr>
      </p:sp>
      <p:sp>
        <p:nvSpPr>
          <p:cNvPr id="11" name="Text 9"/>
          <p:cNvSpPr/>
          <p:nvPr/>
        </p:nvSpPr>
        <p:spPr>
          <a:xfrm>
            <a:off x="34747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474720" y="2788920"/>
            <a:ext cx="210312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Links</a:t>
            </a:r>
            <a:endParaRPr lang="en-US" sz="1500" dirty="0"/>
          </a:p>
        </p:txBody>
      </p:sp>
      <p:sp>
        <p:nvSpPr>
          <p:cNvPr id="13" name="Text 11"/>
          <p:cNvSpPr/>
          <p:nvPr/>
        </p:nvSpPr>
        <p:spPr>
          <a:xfrm>
            <a:off x="3474720" y="3200400"/>
            <a:ext cx="2103120" cy="1920240"/>
          </a:xfrm>
          <a:prstGeom prst="rect">
            <a:avLst/>
          </a:prstGeom>
          <a:noFill/>
          <a:ln/>
        </p:spPr>
        <p:txBody>
          <a:bodyPr wrap="square" lIns="0" tIns="0" rIns="0" bIns="0" rtlCol="0" anchor="ctr"/>
          <a:lstStyle/>
          <a:p>
            <a:pPr indent="0" marL="0">
              <a:buNone/>
            </a:pPr>
            <a:r>
              <a:rPr lang="en-US" sz="1650" dirty="0">
                <a:solidFill>
                  <a:srgbClr val="555555"/>
                </a:solidFill>
                <a:latin typeface="Calibri" pitchFamily="34" charset="0"/>
                <a:ea typeface="Calibri" pitchFamily="34" charset="-122"/>
                <a:cs typeface="Calibri" pitchFamily="34" charset="-120"/>
              </a:rPr>
              <a:t>Make sure every nav link on every page still works</a:t>
            </a:r>
            <a:endParaRPr lang="en-US" sz="1150" dirty="0"/>
          </a:p>
        </p:txBody>
      </p:sp>
      <p:sp>
        <p:nvSpPr>
          <p:cNvPr id="14" name="Shape 12"/>
          <p:cNvSpPr/>
          <p:nvPr/>
        </p:nvSpPr>
        <p:spPr>
          <a:xfrm>
            <a:off x="6035040" y="2011680"/>
            <a:ext cx="2468880" cy="3291840"/>
          </a:xfrm>
          <a:prstGeom prst="roundRect">
            <a:avLst>
              <a:gd name="adj" fmla="val 3704"/>
            </a:avLst>
          </a:prstGeom>
          <a:solidFill>
            <a:srgbClr val="E7E8D1"/>
          </a:solidFill>
          <a:ln/>
        </p:spPr>
        <p:txBody>
          <a:bodyPr/>
          <a:p/>
        </p:txBody>
      </p:sp>
      <p:sp>
        <p:nvSpPr>
          <p:cNvPr id="15" name="Shape 13"/>
          <p:cNvSpPr/>
          <p:nvPr/>
        </p:nvSpPr>
        <p:spPr>
          <a:xfrm>
            <a:off x="6217920" y="2194560"/>
            <a:ext cx="457200" cy="457200"/>
          </a:xfrm>
          <a:prstGeom prst="ellipse">
            <a:avLst/>
          </a:prstGeom>
          <a:solidFill>
            <a:srgbClr val="B85042"/>
          </a:solidFill>
          <a:ln/>
        </p:spPr>
      </p:sp>
      <p:sp>
        <p:nvSpPr>
          <p:cNvPr id="16" name="Text 14"/>
          <p:cNvSpPr/>
          <p:nvPr/>
        </p:nvSpPr>
        <p:spPr>
          <a:xfrm>
            <a:off x="6217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217920" y="2788920"/>
            <a:ext cx="210312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Design</a:t>
            </a:r>
            <a:endParaRPr lang="en-US" sz="1500" dirty="0"/>
          </a:p>
        </p:txBody>
      </p:sp>
      <p:sp>
        <p:nvSpPr>
          <p:cNvPr id="18" name="Text 16"/>
          <p:cNvSpPr/>
          <p:nvPr/>
        </p:nvSpPr>
        <p:spPr>
          <a:xfrm>
            <a:off x="6217920" y="3200400"/>
            <a:ext cx="2103120" cy="1920240"/>
          </a:xfrm>
          <a:prstGeom prst="rect">
            <a:avLst/>
          </a:prstGeom>
          <a:noFill/>
          <a:ln/>
        </p:spPr>
        <p:txBody>
          <a:bodyPr wrap="square" lIns="0" tIns="0" rIns="0" bIns="0" rtlCol="0" anchor="ctr"/>
          <a:lstStyle/>
          <a:p>
            <a:pPr indent="0" marL="0">
              <a:buNone/>
            </a:pPr>
            <a:r>
              <a:rPr lang="en-US" sz="1650" dirty="0">
                <a:solidFill>
                  <a:srgbClr val="555555"/>
                </a:solidFill>
                <a:latin typeface="Calibri" pitchFamily="34" charset="0"/>
                <a:ea typeface="Calibri" pitchFamily="34" charset="-122"/>
                <a:cs typeface="Calibri" pitchFamily="34" charset="-120"/>
              </a:rPr>
              <a:t>Adjust colors/fonts if you want it to feel like YOU</a:t>
            </a:r>
            <a:endParaRPr lang="en-US" sz="1150" dirty="0"/>
          </a:p>
        </p:txBody>
      </p:sp>
      <p:sp>
        <p:nvSpPr>
          <p:cNvPr id="19" name="Shape 17"/>
          <p:cNvSpPr/>
          <p:nvPr/>
        </p:nvSpPr>
        <p:spPr>
          <a:xfrm>
            <a:off x="8778240" y="2011680"/>
            <a:ext cx="2468880" cy="3291840"/>
          </a:xfrm>
          <a:prstGeom prst="roundRect">
            <a:avLst>
              <a:gd name="adj" fmla="val 3704"/>
            </a:avLst>
          </a:prstGeom>
          <a:solidFill>
            <a:srgbClr val="F4EFE7"/>
          </a:solidFill>
          <a:ln/>
        </p:spPr>
        <p:txBody>
          <a:bodyPr/>
          <a:p/>
        </p:txBody>
      </p:sp>
      <p:sp>
        <p:nvSpPr>
          <p:cNvPr id="20" name="Shape 18"/>
          <p:cNvSpPr/>
          <p:nvPr/>
        </p:nvSpPr>
        <p:spPr>
          <a:xfrm>
            <a:off x="8961120" y="2194560"/>
            <a:ext cx="457200" cy="457200"/>
          </a:xfrm>
          <a:prstGeom prst="ellipse">
            <a:avLst/>
          </a:prstGeom>
          <a:solidFill>
            <a:srgbClr val="B85042"/>
          </a:solidFill>
          <a:ln/>
        </p:spPr>
      </p:sp>
      <p:sp>
        <p:nvSpPr>
          <p:cNvPr id="21" name="Text 19"/>
          <p:cNvSpPr/>
          <p:nvPr/>
        </p:nvSpPr>
        <p:spPr>
          <a:xfrm>
            <a:off x="89611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8961120" y="2788920"/>
            <a:ext cx="210312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Extra JS</a:t>
            </a:r>
            <a:endParaRPr lang="en-US" sz="1500" dirty="0"/>
          </a:p>
        </p:txBody>
      </p:sp>
      <p:sp>
        <p:nvSpPr>
          <p:cNvPr id="23" name="Text 21"/>
          <p:cNvSpPr/>
          <p:nvPr/>
        </p:nvSpPr>
        <p:spPr>
          <a:xfrm>
            <a:off x="8961120" y="3200400"/>
            <a:ext cx="2103120" cy="1920240"/>
          </a:xfrm>
          <a:prstGeom prst="rect">
            <a:avLst/>
          </a:prstGeom>
          <a:noFill/>
          <a:ln/>
        </p:spPr>
        <p:txBody>
          <a:bodyPr wrap="square" lIns="0" tIns="0" rIns="0" bIns="0" rtlCol="0" anchor="ctr"/>
          <a:lstStyle/>
          <a:p>
            <a:pPr indent="0" marL="0">
              <a:buNone/>
            </a:pPr>
            <a:r>
              <a:rPr lang="en-US" sz="1650" dirty="0">
                <a:solidFill>
                  <a:srgbClr val="555555"/>
                </a:solidFill>
                <a:latin typeface="Calibri" pitchFamily="34" charset="0"/>
                <a:ea typeface="Calibri" pitchFamily="34" charset="-122"/>
                <a:cs typeface="Calibri" pitchFamily="34" charset="-120"/>
              </a:rPr>
              <a:t>Optional: add one more interactive feature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TIME PLAN</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How to Use Your 90 Minutes</a:t>
            </a:r>
            <a:endParaRPr lang="en-US" sz="2700" dirty="0"/>
          </a:p>
        </p:txBody>
      </p:sp>
      <p:sp>
        <p:nvSpPr>
          <p:cNvPr id="4" name="Shape 2"/>
          <p:cNvSpPr/>
          <p:nvPr/>
        </p:nvSpPr>
        <p:spPr>
          <a:xfrm>
            <a:off x="548640" y="1828800"/>
            <a:ext cx="1645920" cy="594360"/>
          </a:xfrm>
          <a:prstGeom prst="roundRect">
            <a:avLst>
              <a:gd name="adj" fmla="val 12308"/>
            </a:avLst>
          </a:prstGeom>
          <a:solidFill>
            <a:srgbClr val="B85042"/>
          </a:solidFill>
          <a:ln/>
        </p:spPr>
        <p:txBody>
          <a:bodyPr/>
          <a:p/>
        </p:txBody>
      </p:sp>
      <p:sp>
        <p:nvSpPr>
          <p:cNvPr id="5" name="Text 3"/>
          <p:cNvSpPr/>
          <p:nvPr/>
        </p:nvSpPr>
        <p:spPr>
          <a:xfrm>
            <a:off x="548640" y="1828800"/>
            <a:ext cx="164592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10 min</a:t>
            </a:r>
            <a:endParaRPr lang="en-US" sz="1400" dirty="0"/>
          </a:p>
        </p:txBody>
      </p:sp>
      <p:sp>
        <p:nvSpPr>
          <p:cNvPr id="6" name="Text 4"/>
          <p:cNvSpPr/>
          <p:nvPr/>
        </p:nvSpPr>
        <p:spPr>
          <a:xfrm>
            <a:off x="2377440" y="1828800"/>
            <a:ext cx="8686800" cy="594360"/>
          </a:xfrm>
          <a:prstGeom prst="rect">
            <a:avLst/>
          </a:prstGeom>
          <a:noFill/>
          <a:ln/>
        </p:spPr>
        <p:txBody>
          <a:bodyPr wrap="square" lIns="0" tIns="0" rIns="0" bIns="0" rtlCol="0" anchor="ctr"/>
          <a:lstStyle/>
          <a:p>
            <a:pPr indent="0" marL="0">
              <a:buNone/>
            </a:pPr>
            <a:r>
              <a:rPr lang="en-US" sz="1800" dirty="0">
                <a:solidFill>
                  <a:srgbClr val="2D2D2D"/>
                </a:solidFill>
                <a:latin typeface="Calibri" pitchFamily="34" charset="0"/>
                <a:ea typeface="Calibri" pitchFamily="34" charset="-122"/>
                <a:cs typeface="Calibri" pitchFamily="34" charset="-120"/>
              </a:rPr>
              <a:t>Multi-page concept (this part)</a:t>
            </a:r>
            <a:endParaRPr lang="en-US" sz="1400" dirty="0"/>
          </a:p>
        </p:txBody>
      </p:sp>
      <p:sp>
        <p:nvSpPr>
          <p:cNvPr id="7" name="Shape 5"/>
          <p:cNvSpPr/>
          <p:nvPr/>
        </p:nvSpPr>
        <p:spPr>
          <a:xfrm>
            <a:off x="548640" y="2606040"/>
            <a:ext cx="1645920" cy="594360"/>
          </a:xfrm>
          <a:prstGeom prst="roundRect">
            <a:avLst>
              <a:gd name="adj" fmla="val 12308"/>
            </a:avLst>
          </a:prstGeom>
          <a:solidFill>
            <a:srgbClr val="B85042"/>
          </a:solidFill>
          <a:ln/>
        </p:spPr>
        <p:txBody>
          <a:bodyPr/>
          <a:p/>
        </p:txBody>
      </p:sp>
      <p:sp>
        <p:nvSpPr>
          <p:cNvPr id="8" name="Text 6"/>
          <p:cNvSpPr/>
          <p:nvPr/>
        </p:nvSpPr>
        <p:spPr>
          <a:xfrm>
            <a:off x="548640" y="2606040"/>
            <a:ext cx="164592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 min</a:t>
            </a:r>
            <a:endParaRPr lang="en-US" sz="1400" dirty="0"/>
          </a:p>
        </p:txBody>
      </p:sp>
      <p:sp>
        <p:nvSpPr>
          <p:cNvPr id="9" name="Text 7"/>
          <p:cNvSpPr/>
          <p:nvPr/>
        </p:nvSpPr>
        <p:spPr>
          <a:xfrm>
            <a:off x="2377440" y="2606040"/>
            <a:ext cx="8686800" cy="594360"/>
          </a:xfrm>
          <a:prstGeom prst="rect">
            <a:avLst/>
          </a:prstGeom>
          <a:noFill/>
          <a:ln/>
        </p:spPr>
        <p:txBody>
          <a:bodyPr wrap="square" lIns="0" tIns="0" rIns="0" bIns="0" rtlCol="0" anchor="ctr"/>
          <a:lstStyle/>
          <a:p>
            <a:pPr indent="0" marL="0">
              <a:buNone/>
            </a:pPr>
            <a:r>
              <a:rPr lang="en-US" sz="1800" dirty="0">
                <a:solidFill>
                  <a:srgbClr val="2D2D2D"/>
                </a:solidFill>
                <a:latin typeface="Calibri" pitchFamily="34" charset="0"/>
                <a:ea typeface="Calibri" pitchFamily="34" charset="-122"/>
                <a:cs typeface="Calibri" pitchFamily="34" charset="-120"/>
              </a:rPr>
              <a:t>Plan — pick a topic, sketch your 3 pages</a:t>
            </a:r>
            <a:endParaRPr lang="en-US" sz="1400" dirty="0"/>
          </a:p>
        </p:txBody>
      </p:sp>
      <p:sp>
        <p:nvSpPr>
          <p:cNvPr id="10" name="Shape 8"/>
          <p:cNvSpPr/>
          <p:nvPr/>
        </p:nvSpPr>
        <p:spPr>
          <a:xfrm>
            <a:off x="548640" y="3383280"/>
            <a:ext cx="1645920" cy="594360"/>
          </a:xfrm>
          <a:prstGeom prst="roundRect">
            <a:avLst>
              <a:gd name="adj" fmla="val 12308"/>
            </a:avLst>
          </a:prstGeom>
          <a:solidFill>
            <a:srgbClr val="B85042"/>
          </a:solidFill>
          <a:ln/>
        </p:spPr>
        <p:txBody>
          <a:bodyPr/>
          <a:p/>
        </p:txBody>
      </p:sp>
      <p:sp>
        <p:nvSpPr>
          <p:cNvPr id="11" name="Text 9"/>
          <p:cNvSpPr/>
          <p:nvPr/>
        </p:nvSpPr>
        <p:spPr>
          <a:xfrm>
            <a:off x="548640" y="3383280"/>
            <a:ext cx="164592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30 min</a:t>
            </a:r>
            <a:endParaRPr lang="en-US" sz="1400" dirty="0"/>
          </a:p>
        </p:txBody>
      </p:sp>
      <p:sp>
        <p:nvSpPr>
          <p:cNvPr id="12" name="Text 10"/>
          <p:cNvSpPr/>
          <p:nvPr/>
        </p:nvSpPr>
        <p:spPr>
          <a:xfrm>
            <a:off x="2377440" y="3383280"/>
            <a:ext cx="8686800" cy="594360"/>
          </a:xfrm>
          <a:prstGeom prst="rect">
            <a:avLst/>
          </a:prstGeom>
          <a:noFill/>
          <a:ln/>
        </p:spPr>
        <p:txBody>
          <a:bodyPr wrap="square" lIns="0" tIns="0" rIns="0" bIns="0" rtlCol="0" anchor="ctr"/>
          <a:lstStyle/>
          <a:p>
            <a:pPr indent="0" marL="0">
              <a:buNone/>
            </a:pPr>
            <a:r>
              <a:rPr lang="en-US" sz="1800" dirty="0">
                <a:solidFill>
                  <a:srgbClr val="2D2D2D"/>
                </a:solidFill>
                <a:latin typeface="Calibri" pitchFamily="34" charset="0"/>
                <a:ea typeface="Calibri" pitchFamily="34" charset="-122"/>
                <a:cs typeface="Calibri" pitchFamily="34" charset="-120"/>
              </a:rPr>
              <a:t>Build — content, links, design</a:t>
            </a:r>
            <a:endParaRPr lang="en-US" sz="1400" dirty="0"/>
          </a:p>
        </p:txBody>
      </p:sp>
      <p:sp>
        <p:nvSpPr>
          <p:cNvPr id="13" name="Shape 11"/>
          <p:cNvSpPr/>
          <p:nvPr/>
        </p:nvSpPr>
        <p:spPr>
          <a:xfrm>
            <a:off x="548640" y="4160520"/>
            <a:ext cx="1645920" cy="594360"/>
          </a:xfrm>
          <a:prstGeom prst="roundRect">
            <a:avLst>
              <a:gd name="adj" fmla="val 12308"/>
            </a:avLst>
          </a:prstGeom>
          <a:solidFill>
            <a:srgbClr val="B85042"/>
          </a:solidFill>
          <a:ln/>
        </p:spPr>
        <p:txBody>
          <a:bodyPr/>
          <a:p/>
        </p:txBody>
      </p:sp>
      <p:sp>
        <p:nvSpPr>
          <p:cNvPr id="14" name="Text 12"/>
          <p:cNvSpPr/>
          <p:nvPr/>
        </p:nvSpPr>
        <p:spPr>
          <a:xfrm>
            <a:off x="548640" y="4160520"/>
            <a:ext cx="164592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10 min</a:t>
            </a:r>
            <a:endParaRPr lang="en-US" sz="1400" dirty="0"/>
          </a:p>
        </p:txBody>
      </p:sp>
      <p:sp>
        <p:nvSpPr>
          <p:cNvPr id="15" name="Text 13"/>
          <p:cNvSpPr/>
          <p:nvPr/>
        </p:nvSpPr>
        <p:spPr>
          <a:xfrm>
            <a:off x="2377440" y="4160520"/>
            <a:ext cx="8686800" cy="594360"/>
          </a:xfrm>
          <a:prstGeom prst="rect">
            <a:avLst/>
          </a:prstGeom>
          <a:noFill/>
          <a:ln/>
        </p:spPr>
        <p:txBody>
          <a:bodyPr wrap="square" lIns="0" tIns="0" rIns="0" bIns="0" rtlCol="0" anchor="ctr"/>
          <a:lstStyle/>
          <a:p>
            <a:pPr indent="0" marL="0">
              <a:buNone/>
            </a:pPr>
            <a:r>
              <a:rPr lang="en-US" sz="1800" dirty="0">
                <a:solidFill>
                  <a:srgbClr val="2D2D2D"/>
                </a:solidFill>
                <a:latin typeface="Calibri" pitchFamily="34" charset="0"/>
                <a:ea typeface="Calibri" pitchFamily="34" charset="-122"/>
                <a:cs typeface="Calibri" pitchFamily="34" charset="-120"/>
              </a:rPr>
              <a:t>Deploy — put it live with Netlify</a:t>
            </a:r>
            <a:endParaRPr lang="en-US" sz="1400" dirty="0"/>
          </a:p>
        </p:txBody>
      </p:sp>
      <p:sp>
        <p:nvSpPr>
          <p:cNvPr id="16" name="Shape 14"/>
          <p:cNvSpPr/>
          <p:nvPr/>
        </p:nvSpPr>
        <p:spPr>
          <a:xfrm>
            <a:off x="548640" y="4937760"/>
            <a:ext cx="1645920" cy="594360"/>
          </a:xfrm>
          <a:prstGeom prst="roundRect">
            <a:avLst>
              <a:gd name="adj" fmla="val 12308"/>
            </a:avLst>
          </a:prstGeom>
          <a:solidFill>
            <a:srgbClr val="B85042"/>
          </a:solidFill>
          <a:ln/>
        </p:spPr>
        <p:txBody>
          <a:bodyPr/>
          <a:p/>
        </p:txBody>
      </p:sp>
      <p:sp>
        <p:nvSpPr>
          <p:cNvPr id="17" name="Text 15"/>
          <p:cNvSpPr/>
          <p:nvPr/>
        </p:nvSpPr>
        <p:spPr>
          <a:xfrm>
            <a:off x="548640" y="4937760"/>
            <a:ext cx="164592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10 min</a:t>
            </a:r>
            <a:endParaRPr lang="en-US" sz="1400" dirty="0"/>
          </a:p>
        </p:txBody>
      </p:sp>
      <p:sp>
        <p:nvSpPr>
          <p:cNvPr id="18" name="Text 16"/>
          <p:cNvSpPr/>
          <p:nvPr/>
        </p:nvSpPr>
        <p:spPr>
          <a:xfrm>
            <a:off x="2377440" y="4937760"/>
            <a:ext cx="8686800" cy="594360"/>
          </a:xfrm>
          <a:prstGeom prst="rect">
            <a:avLst/>
          </a:prstGeom>
          <a:noFill/>
          <a:ln/>
        </p:spPr>
        <p:txBody>
          <a:bodyPr wrap="square" lIns="0" tIns="0" rIns="0" bIns="0" rtlCol="0" anchor="ctr"/>
          <a:lstStyle/>
          <a:p>
            <a:pPr indent="0" marL="0">
              <a:buNone/>
            </a:pPr>
            <a:r>
              <a:rPr lang="en-US" sz="1800" dirty="0">
                <a:solidFill>
                  <a:srgbClr val="2D2D2D"/>
                </a:solidFill>
                <a:latin typeface="Calibri" pitchFamily="34" charset="0"/>
                <a:ea typeface="Calibri" pitchFamily="34" charset="-122"/>
                <a:cs typeface="Calibri" pitchFamily="34" charset="-120"/>
              </a:rPr>
              <a:t>Present — 1 minute each, show your site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DEPLOY</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Putting Your Site on the Internet</a:t>
            </a:r>
            <a:endParaRPr lang="en-US" sz="2700" dirty="0"/>
          </a:p>
        </p:txBody>
      </p:sp>
      <p:sp>
        <p:nvSpPr>
          <p:cNvPr id="4" name="Shape 2"/>
          <p:cNvSpPr/>
          <p:nvPr/>
        </p:nvSpPr>
        <p:spPr>
          <a:xfrm>
            <a:off x="548640" y="1828800"/>
            <a:ext cx="5303520" cy="3931920"/>
          </a:xfrm>
          <a:prstGeom prst="roundRect">
            <a:avLst>
              <a:gd name="adj" fmla="val 2326"/>
            </a:avLst>
          </a:prstGeom>
          <a:solidFill>
            <a:srgbClr val="E7E8D1"/>
          </a:solidFill>
          <a:ln/>
        </p:spPr>
        <p:txBody>
          <a:bodyPr/>
          <a:p/>
        </p:txBody>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What is Netlify Drop?</a:t>
            </a:r>
            <a:endParaRPr lang="en-US" sz="1500" dirty="0"/>
          </a:p>
        </p:txBody>
      </p:sp>
      <p:sp>
        <p:nvSpPr>
          <p:cNvPr id="6" name="Text 4"/>
          <p:cNvSpPr/>
          <p:nvPr/>
        </p:nvSpPr>
        <p:spPr>
          <a:xfrm>
            <a:off x="822960" y="245059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 free website that turns your folder into a real, live website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No account, no git, no payment needed to try it</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Perfect for a first deploy — just drag and drop</a:t>
            </a:r>
            <a:endParaRPr lang="en-US" sz="1200" dirty="0"/>
          </a:p>
        </p:txBody>
      </p:sp>
      <p:sp>
        <p:nvSpPr>
          <p:cNvPr id="7" name="Shape 5"/>
          <p:cNvSpPr/>
          <p:nvPr/>
        </p:nvSpPr>
        <p:spPr>
          <a:xfrm>
            <a:off x="6126480" y="1828800"/>
            <a:ext cx="5486400" cy="3931920"/>
          </a:xfrm>
          <a:prstGeom prst="roundRect">
            <a:avLst>
              <a:gd name="adj" fmla="val 2326"/>
            </a:avLst>
          </a:prstGeom>
          <a:solidFill>
            <a:srgbClr val="F4EFE7"/>
          </a:solidFill>
          <a:ln/>
        </p:spPr>
        <p:txBody>
          <a:bodyPr/>
          <a:p/>
        </p:txBody>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Before you deploy</a:t>
            </a:r>
            <a:endParaRPr lang="en-US" sz="1500" dirty="0"/>
          </a:p>
        </p:txBody>
      </p:sp>
      <p:sp>
        <p:nvSpPr>
          <p:cNvPr id="9" name="Text 7"/>
          <p:cNvSpPr/>
          <p:nvPr/>
        </p:nvSpPr>
        <p:spPr>
          <a:xfrm>
            <a:off x="6400800" y="2450592"/>
            <a:ext cx="493776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Make sure index.html, about.html, contact.html,</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  style.css, and script.js are all in ONE folder</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Double-check your links and images work locally first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DEPLOY</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3 Steps to Go Live</a:t>
            </a:r>
            <a:endParaRPr lang="en-US" sz="2700" dirty="0"/>
          </a:p>
        </p:txBody>
      </p:sp>
      <p:sp>
        <p:nvSpPr>
          <p:cNvPr id="4" name="Shape 2"/>
          <p:cNvSpPr/>
          <p:nvPr/>
        </p:nvSpPr>
        <p:spPr>
          <a:xfrm>
            <a:off x="548640" y="2011680"/>
            <a:ext cx="548640" cy="548640"/>
          </a:xfrm>
          <a:prstGeom prst="ellipse">
            <a:avLst/>
          </a:prstGeom>
          <a:solidFill>
            <a:srgbClr val="A7BEAE"/>
          </a:solidFill>
          <a:ln/>
        </p:spPr>
      </p:sp>
      <p:sp>
        <p:nvSpPr>
          <p:cNvPr id="5" name="Text 3"/>
          <p:cNvSpPr/>
          <p:nvPr/>
        </p:nvSpPr>
        <p:spPr>
          <a:xfrm>
            <a:off x="548640"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280160" y="196596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Go to app.netlify.com/drop</a:t>
            </a:r>
            <a:endParaRPr lang="en-US" sz="1500" dirty="0"/>
          </a:p>
        </p:txBody>
      </p:sp>
      <p:sp>
        <p:nvSpPr>
          <p:cNvPr id="7" name="Text 5"/>
          <p:cNvSpPr/>
          <p:nvPr/>
        </p:nvSpPr>
        <p:spPr>
          <a:xfrm>
            <a:off x="1280160" y="230428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Open this page in your browser.</a:t>
            </a:r>
            <a:endParaRPr lang="en-US" sz="1200" dirty="0"/>
          </a:p>
        </p:txBody>
      </p:sp>
      <p:sp>
        <p:nvSpPr>
          <p:cNvPr id="8" name="Shape 6"/>
          <p:cNvSpPr/>
          <p:nvPr/>
        </p:nvSpPr>
        <p:spPr>
          <a:xfrm>
            <a:off x="548640" y="3063240"/>
            <a:ext cx="548640" cy="548640"/>
          </a:xfrm>
          <a:prstGeom prst="ellipse">
            <a:avLst/>
          </a:prstGeom>
          <a:solidFill>
            <a:srgbClr val="A7BEAE"/>
          </a:solidFill>
          <a:ln/>
        </p:spPr>
      </p:sp>
      <p:sp>
        <p:nvSpPr>
          <p:cNvPr id="9" name="Text 7"/>
          <p:cNvSpPr/>
          <p:nvPr/>
        </p:nvSpPr>
        <p:spPr>
          <a:xfrm>
            <a:off x="548640" y="306324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280160" y="301752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Drag your whole project folder in</a:t>
            </a:r>
            <a:endParaRPr lang="en-US" sz="1500" dirty="0"/>
          </a:p>
        </p:txBody>
      </p:sp>
      <p:sp>
        <p:nvSpPr>
          <p:cNvPr id="11" name="Text 9"/>
          <p:cNvSpPr/>
          <p:nvPr/>
        </p:nvSpPr>
        <p:spPr>
          <a:xfrm>
            <a:off x="1280160" y="335584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Not individual files — the folder that contains all of them.</a:t>
            </a:r>
            <a:endParaRPr lang="en-US" sz="1200" dirty="0"/>
          </a:p>
        </p:txBody>
      </p:sp>
      <p:sp>
        <p:nvSpPr>
          <p:cNvPr id="12" name="Shape 10"/>
          <p:cNvSpPr/>
          <p:nvPr/>
        </p:nvSpPr>
        <p:spPr>
          <a:xfrm>
            <a:off x="548640" y="4114800"/>
            <a:ext cx="548640" cy="548640"/>
          </a:xfrm>
          <a:prstGeom prst="ellipse">
            <a:avLst/>
          </a:prstGeom>
          <a:solidFill>
            <a:srgbClr val="A7BEAE"/>
          </a:solidFill>
          <a:ln/>
        </p:spPr>
      </p:sp>
      <p:sp>
        <p:nvSpPr>
          <p:cNvPr id="13" name="Text 11"/>
          <p:cNvSpPr/>
          <p:nvPr/>
        </p:nvSpPr>
        <p:spPr>
          <a:xfrm>
            <a:off x="548640" y="411480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280160" y="406908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Get your live link</a:t>
            </a:r>
            <a:endParaRPr lang="en-US" sz="1500" dirty="0"/>
          </a:p>
        </p:txBody>
      </p:sp>
      <p:sp>
        <p:nvSpPr>
          <p:cNvPr id="15" name="Text 13"/>
          <p:cNvSpPr/>
          <p:nvPr/>
        </p:nvSpPr>
        <p:spPr>
          <a:xfrm>
            <a:off x="1280160" y="440740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Netlify gives you a real URL in seconds. Copy it and share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DEPLOY</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Made a Change? Redeploy!</a:t>
            </a:r>
            <a:endParaRPr lang="en-US" sz="2700" dirty="0"/>
          </a:p>
        </p:txBody>
      </p:sp>
      <p:sp>
        <p:nvSpPr>
          <p:cNvPr id="4" name="Shape 2"/>
          <p:cNvSpPr/>
          <p:nvPr/>
        </p:nvSpPr>
        <p:spPr>
          <a:xfrm>
            <a:off x="548640" y="1828800"/>
            <a:ext cx="11064240" cy="3931920"/>
          </a:xfrm>
          <a:prstGeom prst="roundRect">
            <a:avLst>
              <a:gd name="adj" fmla="val 2326"/>
            </a:avLst>
          </a:prstGeom>
          <a:solidFill>
            <a:srgbClr val="E7E8D1"/>
          </a:solidFill>
          <a:ln/>
        </p:spPr>
        <p:txBody>
          <a:bodyPr/>
          <a:p/>
        </p:txBody>
      </p:sp>
      <p:sp>
        <p:nvSpPr>
          <p:cNvPr id="5" name="Text 3"/>
          <p:cNvSpPr/>
          <p:nvPr/>
        </p:nvSpPr>
        <p:spPr>
          <a:xfrm>
            <a:off x="822960" y="2029968"/>
            <a:ext cx="1051560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Your live site is a snapshot — it won't update by itself</a:t>
            </a:r>
            <a:endParaRPr lang="en-US" sz="1500" dirty="0"/>
          </a:p>
        </p:txBody>
      </p:sp>
      <p:sp>
        <p:nvSpPr>
          <p:cNvPr id="6" name="Text 4"/>
          <p:cNvSpPr/>
          <p:nvPr/>
        </p:nvSpPr>
        <p:spPr>
          <a:xfrm>
            <a:off x="822960" y="2450592"/>
            <a:ext cx="1051560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If you edit your files after deploying, the live site does NOT change automatically</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To update it, just go back to app.netlify.com/drop and drag your folder in again</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Netlify will give you the SAME link with your new changes live on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SELF-CHECK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Before You Present</a:t>
            </a:r>
            <a:endParaRPr lang="en-US" sz="2700" dirty="0"/>
          </a:p>
        </p:txBody>
      </p:sp>
      <p:sp>
        <p:nvSpPr>
          <p:cNvPr id="4" name="Shape 2"/>
          <p:cNvSpPr/>
          <p:nvPr/>
        </p:nvSpPr>
        <p:spPr>
          <a:xfrm>
            <a:off x="548640" y="1920240"/>
            <a:ext cx="10881360" cy="3931920"/>
          </a:xfrm>
          <a:prstGeom prst="roundRect">
            <a:avLst>
              <a:gd name="adj" fmla="val 2326"/>
            </a:avLst>
          </a:prstGeom>
          <a:solidFill>
            <a:srgbClr val="E7E8D1"/>
          </a:solidFill>
          <a:ln/>
        </p:spPr>
        <p:txBody>
          <a:bodyPr/>
          <a:p/>
        </p:txBody>
      </p:sp>
      <p:sp>
        <p:nvSpPr>
          <p:cNvPr id="5" name="Text 3"/>
          <p:cNvSpPr/>
          <p:nvPr/>
        </p:nvSpPr>
        <p:spPr>
          <a:xfrm>
            <a:off x="822960" y="2121408"/>
            <a:ext cx="1033272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Quick checklist</a:t>
            </a:r>
            <a:endParaRPr lang="en-US" sz="1500" dirty="0"/>
          </a:p>
        </p:txBody>
      </p:sp>
      <p:sp>
        <p:nvSpPr>
          <p:cNvPr id="6" name="Text 4"/>
          <p:cNvSpPr/>
          <p:nvPr/>
        </p:nvSpPr>
        <p:spPr>
          <a:xfrm>
            <a:off x="822960" y="2542032"/>
            <a:ext cx="1033272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All 3 pages have my own content, not placeholder text</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Every nav link works on every page (test by clicking through)</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 design looks intentional — I picked colors and fonts on purpose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 page looks OK on a narrow (mobile) screen too</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My site is deployed and I have a live link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PRESENT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1-Minute Showcase</a:t>
            </a:r>
            <a:endParaRPr lang="en-US" sz="2700" dirty="0"/>
          </a:p>
        </p:txBody>
      </p:sp>
      <p:sp>
        <p:nvSpPr>
          <p:cNvPr id="4" name="Shape 2"/>
          <p:cNvSpPr/>
          <p:nvPr/>
        </p:nvSpPr>
        <p:spPr>
          <a:xfrm>
            <a:off x="548640" y="1920240"/>
            <a:ext cx="10881360" cy="3931920"/>
          </a:xfrm>
          <a:prstGeom prst="roundRect">
            <a:avLst>
              <a:gd name="adj" fmla="val 2326"/>
            </a:avLst>
          </a:prstGeom>
          <a:solidFill>
            <a:srgbClr val="F4EFE7"/>
          </a:solidFill>
          <a:ln/>
        </p:spPr>
        <p:txBody>
          <a:bodyPr/>
          <a:p/>
        </p:txBody>
      </p:sp>
      <p:sp>
        <p:nvSpPr>
          <p:cNvPr id="5" name="Text 3"/>
          <p:cNvSpPr/>
          <p:nvPr/>
        </p:nvSpPr>
        <p:spPr>
          <a:xfrm>
            <a:off x="822960" y="2121408"/>
            <a:ext cx="1033272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When it's your turn, cover:</a:t>
            </a:r>
            <a:endParaRPr lang="en-US" sz="1500" dirty="0"/>
          </a:p>
        </p:txBody>
      </p:sp>
      <p:sp>
        <p:nvSpPr>
          <p:cNvPr id="6" name="Text 4"/>
          <p:cNvSpPr/>
          <p:nvPr/>
        </p:nvSpPr>
        <p:spPr>
          <a:xfrm>
            <a:off x="822960" y="2542032"/>
            <a:ext cx="1033272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What your website is about</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Show us clicking between your pages</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One thing you're proud of</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One thing you'd add if you had more time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FFFFFF">
              <a:alpha val="10000"/>
            </a:srgbClr>
          </a:solidFill>
          <a:ln/>
        </p:spPr>
        <p:txBody>
          <a:bodyPr/>
          <a:p/>
        </p:txBody>
      </p:sp>
      <p:sp>
        <p:nvSpPr>
          <p:cNvPr id="3" name="Text 1"/>
          <p:cNvSpPr/>
          <p:nvPr/>
        </p:nvSpPr>
        <p:spPr>
          <a:xfrm>
            <a:off x="548640" y="2651760"/>
            <a:ext cx="100584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 built a real website!</a:t>
            </a:r>
            <a:endParaRPr lang="en-US" sz="3800" dirty="0"/>
          </a:p>
        </p:txBody>
      </p:sp>
      <p:sp>
        <p:nvSpPr>
          <p:cNvPr id="4" name="Text 2"/>
          <p:cNvSpPr/>
          <p:nvPr/>
        </p:nvSpPr>
        <p:spPr>
          <a:xfrm>
            <a:off x="548640" y="3657600"/>
            <a:ext cx="9601200" cy="548640"/>
          </a:xfrm>
          <a:prstGeom prst="rect">
            <a:avLst/>
          </a:prstGeom>
          <a:noFill/>
          <a:ln/>
        </p:spPr>
        <p:txBody>
          <a:bodyPr wrap="square" lIns="0" tIns="0" rIns="0" bIns="0" rtlCol="0" anchor="ctr"/>
          <a:lstStyle/>
          <a:p>
            <a:pPr indent="0" marL="0">
              <a:buNone/>
            </a:pPr>
            <a:r>
              <a:rPr lang="en-US" sz="2000" dirty="0">
                <a:solidFill>
                  <a:srgbClr val="E7E8D1"/>
                </a:solidFill>
                <a:latin typeface="Calibri" pitchFamily="34" charset="0"/>
                <a:ea typeface="Calibri" pitchFamily="34" charset="-122"/>
                <a:cs typeface="Calibri" pitchFamily="34" charset="-120"/>
              </a:rPr>
              <a:t>From a blank skeleton on Day 1 to a live, multi-page site today. Amazing work this week.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2026-08-14T10:52:54Z</dcterms:created>
  <dcterms:modified xsi:type="dcterms:W3CDTF">2026-08-14T10:52:54Z</dcterms:modified>
</cp:coreProperties>
</file>