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Welcome back! Yesterday we built the structure of our page with HTML. Today we turn it into a real layout, using CSS. By the end of today, your header and gallery will be arranged neatly, not just stacked on top of each other. | TIMING: 0-10 recap | 10-25 what CSS is + how it connects to HTML + selectors | 25-35 box model | 35-55 Flexbox &amp; Grid concepts and properties | 55-80 fill-in-the-blank practice x4 | 80-90 wrap-up, preview Day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If HTML is the skeleton of our page, CSS is everything that makes it look like something - the skin, the paint, the clothes. CSS decides colors, spacing, and where things sit on the page. We write CSS in its own file and connect it to our 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You use CSS every time you visit a website that looks organized, not just plain text. Every color, every neat layout, every mobile-friendly design - that's all CSS. We keep it in its own file so we can change how the whole website looks from one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To connect CSS to our HTML, we add one link tag inside the head section. That turns our CSS file on. Then, every CSS rule follows the same shape: a selector says WHAT we're styling, and property colon value pairs inside curly braces say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A selector tells CSS what to style. If we just write p, we style every paragraph on the page. A dot before a name targets a class - it can be used on many elements. A hashtag before a name targets an id - just one element.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Before we go further, let's cover units - the letters after every number in CSS. px means pixels, a fixed exact size, and it's what you'll use most often. Percent is relative to the parent box, great for widths that should stretch. em is relative to the current font size. And pt, points, is a print design unit - you'll see it in Word more than on the web. We mostly just use px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Here's something important: every element on a page is secretly a box, even if it doesn't look like one. Inside that box, we have the content, then padding around it, then a border, then margin outside that. Margin separates it from other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Every element has a display type. Block elements take up their own full line and stack top to bottom - see how each bar sits right under the last one. Inline elements stay inside a line of text and flow left to right, like words in a sentence. And flex or grid turns an element into a container that arranges the things inside it - that's our focus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Flexbox is the easiest way to arrange things in a row or a column. Just add display: flex to a parent, and everything inside it lines up in a row automatically. This is perfect for our header, with a logo and menu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justify-content controls the spacing along the row. flex-start pushes everything to the left. center puts it in the middle. space-between - great for a header - pushes the first item all the way left and the last item all the way right, and spreads the rest evenly.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justify-content handles one direction. align-items handles the other - for example, centering your logo and menu links up and down so they line up neatly. gap is a nice shortcut - one line adds even spacing between every item, so you don't need margin on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Flexbox arranges things in one direction. Grid lets us arrange things in rows and columns at the same time - perfect for a photo gallery. display: grid turns on Grid, and grid-template-columns decides how many columns we want.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fr means fraction - one equal share of the space. Writing 1fr three times gives us three equal columns. repeat is just a shortcut so we don't have to type 1fr again and again - repeat, 3, 1fr means the same thing as three equal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Here's the difference in action. With no CSS, everything stacks in one plain column, including our menu links. Add display: flex, justify-content: space-between, and align-items: center. Now the logo sits on the left and the links line up neatly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Same idea for the gallery. With no CSS, the three cards stack in a tall column. Add display: grid with three equal columns and a gap, and they line up neatly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Let's start simple - just write a selector. The comment tells us it should target the one element with id equals hero-title. Remember, a hashtag means we're targeting an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Now let's flex our real header. We want the logo on the left, the menu on the right, and everything centered up and down. Try filling in the three blanks.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Same idea, now for the gallery. This is the exact CSS you'll use later this week for the real PAF and CGF website gallery.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Last one - a quick challenge. Can you change 3 columns into 2? You only need to change one number from what we just wrote.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Here's a one-page cheat sheet with everything from today - selectors, units, Flexbox, and Grid. Keep this slide open while you do the practice files, in case you forget the exact syntax.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Great work today! Your header and gallery are arranged neatly now, not just stacking straight down the page. Tomorrow we make it all look good with color, fonts, and spacing. See you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9418320" y="-1097280"/>
            <a:ext cx="4114800" cy="4114800"/>
          </a:xfrm>
          <a:prstGeom prst="ellipse">
            <a:avLst/>
          </a:prstGeom>
          <a:solidFill>
            <a:srgbClr val="FFFFFF">
              <a:alpha val="10000"/>
            </a:srgbClr>
          </a:solidFill>
          <a:ln/>
        </p:spPr>
      </p:sp>
      <p:sp>
        <p:nvSpPr>
          <p:cNvPr id="3" name="Shape 1"/>
          <p:cNvSpPr/>
          <p:nvPr/>
        </p:nvSpPr>
        <p:spPr>
          <a:xfrm>
            <a:off x="548640" y="548640"/>
            <a:ext cx="1463040" cy="1463040"/>
          </a:xfrm>
          <a:prstGeom prst="ellipse">
            <a:avLst/>
          </a:prstGeom>
          <a:solidFill>
            <a:srgbClr val="FFFFFF">
              <a:alpha val="12000"/>
            </a:srgbClr>
          </a:solidFill>
          <a:ln/>
        </p:spPr>
      </p:sp>
      <p:sp>
        <p:nvSpPr>
          <p:cNvPr id="4" name="Text 2"/>
          <p:cNvSpPr/>
          <p:nvPr/>
        </p:nvSpPr>
        <p:spPr>
          <a:xfrm>
            <a:off x="548640" y="2286000"/>
            <a:ext cx="8229600" cy="365760"/>
          </a:xfrm>
          <a:prstGeom prst="rect">
            <a:avLst/>
          </a:prstGeom>
          <a:noFill/>
          <a:ln/>
        </p:spPr>
        <p:txBody>
          <a:bodyPr wrap="square" lIns="0" tIns="0" rIns="0" bIns="0" rtlCol="0" anchor="ctr"/>
          <a:lstStyle/>
          <a:p>
            <a:pPr indent="0" marL="0">
              <a:buNone/>
            </a:pPr>
            <a:r>
              <a:rPr lang="en-US" sz="1300" b="1" spc="100" kern="0" dirty="0">
                <a:solidFill>
                  <a:srgbClr val="E7E8D1"/>
                </a:solidFill>
                <a:latin typeface="Calibri" pitchFamily="34" charset="0"/>
                <a:ea typeface="Calibri" pitchFamily="34" charset="-122"/>
                <a:cs typeface="Calibri" pitchFamily="34" charset="-120"/>
              </a:rPr>
              <a:t>PAF &amp; CGF YOUTH PROGRAM  ·  WEBSITE BASICS</a:t>
            </a:r>
            <a:endParaRPr lang="en-US" sz="1300" dirty="0"/>
          </a:p>
        </p:txBody>
      </p:sp>
      <p:sp>
        <p:nvSpPr>
          <p:cNvPr id="5" name="Text 3"/>
          <p:cNvSpPr/>
          <p:nvPr/>
        </p:nvSpPr>
        <p:spPr>
          <a:xfrm>
            <a:off x="548640" y="2651760"/>
            <a:ext cx="3657600" cy="548640"/>
          </a:xfrm>
          <a:prstGeom prst="rect">
            <a:avLst/>
          </a:prstGeom>
          <a:noFill/>
          <a:ln/>
        </p:spPr>
        <p:txBody>
          <a:bodyPr wrap="square" lIns="0" tIns="0" rIns="0" bIns="0" rtlCol="0" anchor="ctr"/>
          <a:lstStyle/>
          <a:p>
            <a:pPr indent="0" marL="0">
              <a:buNone/>
            </a:pPr>
            <a:r>
              <a:rPr lang="en-US" sz="2000" b="1" dirty="0">
                <a:solidFill>
                  <a:srgbClr val="E7E8D1"/>
                </a:solidFill>
                <a:latin typeface="Cambria" pitchFamily="34" charset="0"/>
                <a:ea typeface="Cambria" pitchFamily="34" charset="-122"/>
                <a:cs typeface="Cambria" pitchFamily="34" charset="-120"/>
              </a:rPr>
              <a:t>DAY 2 · 90 MIN</a:t>
            </a:r>
            <a:endParaRPr lang="en-US" sz="2000" dirty="0"/>
          </a:p>
        </p:txBody>
      </p:sp>
      <p:sp>
        <p:nvSpPr>
          <p:cNvPr id="6" name="Text 4"/>
          <p:cNvSpPr/>
          <p:nvPr/>
        </p:nvSpPr>
        <p:spPr>
          <a:xfrm>
            <a:off x="548640" y="3108960"/>
            <a:ext cx="10515600" cy="13716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CSS Layout</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Flexbox &amp; Grid</a:t>
            </a:r>
            <a:endParaRPr lang="en-US" sz="4000" dirty="0"/>
          </a:p>
        </p:txBody>
      </p:sp>
      <p:sp>
        <p:nvSpPr>
          <p:cNvPr id="7" name="Text 5"/>
          <p:cNvSpPr/>
          <p:nvPr/>
        </p:nvSpPr>
        <p:spPr>
          <a:xfrm>
            <a:off x="548640" y="4343400"/>
            <a:ext cx="9601200" cy="731520"/>
          </a:xfrm>
          <a:prstGeom prst="rect">
            <a:avLst/>
          </a:prstGeom>
          <a:noFill/>
          <a:ln/>
        </p:spPr>
        <p:txBody>
          <a:bodyPr wrap="square" lIns="0" tIns="0" rIns="0" bIns="0" rtlCol="0" anchor="ctr"/>
          <a:lstStyle/>
          <a:p>
            <a:pPr indent="0" marL="0">
              <a:buNone/>
            </a:pPr>
            <a:r>
              <a:rPr lang="en-US" sz="1600" dirty="0">
                <a:solidFill>
                  <a:srgbClr val="E7E8D1"/>
                </a:solidFill>
                <a:latin typeface="Calibri" pitchFamily="34" charset="0"/>
                <a:ea typeface="Calibri" pitchFamily="34" charset="-122"/>
                <a:cs typeface="Calibri" pitchFamily="34" charset="-120"/>
              </a:rPr>
              <a:t>How to connect CSS to HTML, and how to arrange boxes on a page.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300" b="1" spc="100" kern="0" dirty="0">
                <a:solidFill>
                  <a:srgbClr val="B85042"/>
                </a:solidFill>
                <a:latin typeface="Calibri" pitchFamily="34" charset="0"/>
                <a:ea typeface="Calibri" pitchFamily="34" charset="-122"/>
                <a:cs typeface="Calibri" pitchFamily="34" charset="-120"/>
              </a:rPr>
              <a:t>CONCEPT</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2700" b="1" dirty="0">
                <a:solidFill>
                  <a:srgbClr val="2D2D2D"/>
                </a:solidFill>
                <a:latin typeface="Cambria" pitchFamily="34" charset="0"/>
                <a:ea typeface="Cambria" pitchFamily="34" charset="-122"/>
                <a:cs typeface="Cambria" pitchFamily="34" charset="-120"/>
              </a:rPr>
              <a:t>What Is CSS?</a:t>
            </a:r>
            <a:endParaRPr lang="en-US" sz="2700" dirty="0"/>
          </a:p>
        </p:txBody>
      </p:sp>
      <p:sp>
        <p:nvSpPr>
          <p:cNvPr id="4" name="Shape 2"/>
          <p:cNvSpPr/>
          <p:nvPr/>
        </p:nvSpPr>
        <p:spPr>
          <a:xfrm>
            <a:off x="548640" y="1828800"/>
            <a:ext cx="548640" cy="548640"/>
          </a:xfrm>
          <a:prstGeom prst="ellipse">
            <a:avLst/>
          </a:prstGeom>
          <a:solidFill>
            <a:srgbClr val="A7BEAE"/>
          </a:solidFill>
          <a:ln/>
        </p:spPr>
      </p:sp>
      <p:sp>
        <p:nvSpPr>
          <p:cNvPr id="5" name="Text 3"/>
          <p:cNvSpPr/>
          <p:nvPr/>
        </p:nvSpPr>
        <p:spPr>
          <a:xfrm>
            <a:off x="548640" y="1828800"/>
            <a:ext cx="548640" cy="548640"/>
          </a:xfrm>
          <a:prstGeom prst="rect">
            <a:avLst/>
          </a:prstGeom>
          <a:noFill/>
          <a:ln/>
        </p:spPr>
        <p:txBody>
          <a:bodyPr wrap="square" lIns="0" tIns="0" rIns="0" bIns="0" rtlCol="0" anchor="ctr"/>
          <a:lstStyle/>
          <a:p>
            <a:pPr algn="ctr" indent="0" marL="0">
              <a:buNone/>
            </a:pPr>
            <a:r>
              <a:rPr lang="en-US" sz="1800" dirty="0">
                <a:solidFill>
                  <a:srgbClr val="FFFFFF"/>
                </a:solidFill>
                <a:latin typeface="Calibri" pitchFamily="34" charset="0"/>
                <a:ea typeface="Calibri" pitchFamily="34" charset="-122"/>
                <a:cs typeface="Calibri" pitchFamily="34" charset="-120"/>
              </a:rPr>
              <a:t>🦴</a:t>
            </a:r>
            <a:endParaRPr lang="en-US" sz="1800" dirty="0"/>
          </a:p>
        </p:txBody>
      </p:sp>
      <p:sp>
        <p:nvSpPr>
          <p:cNvPr id="6" name="Text 4"/>
          <p:cNvSpPr/>
          <p:nvPr/>
        </p:nvSpPr>
        <p:spPr>
          <a:xfrm>
            <a:off x="1280160" y="1783080"/>
            <a:ext cx="5120640" cy="365760"/>
          </a:xfrm>
          <a:prstGeom prst="rect">
            <a:avLst/>
          </a:prstGeom>
          <a:noFill/>
          <a:ln/>
        </p:spPr>
        <p:txBody>
          <a:bodyPr wrap="square" lIns="0" tIns="0" rIns="0" bIns="0" rtlCol="0" anchor="ctr"/>
          <a:lstStyle/>
          <a:p>
            <a:pPr indent="0" marL="0">
              <a:buNone/>
            </a:pPr>
            <a:r>
              <a:rPr lang="en-US" sz="1500" b="1" dirty="0">
                <a:solidFill>
                  <a:srgbClr val="2D2D2D"/>
                </a:solidFill>
                <a:latin typeface="Calibri" pitchFamily="34" charset="0"/>
                <a:ea typeface="Calibri" pitchFamily="34" charset="-122"/>
                <a:cs typeface="Calibri" pitchFamily="34" charset="-120"/>
              </a:rPr>
              <a:t>HTML = the skeleton</a:t>
            </a:r>
            <a:endParaRPr lang="en-US" sz="1500" dirty="0"/>
          </a:p>
        </p:txBody>
      </p:sp>
      <p:sp>
        <p:nvSpPr>
          <p:cNvPr id="7" name="Text 5"/>
          <p:cNvSpPr/>
          <p:nvPr/>
        </p:nvSpPr>
        <p:spPr>
          <a:xfrm>
            <a:off x="1280160" y="2121408"/>
            <a:ext cx="5120640" cy="594360"/>
          </a:xfrm>
          <a:prstGeom prst="rect">
            <a:avLst/>
          </a:prstGeom>
          <a:noFill/>
          <a:ln/>
        </p:spPr>
        <p:txBody>
          <a:bodyPr wrap="square" lIns="0" tIns="0" rIns="0" bIns="0" rtlCol="0" anchor="ctr"/>
          <a:lstStyle/>
          <a:p>
            <a:pPr indent="0" marL="0">
              <a:buNone/>
            </a:pPr>
            <a:r>
              <a:rPr lang="en-US" sz="1200" dirty="0">
                <a:solidFill>
                  <a:srgbClr val="555555"/>
                </a:solidFill>
                <a:latin typeface="Calibri" pitchFamily="34" charset="0"/>
                <a:ea typeface="Calibri" pitchFamily="34" charset="-122"/>
                <a:cs typeface="Calibri" pitchFamily="34" charset="-120"/>
              </a:rPr>
              <a:t>It gives the page its structure — what each part IS.</a:t>
            </a:r>
            <a:endParaRPr lang="en-US" sz="1200" dirty="0"/>
          </a:p>
        </p:txBody>
      </p:sp>
      <p:sp>
        <p:nvSpPr>
          <p:cNvPr id="8" name="Shape 6"/>
          <p:cNvSpPr/>
          <p:nvPr/>
        </p:nvSpPr>
        <p:spPr>
          <a:xfrm>
            <a:off x="548640" y="2880360"/>
            <a:ext cx="548640" cy="548640"/>
          </a:xfrm>
          <a:prstGeom prst="ellipse">
            <a:avLst/>
          </a:prstGeom>
          <a:solidFill>
            <a:srgbClr val="A7BEAE"/>
          </a:solidFill>
          <a:ln/>
        </p:spPr>
      </p:sp>
      <p:sp>
        <p:nvSpPr>
          <p:cNvPr id="9" name="Text 7"/>
          <p:cNvSpPr/>
          <p:nvPr/>
        </p:nvSpPr>
        <p:spPr>
          <a:xfrm>
            <a:off x="548640" y="2880360"/>
            <a:ext cx="548640" cy="548640"/>
          </a:xfrm>
          <a:prstGeom prst="rect">
            <a:avLst/>
          </a:prstGeom>
          <a:noFill/>
          <a:ln/>
        </p:spPr>
        <p:txBody>
          <a:bodyPr wrap="square" lIns="0" tIns="0" rIns="0" bIns="0" rtlCol="0" anchor="ctr"/>
          <a:lstStyle/>
          <a:p>
            <a:pPr algn="ctr" indent="0" marL="0">
              <a:buNone/>
            </a:pPr>
            <a:r>
              <a:rPr lang="en-US" sz="1800" dirty="0">
                <a:solidFill>
                  <a:srgbClr val="FFFFFF"/>
                </a:solidFill>
                <a:latin typeface="Calibri" pitchFamily="34" charset="0"/>
                <a:ea typeface="Calibri" pitchFamily="34" charset="-122"/>
                <a:cs typeface="Calibri" pitchFamily="34" charset="-120"/>
              </a:rPr>
              <a:t>🎨</a:t>
            </a:r>
            <a:endParaRPr lang="en-US" sz="1800" dirty="0"/>
          </a:p>
        </p:txBody>
      </p:sp>
      <p:sp>
        <p:nvSpPr>
          <p:cNvPr id="10" name="Text 8"/>
          <p:cNvSpPr/>
          <p:nvPr/>
        </p:nvSpPr>
        <p:spPr>
          <a:xfrm>
            <a:off x="1280160" y="2834640"/>
            <a:ext cx="5120640" cy="365760"/>
          </a:xfrm>
          <a:prstGeom prst="rect">
            <a:avLst/>
          </a:prstGeom>
          <a:noFill/>
          <a:ln/>
        </p:spPr>
        <p:txBody>
          <a:bodyPr wrap="square" lIns="0" tIns="0" rIns="0" bIns="0" rtlCol="0" anchor="ctr"/>
          <a:lstStyle/>
          <a:p>
            <a:pPr indent="0" marL="0">
              <a:buNone/>
            </a:pPr>
            <a:r>
              <a:rPr lang="en-US" sz="1500" b="1" dirty="0">
                <a:solidFill>
                  <a:srgbClr val="2D2D2D"/>
                </a:solidFill>
                <a:latin typeface="Calibri" pitchFamily="34" charset="0"/>
                <a:ea typeface="Calibri" pitchFamily="34" charset="-122"/>
                <a:cs typeface="Calibri" pitchFamily="34" charset="-120"/>
              </a:rPr>
              <a:t>CSS = the skin, paint &amp; clothes</a:t>
            </a:r>
            <a:endParaRPr lang="en-US" sz="1500" dirty="0"/>
          </a:p>
        </p:txBody>
      </p:sp>
      <p:sp>
        <p:nvSpPr>
          <p:cNvPr id="11" name="Text 9"/>
          <p:cNvSpPr/>
          <p:nvPr/>
        </p:nvSpPr>
        <p:spPr>
          <a:xfrm>
            <a:off x="1280160" y="3172968"/>
            <a:ext cx="5120640" cy="594360"/>
          </a:xfrm>
          <a:prstGeom prst="rect">
            <a:avLst/>
          </a:prstGeom>
          <a:noFill/>
          <a:ln/>
        </p:spPr>
        <p:txBody>
          <a:bodyPr wrap="square" lIns="0" tIns="0" rIns="0" bIns="0" rtlCol="0" anchor="ctr"/>
          <a:lstStyle/>
          <a:p>
            <a:pPr indent="0" marL="0">
              <a:buNone/>
            </a:pPr>
            <a:r>
              <a:rPr lang="en-US" sz="1200" dirty="0">
                <a:solidFill>
                  <a:srgbClr val="555555"/>
                </a:solidFill>
                <a:latin typeface="Calibri" pitchFamily="34" charset="0"/>
                <a:ea typeface="Calibri" pitchFamily="34" charset="-122"/>
                <a:cs typeface="Calibri" pitchFamily="34" charset="-120"/>
              </a:rPr>
              <a:t>It decides how everything LOOKS and where it sits on the page.</a:t>
            </a:r>
            <a:endParaRPr lang="en-US" sz="1200" dirty="0"/>
          </a:p>
        </p:txBody>
      </p:sp>
      <p:sp>
        <p:nvSpPr>
          <p:cNvPr id="12" name="Shape 10"/>
          <p:cNvSpPr/>
          <p:nvPr/>
        </p:nvSpPr>
        <p:spPr>
          <a:xfrm>
            <a:off x="548640" y="3931920"/>
            <a:ext cx="548640" cy="548640"/>
          </a:xfrm>
          <a:prstGeom prst="ellipse">
            <a:avLst/>
          </a:prstGeom>
          <a:solidFill>
            <a:srgbClr val="A7BEAE"/>
          </a:solidFill>
          <a:ln/>
        </p:spPr>
      </p:sp>
      <p:sp>
        <p:nvSpPr>
          <p:cNvPr id="13" name="Text 11"/>
          <p:cNvSpPr/>
          <p:nvPr/>
        </p:nvSpPr>
        <p:spPr>
          <a:xfrm>
            <a:off x="548640" y="3931920"/>
            <a:ext cx="548640" cy="548640"/>
          </a:xfrm>
          <a:prstGeom prst="rect">
            <a:avLst/>
          </a:prstGeom>
          <a:noFill/>
          <a:ln/>
        </p:spPr>
        <p:txBody>
          <a:bodyPr wrap="square" lIns="0" tIns="0" rIns="0" bIns="0" rtlCol="0" anchor="ctr"/>
          <a:lstStyle/>
          <a:p>
            <a:pPr algn="ctr" indent="0" marL="0">
              <a:buNone/>
            </a:pPr>
            <a:r>
              <a:rPr lang="en-US" sz="1800" dirty="0">
                <a:solidFill>
                  <a:srgbClr val="FFFFFF"/>
                </a:solidFill>
                <a:latin typeface="Calibri" pitchFamily="34" charset="0"/>
                <a:ea typeface="Calibri" pitchFamily="34" charset="-122"/>
                <a:cs typeface="Calibri" pitchFamily="34" charset="-120"/>
              </a:rPr>
              <a:t>🔗</a:t>
            </a:r>
            <a:endParaRPr lang="en-US" sz="1800" dirty="0"/>
          </a:p>
        </p:txBody>
      </p:sp>
      <p:sp>
        <p:nvSpPr>
          <p:cNvPr id="14" name="Text 12"/>
          <p:cNvSpPr/>
          <p:nvPr/>
        </p:nvSpPr>
        <p:spPr>
          <a:xfrm>
            <a:off x="1280160" y="3886200"/>
            <a:ext cx="5120640" cy="365760"/>
          </a:xfrm>
          <a:prstGeom prst="rect">
            <a:avLst/>
          </a:prstGeom>
          <a:noFill/>
          <a:ln/>
        </p:spPr>
        <p:txBody>
          <a:bodyPr wrap="square" lIns="0" tIns="0" rIns="0" bIns="0" rtlCol="0" anchor="ctr"/>
          <a:lstStyle/>
          <a:p>
            <a:pPr indent="0" marL="0">
              <a:buNone/>
            </a:pPr>
            <a:r>
              <a:rPr lang="en-US" sz="1500" b="1" dirty="0">
                <a:solidFill>
                  <a:srgbClr val="2D2D2D"/>
                </a:solidFill>
                <a:latin typeface="Calibri" pitchFamily="34" charset="0"/>
                <a:ea typeface="Calibri" pitchFamily="34" charset="-122"/>
                <a:cs typeface="Calibri" pitchFamily="34" charset="-120"/>
              </a:rPr>
              <a:t>They work together</a:t>
            </a:r>
            <a:endParaRPr lang="en-US" sz="1500" dirty="0"/>
          </a:p>
        </p:txBody>
      </p:sp>
      <p:sp>
        <p:nvSpPr>
          <p:cNvPr id="15" name="Text 13"/>
          <p:cNvSpPr/>
          <p:nvPr/>
        </p:nvSpPr>
        <p:spPr>
          <a:xfrm>
            <a:off x="1280160" y="4224528"/>
            <a:ext cx="5120640" cy="594360"/>
          </a:xfrm>
          <a:prstGeom prst="rect">
            <a:avLst/>
          </a:prstGeom>
          <a:noFill/>
          <a:ln/>
        </p:spPr>
        <p:txBody>
          <a:bodyPr wrap="square" lIns="0" tIns="0" rIns="0" bIns="0" rtlCol="0" anchor="ctr"/>
          <a:lstStyle/>
          <a:p>
            <a:pPr indent="0" marL="0">
              <a:buNone/>
            </a:pPr>
            <a:r>
              <a:rPr lang="en-US" sz="1200" dirty="0">
                <a:solidFill>
                  <a:srgbClr val="555555"/>
                </a:solidFill>
                <a:latin typeface="Calibri" pitchFamily="34" charset="0"/>
                <a:ea typeface="Calibri" pitchFamily="34" charset="-122"/>
                <a:cs typeface="Calibri" pitchFamily="34" charset="-120"/>
              </a:rPr>
              <a:t>We write our CSS in a separate file and connect it to our HTML.</a:t>
            </a:r>
            <a:endParaRPr lang="en-US" sz="1200" dirty="0"/>
          </a:p>
        </p:txBody>
      </p:sp>
      <p:sp>
        <p:nvSpPr>
          <p:cNvPr id="16" name="Shape 14"/>
          <p:cNvSpPr/>
          <p:nvPr/>
        </p:nvSpPr>
        <p:spPr>
          <a:xfrm>
            <a:off x="6766560" y="1828800"/>
            <a:ext cx="4846320" cy="3931920"/>
          </a:xfrm>
          <a:prstGeom prst="roundRect">
            <a:avLst>
              <a:gd name="adj" fmla="val 2326"/>
            </a:avLst>
          </a:prstGeom>
          <a:solidFill>
            <a:srgbClr val="E7E8D1"/>
          </a:solidFill>
          <a:ln/>
        </p:spPr>
      </p:sp>
      <p:sp>
        <p:nvSpPr>
          <p:cNvPr id="17" name="Text 15"/>
          <p:cNvSpPr/>
          <p:nvPr/>
        </p:nvSpPr>
        <p:spPr>
          <a:xfrm>
            <a:off x="7040880" y="2057400"/>
            <a:ext cx="4297680" cy="365760"/>
          </a:xfrm>
          <a:prstGeom prst="rect">
            <a:avLst/>
          </a:prstGeom>
          <a:noFill/>
          <a:ln/>
        </p:spPr>
        <p:txBody>
          <a:bodyPr wrap="square" lIns="0" tIns="0" rIns="0" bIns="0" rtlCol="0" anchor="ctr"/>
          <a:lstStyle/>
          <a:p>
            <a:pPr indent="0" marL="0">
              <a:buNone/>
            </a:pPr>
            <a:r>
              <a:rPr lang="en-US" sz="1500" b="1" dirty="0">
                <a:solidFill>
                  <a:srgbClr val="3A2B26"/>
                </a:solidFill>
                <a:latin typeface="Cambria" pitchFamily="34" charset="0"/>
                <a:ea typeface="Cambria" pitchFamily="34" charset="-122"/>
                <a:cs typeface="Cambria" pitchFamily="34" charset="-120"/>
              </a:rPr>
              <a:t>CSS = Cascading Style Sheets</a:t>
            </a:r>
            <a:endParaRPr lang="en-US" sz="1500" dirty="0"/>
          </a:p>
        </p:txBody>
      </p:sp>
      <p:sp>
        <p:nvSpPr>
          <p:cNvPr id="18" name="Text 16"/>
          <p:cNvSpPr/>
          <p:nvPr/>
        </p:nvSpPr>
        <p:spPr>
          <a:xfrm>
            <a:off x="7040880" y="2514600"/>
            <a:ext cx="4297680" cy="1280160"/>
          </a:xfrm>
          <a:prstGeom prst="rect">
            <a:avLst/>
          </a:prstGeom>
          <a:noFill/>
          <a:ln/>
        </p:spPr>
        <p:txBody>
          <a:bodyPr wrap="square" lIns="0" tIns="0" rIns="0" bIns="0" rtlCol="0" anchor="ctr"/>
          <a:lstStyle/>
          <a:p>
            <a:pPr indent="0" marL="0">
              <a:buNone/>
            </a:pPr>
            <a:r>
              <a:rPr lang="en-US" sz="1250" dirty="0">
                <a:solidFill>
                  <a:srgbClr val="3A2B26"/>
                </a:solidFill>
                <a:latin typeface="Calibri" pitchFamily="34" charset="0"/>
                <a:ea typeface="Calibri" pitchFamily="34" charset="-122"/>
                <a:cs typeface="Calibri" pitchFamily="34" charset="-120"/>
              </a:rPr>
              <a:t>A “style sheet” is a list of rules for how things should look. “Cascading” means the rules can flow down and build on each other.</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300" b="1" spc="100" kern="0" dirty="0">
                <a:solidFill>
                  <a:srgbClr val="B85042"/>
                </a:solidFill>
                <a:latin typeface="Calibri" pitchFamily="34" charset="0"/>
                <a:ea typeface="Calibri" pitchFamily="34" charset="-122"/>
                <a:cs typeface="Calibri" pitchFamily="34" charset="-120"/>
              </a:rPr>
              <a:t>CONTEXT</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2700" b="1" dirty="0">
                <a:solidFill>
                  <a:srgbClr val="2D2D2D"/>
                </a:solidFill>
                <a:latin typeface="Cambria" pitchFamily="34" charset="0"/>
                <a:ea typeface="Cambria" pitchFamily="34" charset="-122"/>
                <a:cs typeface="Cambria" pitchFamily="34" charset="-120"/>
              </a:rPr>
              <a:t>Where &amp; When Do We Use CSS?</a:t>
            </a:r>
            <a:endParaRPr lang="en-US" sz="2700" dirty="0"/>
          </a:p>
        </p:txBody>
      </p:sp>
      <p:sp>
        <p:nvSpPr>
          <p:cNvPr id="4" name="Shape 2"/>
          <p:cNvSpPr/>
          <p:nvPr/>
        </p:nvSpPr>
        <p:spPr>
          <a:xfrm>
            <a:off x="548640" y="1828800"/>
            <a:ext cx="5303520" cy="4023360"/>
          </a:xfrm>
          <a:prstGeom prst="roundRect">
            <a:avLst>
              <a:gd name="adj" fmla="val 2273"/>
            </a:avLst>
          </a:prstGeom>
          <a:solidFill>
            <a:srgbClr val="E7E8D1"/>
          </a:solidFill>
          <a:ln/>
        </p:spPr>
      </p:sp>
      <p:sp>
        <p:nvSpPr>
          <p:cNvPr id="5" name="Text 3"/>
          <p:cNvSpPr/>
          <p:nvPr/>
        </p:nvSpPr>
        <p:spPr>
          <a:xfrm>
            <a:off x="822960" y="2029968"/>
            <a:ext cx="4754880" cy="365760"/>
          </a:xfrm>
          <a:prstGeom prst="rect">
            <a:avLst/>
          </a:prstGeom>
          <a:noFill/>
          <a:ln/>
        </p:spPr>
        <p:txBody>
          <a:bodyPr wrap="square" lIns="0" tIns="0" rIns="0" bIns="0" rtlCol="0" anchor="ctr"/>
          <a:lstStyle/>
          <a:p>
            <a:pPr indent="0" marL="0">
              <a:buNone/>
            </a:pPr>
            <a:r>
              <a:rPr lang="en-US" sz="1500" b="1" dirty="0">
                <a:solidFill>
                  <a:srgbClr val="3A2B26"/>
                </a:solidFill>
                <a:latin typeface="Cambria" pitchFamily="34" charset="0"/>
                <a:ea typeface="Cambria" pitchFamily="34" charset="-122"/>
                <a:cs typeface="Cambria" pitchFamily="34" charset="-120"/>
              </a:rPr>
              <a:t>Every styled website uses it</a:t>
            </a:r>
            <a:endParaRPr lang="en-US" sz="1500" dirty="0"/>
          </a:p>
        </p:txBody>
      </p:sp>
      <p:sp>
        <p:nvSpPr>
          <p:cNvPr id="6" name="Text 4"/>
          <p:cNvSpPr/>
          <p:nvPr/>
        </p:nvSpPr>
        <p:spPr>
          <a:xfrm>
            <a:off x="822960" y="2450592"/>
            <a:ext cx="4754880" cy="320040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That neat, organized layout on any website you like</a:t>
            </a:r>
            <a:endParaRPr lang="en-US" sz="1200" dirty="0"/>
          </a:p>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Dark mode, light mode — all CSS</a:t>
            </a:r>
            <a:endParaRPr lang="en-US" sz="1200" dirty="0"/>
          </a:p>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Mobile-friendly websites — CSS again</a:t>
            </a:r>
            <a:endParaRPr lang="en-US" sz="1200" dirty="0"/>
          </a:p>
        </p:txBody>
      </p:sp>
      <p:sp>
        <p:nvSpPr>
          <p:cNvPr id="7" name="Shape 5"/>
          <p:cNvSpPr/>
          <p:nvPr/>
        </p:nvSpPr>
        <p:spPr>
          <a:xfrm>
            <a:off x="6126480" y="1828800"/>
            <a:ext cx="5486400" cy="4023360"/>
          </a:xfrm>
          <a:prstGeom prst="roundRect">
            <a:avLst>
              <a:gd name="adj" fmla="val 2273"/>
            </a:avLst>
          </a:prstGeom>
          <a:solidFill>
            <a:srgbClr val="F4EFE7"/>
          </a:solidFill>
          <a:ln/>
        </p:spPr>
      </p:sp>
      <p:sp>
        <p:nvSpPr>
          <p:cNvPr id="8" name="Text 6"/>
          <p:cNvSpPr/>
          <p:nvPr/>
        </p:nvSpPr>
        <p:spPr>
          <a:xfrm>
            <a:off x="6400800" y="2029968"/>
            <a:ext cx="4937760" cy="365760"/>
          </a:xfrm>
          <a:prstGeom prst="rect">
            <a:avLst/>
          </a:prstGeom>
          <a:noFill/>
          <a:ln/>
        </p:spPr>
        <p:txBody>
          <a:bodyPr wrap="square" lIns="0" tIns="0" rIns="0" bIns="0" rtlCol="0" anchor="ctr"/>
          <a:lstStyle/>
          <a:p>
            <a:pPr indent="0" marL="0">
              <a:buNone/>
            </a:pPr>
            <a:r>
              <a:rPr lang="en-US" sz="1500" b="1" dirty="0">
                <a:solidFill>
                  <a:srgbClr val="3A2B26"/>
                </a:solidFill>
                <a:latin typeface="Cambria" pitchFamily="34" charset="0"/>
                <a:ea typeface="Cambria" pitchFamily="34" charset="-122"/>
                <a:cs typeface="Cambria" pitchFamily="34" charset="-120"/>
              </a:rPr>
              <a:t>Why keep it in a separate file?</a:t>
            </a:r>
            <a:endParaRPr lang="en-US" sz="1500" dirty="0"/>
          </a:p>
        </p:txBody>
      </p:sp>
      <p:sp>
        <p:nvSpPr>
          <p:cNvPr id="9" name="Text 7"/>
          <p:cNvSpPr/>
          <p:nvPr/>
        </p:nvSpPr>
        <p:spPr>
          <a:xfrm>
            <a:off x="6400800" y="2450592"/>
            <a:ext cx="4937760" cy="320040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One CSS file can style EVERY page of a whole website at once</a:t>
            </a:r>
            <a:endParaRPr lang="en-US" sz="1200" dirty="0"/>
          </a:p>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Change one color in one place, not a hundred places</a:t>
            </a:r>
            <a:endParaRPr lang="en-US" sz="1200" dirty="0"/>
          </a:p>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Easier for a team to split the work — content vs. design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300" b="1" spc="100" kern="0" dirty="0">
                <a:solidFill>
                  <a:srgbClr val="B85042"/>
                </a:solidFill>
                <a:latin typeface="Calibri" pitchFamily="34" charset="0"/>
                <a:ea typeface="Calibri" pitchFamily="34" charset="-122"/>
                <a:cs typeface="Calibri" pitchFamily="34" charset="-120"/>
              </a:rPr>
              <a:t>CONCEPT</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2700" b="1" dirty="0">
                <a:solidFill>
                  <a:srgbClr val="2D2D2D"/>
                </a:solidFill>
                <a:latin typeface="Cambria" pitchFamily="34" charset="0"/>
                <a:ea typeface="Cambria" pitchFamily="34" charset="-122"/>
                <a:cs typeface="Cambria" pitchFamily="34" charset="-120"/>
              </a:rPr>
              <a:t>How CSS Connects to HTML</a:t>
            </a:r>
            <a:endParaRPr lang="en-US" sz="2700" dirty="0"/>
          </a:p>
        </p:txBody>
      </p:sp>
      <p:sp>
        <p:nvSpPr>
          <p:cNvPr id="4" name="Shape 2"/>
          <p:cNvSpPr/>
          <p:nvPr/>
        </p:nvSpPr>
        <p:spPr>
          <a:xfrm>
            <a:off x="548640" y="1828800"/>
            <a:ext cx="5394960" cy="1828800"/>
          </a:xfrm>
          <a:prstGeom prst="roundRect">
            <a:avLst>
              <a:gd name="adj" fmla="val 5000"/>
            </a:avLst>
          </a:prstGeom>
          <a:solidFill>
            <a:srgbClr val="2D2321"/>
          </a:solidFill>
          <a:ln/>
        </p:spPr>
      </p:sp>
      <p:sp>
        <p:nvSpPr>
          <p:cNvPr id="5" name="Shape 3"/>
          <p:cNvSpPr/>
          <p:nvPr/>
        </p:nvSpPr>
        <p:spPr>
          <a:xfrm>
            <a:off x="749808" y="1993392"/>
            <a:ext cx="128016" cy="128016"/>
          </a:xfrm>
          <a:prstGeom prst="ellipse">
            <a:avLst/>
          </a:prstGeom>
          <a:solidFill>
            <a:srgbClr val="E06C75"/>
          </a:solidFill>
          <a:ln/>
        </p:spPr>
      </p:sp>
      <p:sp>
        <p:nvSpPr>
          <p:cNvPr id="6" name="Shape 4"/>
          <p:cNvSpPr/>
          <p:nvPr/>
        </p:nvSpPr>
        <p:spPr>
          <a:xfrm>
            <a:off x="978408" y="1993392"/>
            <a:ext cx="128016" cy="128016"/>
          </a:xfrm>
          <a:prstGeom prst="ellipse">
            <a:avLst/>
          </a:prstGeom>
          <a:solidFill>
            <a:srgbClr val="E5C07B"/>
          </a:solidFill>
          <a:ln/>
        </p:spPr>
      </p:sp>
      <p:sp>
        <p:nvSpPr>
          <p:cNvPr id="7" name="Shape 5"/>
          <p:cNvSpPr/>
          <p:nvPr/>
        </p:nvSpPr>
        <p:spPr>
          <a:xfrm>
            <a:off x="1207008" y="1993392"/>
            <a:ext cx="128016" cy="128016"/>
          </a:xfrm>
          <a:prstGeom prst="ellipse">
            <a:avLst/>
          </a:prstGeom>
          <a:solidFill>
            <a:srgbClr val="98C379"/>
          </a:solidFill>
          <a:ln/>
        </p:spPr>
      </p:sp>
      <p:sp>
        <p:nvSpPr>
          <p:cNvPr id="8" name="Text 6"/>
          <p:cNvSpPr/>
          <p:nvPr/>
        </p:nvSpPr>
        <p:spPr>
          <a:xfrm>
            <a:off x="804672" y="2286000"/>
            <a:ext cx="4882896" cy="1234440"/>
          </a:xfrm>
          <a:prstGeom prst="rect">
            <a:avLst/>
          </a:prstGeom>
          <a:noFill/>
          <a:ln/>
        </p:spPr>
        <p:txBody>
          <a:bodyPr wrap="square" lIns="0" tIns="0" rIns="0" bIns="0" rtlCol="0" anchor="ctr"/>
          <a:lstStyle/>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&lt;head&gt;</a:t>
            </a:r>
            <a:endParaRPr lang="en-US" sz="1200" dirty="0"/>
          </a:p>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  &lt;link rel=</a:t>
            </a:r>
            <a:pPr indent="0" marL="0">
              <a:lnSpc>
                <a:spcPct val="122000"/>
              </a:lnSpc>
              <a:buNone/>
            </a:pPr>
            <a:r>
              <a:rPr lang="en-US" sz="1200" dirty="0">
                <a:solidFill>
                  <a:srgbClr val="D98C6B"/>
                </a:solidFill>
                <a:latin typeface="Courier New" pitchFamily="34" charset="0"/>
                <a:ea typeface="Courier New" pitchFamily="34" charset="-122"/>
                <a:cs typeface="Courier New" pitchFamily="34" charset="-120"/>
              </a:rPr>
              <a:t>"stylesheet"</a:t>
            </a:r>
            <a:endParaRPr lang="en-US" sz="1200" dirty="0"/>
          </a:p>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        href=</a:t>
            </a:r>
            <a:pPr indent="0" marL="0">
              <a:lnSpc>
                <a:spcPct val="122000"/>
              </a:lnSpc>
              <a:buNone/>
            </a:pPr>
            <a:r>
              <a:rPr lang="en-US" sz="1200" dirty="0">
                <a:solidFill>
                  <a:srgbClr val="D98C6B"/>
                </a:solidFill>
                <a:latin typeface="Courier New" pitchFamily="34" charset="0"/>
                <a:ea typeface="Courier New" pitchFamily="34" charset="-122"/>
                <a:cs typeface="Courier New" pitchFamily="34" charset="-120"/>
              </a:rPr>
              <a:t>"style.css"</a:t>
            </a:r>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&gt;</a:t>
            </a:r>
            <a:endParaRPr lang="en-US" sz="1200" dirty="0"/>
          </a:p>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&lt;/head&gt;</a:t>
            </a:r>
            <a:endParaRPr lang="en-US" sz="1200" dirty="0"/>
          </a:p>
        </p:txBody>
      </p:sp>
      <p:sp>
        <p:nvSpPr>
          <p:cNvPr id="9" name="Text 7"/>
          <p:cNvSpPr/>
          <p:nvPr/>
        </p:nvSpPr>
        <p:spPr>
          <a:xfrm>
            <a:off x="6172200" y="1920240"/>
            <a:ext cx="5394960" cy="914400"/>
          </a:xfrm>
          <a:prstGeom prst="rect">
            <a:avLst/>
          </a:prstGeom>
          <a:noFill/>
          <a:ln/>
        </p:spPr>
        <p:txBody>
          <a:bodyPr wrap="square" lIns="0" tIns="0" rIns="0" bIns="0" rtlCol="0" anchor="ctr"/>
          <a:lstStyle/>
          <a:p>
            <a:pPr indent="0" marL="0">
              <a:buNone/>
            </a:pPr>
            <a:r>
              <a:rPr lang="en-US" sz="1350" dirty="0">
                <a:solidFill>
                  <a:srgbClr val="2D2D2D"/>
                </a:solidFill>
                <a:latin typeface="Calibri" pitchFamily="34" charset="0"/>
                <a:ea typeface="Calibri" pitchFamily="34" charset="-122"/>
                <a:cs typeface="Calibri" pitchFamily="34" charset="-120"/>
              </a:rPr>
              <a:t>This one line ‘turns on’ your CSS file. It goes inside &lt;head&gt; in your HTML.</a:t>
            </a:r>
            <a:endParaRPr lang="en-US" sz="1350" dirty="0"/>
          </a:p>
        </p:txBody>
      </p:sp>
      <p:sp>
        <p:nvSpPr>
          <p:cNvPr id="10" name="Shape 8"/>
          <p:cNvSpPr/>
          <p:nvPr/>
        </p:nvSpPr>
        <p:spPr>
          <a:xfrm>
            <a:off x="548640" y="3931920"/>
            <a:ext cx="10881360" cy="1828800"/>
          </a:xfrm>
          <a:prstGeom prst="roundRect">
            <a:avLst>
              <a:gd name="adj" fmla="val 5000"/>
            </a:avLst>
          </a:prstGeom>
          <a:solidFill>
            <a:srgbClr val="2D2321"/>
          </a:solidFill>
          <a:ln/>
        </p:spPr>
      </p:sp>
      <p:sp>
        <p:nvSpPr>
          <p:cNvPr id="11" name="Shape 9"/>
          <p:cNvSpPr/>
          <p:nvPr/>
        </p:nvSpPr>
        <p:spPr>
          <a:xfrm>
            <a:off x="749808" y="4096512"/>
            <a:ext cx="128016" cy="128016"/>
          </a:xfrm>
          <a:prstGeom prst="ellipse">
            <a:avLst/>
          </a:prstGeom>
          <a:solidFill>
            <a:srgbClr val="E06C75"/>
          </a:solidFill>
          <a:ln/>
        </p:spPr>
      </p:sp>
      <p:sp>
        <p:nvSpPr>
          <p:cNvPr id="12" name="Shape 10"/>
          <p:cNvSpPr/>
          <p:nvPr/>
        </p:nvSpPr>
        <p:spPr>
          <a:xfrm>
            <a:off x="978408" y="4096512"/>
            <a:ext cx="128016" cy="128016"/>
          </a:xfrm>
          <a:prstGeom prst="ellipse">
            <a:avLst/>
          </a:prstGeom>
          <a:solidFill>
            <a:srgbClr val="E5C07B"/>
          </a:solidFill>
          <a:ln/>
        </p:spPr>
      </p:sp>
      <p:sp>
        <p:nvSpPr>
          <p:cNvPr id="13" name="Shape 11"/>
          <p:cNvSpPr/>
          <p:nvPr/>
        </p:nvSpPr>
        <p:spPr>
          <a:xfrm>
            <a:off x="1207008" y="4096512"/>
            <a:ext cx="128016" cy="128016"/>
          </a:xfrm>
          <a:prstGeom prst="ellipse">
            <a:avLst/>
          </a:prstGeom>
          <a:solidFill>
            <a:srgbClr val="98C379"/>
          </a:solidFill>
          <a:ln/>
        </p:spPr>
      </p:sp>
      <p:sp>
        <p:nvSpPr>
          <p:cNvPr id="14" name="Text 12"/>
          <p:cNvSpPr/>
          <p:nvPr/>
        </p:nvSpPr>
        <p:spPr>
          <a:xfrm>
            <a:off x="804672" y="4389120"/>
            <a:ext cx="10369296" cy="1234440"/>
          </a:xfrm>
          <a:prstGeom prst="rect">
            <a:avLst/>
          </a:prstGeom>
          <a:noFill/>
          <a:ln/>
        </p:spPr>
        <p:txBody>
          <a:bodyPr wrap="square" lIns="0" tIns="0" rIns="0" bIns="0" rtlCol="0" anchor="ctr"/>
          <a:lstStyle/>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selector {</a:t>
            </a:r>
            <a:endParaRPr lang="en-US" sz="1200" dirty="0"/>
          </a:p>
          <a:p>
            <a:pPr indent="0" marL="0">
              <a:lnSpc>
                <a:spcPct val="122000"/>
              </a:lnSpc>
              <a:buNone/>
            </a:pPr>
            <a:r>
              <a:rPr lang="en-US" sz="1200" dirty="0">
                <a:solidFill>
                  <a:srgbClr val="D98C6B"/>
                </a:solidFill>
                <a:latin typeface="Courier New" pitchFamily="34" charset="0"/>
                <a:ea typeface="Courier New" pitchFamily="34" charset="-122"/>
                <a:cs typeface="Courier New" pitchFamily="34" charset="-120"/>
              </a:rPr>
              <a:t>  property: value;</a:t>
            </a:r>
            <a:endParaRPr lang="en-US" sz="1200" dirty="0"/>
          </a:p>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a:t>
            </a:r>
            <a:endParaRPr lang="en-US" sz="1200" dirty="0"/>
          </a:p>
        </p:txBody>
      </p:sp>
      <p:sp>
        <p:nvSpPr>
          <p:cNvPr id="15" name="Text 13"/>
          <p:cNvSpPr/>
          <p:nvPr/>
        </p:nvSpPr>
        <p:spPr>
          <a:xfrm>
            <a:off x="6172200" y="2834640"/>
            <a:ext cx="5394960" cy="1005840"/>
          </a:xfrm>
          <a:prstGeom prst="rect">
            <a:avLst/>
          </a:prstGeom>
          <a:noFill/>
          <a:ln/>
        </p:spPr>
        <p:txBody>
          <a:bodyPr wrap="square" lIns="0" tIns="0" rIns="0" bIns="0" rtlCol="0" anchor="ctr"/>
          <a:lstStyle/>
          <a:p>
            <a:pPr indent="0" marL="0">
              <a:buNone/>
            </a:pPr>
            <a:r>
              <a:rPr lang="en-US" sz="1350" i="1" dirty="0">
                <a:solidFill>
                  <a:srgbClr val="555555"/>
                </a:solidFill>
                <a:latin typeface="Calibri" pitchFamily="34" charset="0"/>
                <a:ea typeface="Calibri" pitchFamily="34" charset="-122"/>
                <a:cs typeface="Calibri" pitchFamily="34" charset="-120"/>
              </a:rPr>
              <a:t>Every CSS rule looks like this: a selector says WHAT to style. Then property: value; pairs inside { } say HOW to style it.</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300" b="1" spc="100" kern="0" dirty="0">
                <a:solidFill>
                  <a:srgbClr val="B85042"/>
                </a:solidFill>
                <a:latin typeface="Calibri" pitchFamily="34" charset="0"/>
                <a:ea typeface="Calibri" pitchFamily="34" charset="-122"/>
                <a:cs typeface="Calibri" pitchFamily="34" charset="-120"/>
              </a:rPr>
              <a:t>CONCEPT</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2700" b="1" dirty="0">
                <a:solidFill>
                  <a:srgbClr val="2D2D2D"/>
                </a:solidFill>
                <a:latin typeface="Cambria" pitchFamily="34" charset="0"/>
                <a:ea typeface="Cambria" pitchFamily="34" charset="-122"/>
                <a:cs typeface="Cambria" pitchFamily="34" charset="-120"/>
              </a:rPr>
              <a:t>Selectors — Choosing What to Style</a:t>
            </a:r>
            <a:endParaRPr lang="en-US" sz="2700" dirty="0"/>
          </a:p>
        </p:txBody>
      </p:sp>
      <p:sp>
        <p:nvSpPr>
          <p:cNvPr id="4" name="Shape 2"/>
          <p:cNvSpPr/>
          <p:nvPr/>
        </p:nvSpPr>
        <p:spPr>
          <a:xfrm>
            <a:off x="548640" y="1920240"/>
            <a:ext cx="10881360" cy="1051560"/>
          </a:xfrm>
          <a:prstGeom prst="roundRect">
            <a:avLst>
              <a:gd name="adj" fmla="val 6957"/>
            </a:avLst>
          </a:prstGeom>
          <a:solidFill>
            <a:srgbClr val="E7E8D1"/>
          </a:solidFill>
          <a:ln/>
        </p:spPr>
      </p:sp>
      <p:sp>
        <p:nvSpPr>
          <p:cNvPr id="5" name="Text 3"/>
          <p:cNvSpPr/>
          <p:nvPr/>
        </p:nvSpPr>
        <p:spPr>
          <a:xfrm>
            <a:off x="822960" y="1920240"/>
            <a:ext cx="2926080" cy="1051560"/>
          </a:xfrm>
          <a:prstGeom prst="rect">
            <a:avLst/>
          </a:prstGeom>
          <a:noFill/>
          <a:ln/>
        </p:spPr>
        <p:txBody>
          <a:bodyPr wrap="square" lIns="0" tIns="0" rIns="0" bIns="0" rtlCol="0" anchor="ctr"/>
          <a:lstStyle/>
          <a:p>
            <a:pPr indent="0" marL="0">
              <a:buNone/>
            </a:pPr>
            <a:r>
              <a:rPr lang="en-US" sz="1600" b="1" dirty="0">
                <a:solidFill>
                  <a:srgbClr val="B85042"/>
                </a:solidFill>
                <a:latin typeface="Courier New" pitchFamily="34" charset="0"/>
                <a:ea typeface="Courier New" pitchFamily="34" charset="-122"/>
                <a:cs typeface="Courier New" pitchFamily="34" charset="-120"/>
              </a:rPr>
              <a:t>p { }</a:t>
            </a:r>
            <a:endParaRPr lang="en-US" sz="1600" dirty="0"/>
          </a:p>
        </p:txBody>
      </p:sp>
      <p:sp>
        <p:nvSpPr>
          <p:cNvPr id="6" name="Text 4"/>
          <p:cNvSpPr/>
          <p:nvPr/>
        </p:nvSpPr>
        <p:spPr>
          <a:xfrm>
            <a:off x="3931920" y="1920240"/>
            <a:ext cx="7315200" cy="1051560"/>
          </a:xfrm>
          <a:prstGeom prst="rect">
            <a:avLst/>
          </a:prstGeom>
          <a:noFill/>
          <a:ln/>
        </p:spPr>
        <p:txBody>
          <a:bodyPr wrap="square" lIns="0" tIns="0" rIns="0" bIns="0" rtlCol="0" anchor="ctr"/>
          <a:lstStyle/>
          <a:p>
            <a:pPr indent="0" marL="0">
              <a:buNone/>
            </a:pPr>
            <a:r>
              <a:rPr lang="en-US" sz="1350" dirty="0">
                <a:solidFill>
                  <a:srgbClr val="3A2B26"/>
                </a:solidFill>
                <a:latin typeface="Calibri" pitchFamily="34" charset="0"/>
                <a:ea typeface="Calibri" pitchFamily="34" charset="-122"/>
                <a:cs typeface="Calibri" pitchFamily="34" charset="-120"/>
              </a:rPr>
              <a:t>styles EVERY &lt;p&gt; on the page</a:t>
            </a:r>
            <a:endParaRPr lang="en-US" sz="1350" dirty="0"/>
          </a:p>
        </p:txBody>
      </p:sp>
      <p:sp>
        <p:nvSpPr>
          <p:cNvPr id="7" name="Shape 5"/>
          <p:cNvSpPr/>
          <p:nvPr/>
        </p:nvSpPr>
        <p:spPr>
          <a:xfrm>
            <a:off x="548640" y="3200400"/>
            <a:ext cx="10881360" cy="1051560"/>
          </a:xfrm>
          <a:prstGeom prst="roundRect">
            <a:avLst>
              <a:gd name="adj" fmla="val 6957"/>
            </a:avLst>
          </a:prstGeom>
          <a:solidFill>
            <a:srgbClr val="F4EFE7"/>
          </a:solidFill>
          <a:ln/>
        </p:spPr>
      </p:sp>
      <p:sp>
        <p:nvSpPr>
          <p:cNvPr id="8" name="Text 6"/>
          <p:cNvSpPr/>
          <p:nvPr/>
        </p:nvSpPr>
        <p:spPr>
          <a:xfrm>
            <a:off x="822960" y="3200400"/>
            <a:ext cx="2926080" cy="1051560"/>
          </a:xfrm>
          <a:prstGeom prst="rect">
            <a:avLst/>
          </a:prstGeom>
          <a:noFill/>
          <a:ln/>
        </p:spPr>
        <p:txBody>
          <a:bodyPr wrap="square" lIns="0" tIns="0" rIns="0" bIns="0" rtlCol="0" anchor="ctr"/>
          <a:lstStyle/>
          <a:p>
            <a:pPr indent="0" marL="0">
              <a:buNone/>
            </a:pPr>
            <a:r>
              <a:rPr lang="en-US" sz="1600" b="1" dirty="0">
                <a:solidFill>
                  <a:srgbClr val="B85042"/>
                </a:solidFill>
                <a:latin typeface="Courier New" pitchFamily="34" charset="0"/>
                <a:ea typeface="Courier New" pitchFamily="34" charset="-122"/>
                <a:cs typeface="Courier New" pitchFamily="34" charset="-120"/>
              </a:rPr>
              <a:t>.card { }</a:t>
            </a:r>
            <a:endParaRPr lang="en-US" sz="1600" dirty="0"/>
          </a:p>
        </p:txBody>
      </p:sp>
      <p:sp>
        <p:nvSpPr>
          <p:cNvPr id="9" name="Text 7"/>
          <p:cNvSpPr/>
          <p:nvPr/>
        </p:nvSpPr>
        <p:spPr>
          <a:xfrm>
            <a:off x="3931920" y="3200400"/>
            <a:ext cx="7315200" cy="1051560"/>
          </a:xfrm>
          <a:prstGeom prst="rect">
            <a:avLst/>
          </a:prstGeom>
          <a:noFill/>
          <a:ln/>
        </p:spPr>
        <p:txBody>
          <a:bodyPr wrap="square" lIns="0" tIns="0" rIns="0" bIns="0" rtlCol="0" anchor="ctr"/>
          <a:lstStyle/>
          <a:p>
            <a:pPr indent="0" marL="0">
              <a:buNone/>
            </a:pPr>
            <a:r>
              <a:rPr lang="en-US" sz="1350" dirty="0">
                <a:solidFill>
                  <a:srgbClr val="3A2B26"/>
                </a:solidFill>
                <a:latin typeface="Calibri" pitchFamily="34" charset="0"/>
                <a:ea typeface="Calibri" pitchFamily="34" charset="-122"/>
                <a:cs typeface="Calibri" pitchFamily="34" charset="-120"/>
              </a:rPr>
              <a:t>styles every element with class="card" (the dot means class)</a:t>
            </a:r>
            <a:endParaRPr lang="en-US" sz="1350" dirty="0"/>
          </a:p>
        </p:txBody>
      </p:sp>
      <p:sp>
        <p:nvSpPr>
          <p:cNvPr id="10" name="Shape 8"/>
          <p:cNvSpPr/>
          <p:nvPr/>
        </p:nvSpPr>
        <p:spPr>
          <a:xfrm>
            <a:off x="548640" y="4480560"/>
            <a:ext cx="10881360" cy="1051560"/>
          </a:xfrm>
          <a:prstGeom prst="roundRect">
            <a:avLst>
              <a:gd name="adj" fmla="val 6957"/>
            </a:avLst>
          </a:prstGeom>
          <a:solidFill>
            <a:srgbClr val="E7E8D1"/>
          </a:solidFill>
          <a:ln/>
        </p:spPr>
      </p:sp>
      <p:sp>
        <p:nvSpPr>
          <p:cNvPr id="11" name="Text 9"/>
          <p:cNvSpPr/>
          <p:nvPr/>
        </p:nvSpPr>
        <p:spPr>
          <a:xfrm>
            <a:off x="822960" y="4480560"/>
            <a:ext cx="2926080" cy="1051560"/>
          </a:xfrm>
          <a:prstGeom prst="rect">
            <a:avLst/>
          </a:prstGeom>
          <a:noFill/>
          <a:ln/>
        </p:spPr>
        <p:txBody>
          <a:bodyPr wrap="square" lIns="0" tIns="0" rIns="0" bIns="0" rtlCol="0" anchor="ctr"/>
          <a:lstStyle/>
          <a:p>
            <a:pPr indent="0" marL="0">
              <a:buNone/>
            </a:pPr>
            <a:r>
              <a:rPr lang="en-US" sz="1600" b="1" dirty="0">
                <a:solidFill>
                  <a:srgbClr val="B85042"/>
                </a:solidFill>
                <a:latin typeface="Courier New" pitchFamily="34" charset="0"/>
                <a:ea typeface="Courier New" pitchFamily="34" charset="-122"/>
                <a:cs typeface="Courier New" pitchFamily="34" charset="-120"/>
              </a:rPr>
              <a:t>#hero-title { }</a:t>
            </a:r>
            <a:endParaRPr lang="en-US" sz="1600" dirty="0"/>
          </a:p>
        </p:txBody>
      </p:sp>
      <p:sp>
        <p:nvSpPr>
          <p:cNvPr id="12" name="Text 10"/>
          <p:cNvSpPr/>
          <p:nvPr/>
        </p:nvSpPr>
        <p:spPr>
          <a:xfrm>
            <a:off x="3931920" y="4480560"/>
            <a:ext cx="7315200" cy="1051560"/>
          </a:xfrm>
          <a:prstGeom prst="rect">
            <a:avLst/>
          </a:prstGeom>
          <a:noFill/>
          <a:ln/>
        </p:spPr>
        <p:txBody>
          <a:bodyPr wrap="square" lIns="0" tIns="0" rIns="0" bIns="0" rtlCol="0" anchor="ctr"/>
          <a:lstStyle/>
          <a:p>
            <a:pPr indent="0" marL="0">
              <a:buNone/>
            </a:pPr>
            <a:r>
              <a:rPr lang="en-US" sz="1350" dirty="0">
                <a:solidFill>
                  <a:srgbClr val="3A2B26"/>
                </a:solidFill>
                <a:latin typeface="Calibri" pitchFamily="34" charset="0"/>
                <a:ea typeface="Calibri" pitchFamily="34" charset="-122"/>
                <a:cs typeface="Calibri" pitchFamily="34" charset="-120"/>
              </a:rPr>
              <a:t>styles the ONE element with id="hero-title" (the # means id)</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300" b="1" spc="100" kern="0" dirty="0">
                <a:solidFill>
                  <a:srgbClr val="B85042"/>
                </a:solidFill>
                <a:latin typeface="Calibri" pitchFamily="34" charset="0"/>
                <a:ea typeface="Calibri" pitchFamily="34" charset="-122"/>
                <a:cs typeface="Calibri" pitchFamily="34" charset="-120"/>
              </a:rPr>
              <a:t>CONCEPT</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2700" b="1" dirty="0">
                <a:solidFill>
                  <a:srgbClr val="2D2D2D"/>
                </a:solidFill>
                <a:latin typeface="Cambria" pitchFamily="34" charset="0"/>
                <a:ea typeface="Cambria" pitchFamily="34" charset="-122"/>
                <a:cs typeface="Cambria" pitchFamily="34" charset="-120"/>
              </a:rPr>
              <a:t>CSS Units — px, %, em &amp; pt</a:t>
            </a:r>
            <a:endParaRPr lang="en-US" sz="2700" dirty="0"/>
          </a:p>
        </p:txBody>
      </p:sp>
      <p:sp>
        <p:nvSpPr>
          <p:cNvPr id="4" name="Shape 2"/>
          <p:cNvSpPr/>
          <p:nvPr/>
        </p:nvSpPr>
        <p:spPr>
          <a:xfrm>
            <a:off x="548640" y="1828800"/>
            <a:ext cx="5349240" cy="1874520"/>
          </a:xfrm>
          <a:prstGeom prst="roundRect">
            <a:avLst>
              <a:gd name="adj" fmla="val 4878"/>
            </a:avLst>
          </a:prstGeom>
          <a:solidFill>
            <a:srgbClr val="E7E8D1"/>
          </a:solidFill>
          <a:ln/>
        </p:spPr>
      </p:sp>
      <p:sp>
        <p:nvSpPr>
          <p:cNvPr id="5" name="Text 3"/>
          <p:cNvSpPr/>
          <p:nvPr/>
        </p:nvSpPr>
        <p:spPr>
          <a:xfrm>
            <a:off x="822960" y="2011680"/>
            <a:ext cx="4800600" cy="457200"/>
          </a:xfrm>
          <a:prstGeom prst="rect">
            <a:avLst/>
          </a:prstGeom>
          <a:noFill/>
          <a:ln/>
        </p:spPr>
        <p:txBody>
          <a:bodyPr wrap="square" lIns="0" tIns="0" rIns="0" bIns="0" rtlCol="0" anchor="ctr"/>
          <a:lstStyle/>
          <a:p>
            <a:pPr indent="0" marL="0">
              <a:buNone/>
            </a:pPr>
            <a:r>
              <a:rPr lang="en-US" sz="2000" b="1" dirty="0">
                <a:solidFill>
                  <a:srgbClr val="B85042"/>
                </a:solidFill>
                <a:latin typeface="Courier New" pitchFamily="34" charset="0"/>
                <a:ea typeface="Courier New" pitchFamily="34" charset="-122"/>
                <a:cs typeface="Courier New" pitchFamily="34" charset="-120"/>
              </a:rPr>
              <a:t>px</a:t>
            </a:r>
            <a:endParaRPr lang="en-US" sz="2000" dirty="0"/>
          </a:p>
        </p:txBody>
      </p:sp>
      <p:sp>
        <p:nvSpPr>
          <p:cNvPr id="6" name="Text 4"/>
          <p:cNvSpPr/>
          <p:nvPr/>
        </p:nvSpPr>
        <p:spPr>
          <a:xfrm>
            <a:off x="822960" y="2606040"/>
            <a:ext cx="4800600" cy="822960"/>
          </a:xfrm>
          <a:prstGeom prst="rect">
            <a:avLst/>
          </a:prstGeom>
          <a:noFill/>
          <a:ln/>
        </p:spPr>
        <p:txBody>
          <a:bodyPr wrap="square" lIns="0" tIns="0" rIns="0" bIns="0" rtlCol="0" anchor="ctr"/>
          <a:lstStyle/>
          <a:p>
            <a:pPr indent="0" marL="0">
              <a:buNone/>
            </a:pPr>
            <a:r>
              <a:rPr lang="en-US" sz="1300" dirty="0">
                <a:solidFill>
                  <a:srgbClr val="3A2B26"/>
                </a:solidFill>
                <a:latin typeface="Calibri" pitchFamily="34" charset="0"/>
                <a:ea typeface="Calibri" pitchFamily="34" charset="-122"/>
                <a:cs typeface="Calibri" pitchFamily="34" charset="-120"/>
              </a:rPr>
              <a:t>“pixels” — a fixed, exact size. 16px is always 16px, on any screen.</a:t>
            </a:r>
            <a:endParaRPr lang="en-US" sz="1300" dirty="0"/>
          </a:p>
        </p:txBody>
      </p:sp>
      <p:sp>
        <p:nvSpPr>
          <p:cNvPr id="7" name="Text 5"/>
          <p:cNvSpPr/>
          <p:nvPr/>
        </p:nvSpPr>
        <p:spPr>
          <a:xfrm>
            <a:off x="822960" y="3200400"/>
            <a:ext cx="4800600" cy="411480"/>
          </a:xfrm>
          <a:prstGeom prst="rect">
            <a:avLst/>
          </a:prstGeom>
          <a:noFill/>
          <a:ln/>
        </p:spPr>
        <p:txBody>
          <a:bodyPr wrap="square" lIns="0" tIns="0" rIns="0" bIns="0" rtlCol="0" anchor="ctr"/>
          <a:lstStyle/>
          <a:p>
            <a:pPr indent="0" marL="0">
              <a:buNone/>
            </a:pPr>
            <a:r>
              <a:rPr lang="en-US" sz="1100" i="1" dirty="0">
                <a:solidFill>
                  <a:srgbClr val="777777"/>
                </a:solidFill>
                <a:latin typeface="Calibri" pitchFamily="34" charset="0"/>
                <a:ea typeface="Calibri" pitchFamily="34" charset="-122"/>
                <a:cs typeface="Calibri" pitchFamily="34" charset="-120"/>
              </a:rPr>
              <a:t>USE FOR: borders, icons, most everyday sizes. Your default choice!</a:t>
            </a:r>
            <a:endParaRPr lang="en-US" sz="1100" dirty="0"/>
          </a:p>
        </p:txBody>
      </p:sp>
      <p:sp>
        <p:nvSpPr>
          <p:cNvPr id="8" name="Shape 6"/>
          <p:cNvSpPr/>
          <p:nvPr/>
        </p:nvSpPr>
        <p:spPr>
          <a:xfrm>
            <a:off x="6080760" y="1828800"/>
            <a:ext cx="5349240" cy="1874520"/>
          </a:xfrm>
          <a:prstGeom prst="roundRect">
            <a:avLst>
              <a:gd name="adj" fmla="val 4878"/>
            </a:avLst>
          </a:prstGeom>
          <a:solidFill>
            <a:srgbClr val="F4EFE7"/>
          </a:solidFill>
          <a:ln/>
        </p:spPr>
      </p:sp>
      <p:sp>
        <p:nvSpPr>
          <p:cNvPr id="9" name="Text 7"/>
          <p:cNvSpPr/>
          <p:nvPr/>
        </p:nvSpPr>
        <p:spPr>
          <a:xfrm>
            <a:off x="6355080" y="2011680"/>
            <a:ext cx="4800600" cy="457200"/>
          </a:xfrm>
          <a:prstGeom prst="rect">
            <a:avLst/>
          </a:prstGeom>
          <a:noFill/>
          <a:ln/>
        </p:spPr>
        <p:txBody>
          <a:bodyPr wrap="square" lIns="0" tIns="0" rIns="0" bIns="0" rtlCol="0" anchor="ctr"/>
          <a:lstStyle/>
          <a:p>
            <a:pPr indent="0" marL="0">
              <a:buNone/>
            </a:pPr>
            <a:r>
              <a:rPr lang="en-US" sz="2000" b="1" dirty="0">
                <a:solidFill>
                  <a:srgbClr val="B85042"/>
                </a:solidFill>
                <a:latin typeface="Courier New" pitchFamily="34" charset="0"/>
                <a:ea typeface="Courier New" pitchFamily="34" charset="-122"/>
                <a:cs typeface="Courier New" pitchFamily="34" charset="-120"/>
              </a:rPr>
              <a:t>%</a:t>
            </a:r>
            <a:endParaRPr lang="en-US" sz="2000" dirty="0"/>
          </a:p>
        </p:txBody>
      </p:sp>
      <p:sp>
        <p:nvSpPr>
          <p:cNvPr id="10" name="Text 8"/>
          <p:cNvSpPr/>
          <p:nvPr/>
        </p:nvSpPr>
        <p:spPr>
          <a:xfrm>
            <a:off x="6355080" y="2606040"/>
            <a:ext cx="4800600" cy="822960"/>
          </a:xfrm>
          <a:prstGeom prst="rect">
            <a:avLst/>
          </a:prstGeom>
          <a:noFill/>
          <a:ln/>
        </p:spPr>
        <p:txBody>
          <a:bodyPr wrap="square" lIns="0" tIns="0" rIns="0" bIns="0" rtlCol="0" anchor="ctr"/>
          <a:lstStyle/>
          <a:p>
            <a:pPr indent="0" marL="0">
              <a:buNone/>
            </a:pPr>
            <a:r>
              <a:rPr lang="en-US" sz="1300" dirty="0">
                <a:solidFill>
                  <a:srgbClr val="3A2B26"/>
                </a:solidFill>
                <a:latin typeface="Calibri" pitchFamily="34" charset="0"/>
                <a:ea typeface="Calibri" pitchFamily="34" charset="-122"/>
                <a:cs typeface="Calibri" pitchFamily="34" charset="-120"/>
              </a:rPr>
              <a:t>A size relative to its PARENT. width: 50% means “half of the box I'm inside.”</a:t>
            </a:r>
            <a:endParaRPr lang="en-US" sz="1300" dirty="0"/>
          </a:p>
        </p:txBody>
      </p:sp>
      <p:sp>
        <p:nvSpPr>
          <p:cNvPr id="11" name="Text 9"/>
          <p:cNvSpPr/>
          <p:nvPr/>
        </p:nvSpPr>
        <p:spPr>
          <a:xfrm>
            <a:off x="6355080" y="3200400"/>
            <a:ext cx="4800600" cy="411480"/>
          </a:xfrm>
          <a:prstGeom prst="rect">
            <a:avLst/>
          </a:prstGeom>
          <a:noFill/>
          <a:ln/>
        </p:spPr>
        <p:txBody>
          <a:bodyPr wrap="square" lIns="0" tIns="0" rIns="0" bIns="0" rtlCol="0" anchor="ctr"/>
          <a:lstStyle/>
          <a:p>
            <a:pPr indent="0" marL="0">
              <a:buNone/>
            </a:pPr>
            <a:r>
              <a:rPr lang="en-US" sz="1100" i="1" dirty="0">
                <a:solidFill>
                  <a:srgbClr val="777777"/>
                </a:solidFill>
                <a:latin typeface="Calibri" pitchFamily="34" charset="0"/>
                <a:ea typeface="Calibri" pitchFamily="34" charset="-122"/>
                <a:cs typeface="Calibri" pitchFamily="34" charset="-120"/>
              </a:rPr>
              <a:t>USE FOR: widths that should stretch or shrink with the page</a:t>
            </a:r>
            <a:endParaRPr lang="en-US" sz="1100" dirty="0"/>
          </a:p>
        </p:txBody>
      </p:sp>
      <p:sp>
        <p:nvSpPr>
          <p:cNvPr id="12" name="Shape 10"/>
          <p:cNvSpPr/>
          <p:nvPr/>
        </p:nvSpPr>
        <p:spPr>
          <a:xfrm>
            <a:off x="548640" y="3886200"/>
            <a:ext cx="5349240" cy="1874520"/>
          </a:xfrm>
          <a:prstGeom prst="roundRect">
            <a:avLst>
              <a:gd name="adj" fmla="val 4878"/>
            </a:avLst>
          </a:prstGeom>
          <a:solidFill>
            <a:srgbClr val="E7E8D1"/>
          </a:solidFill>
          <a:ln/>
        </p:spPr>
      </p:sp>
      <p:sp>
        <p:nvSpPr>
          <p:cNvPr id="13" name="Text 11"/>
          <p:cNvSpPr/>
          <p:nvPr/>
        </p:nvSpPr>
        <p:spPr>
          <a:xfrm>
            <a:off x="822960" y="4069080"/>
            <a:ext cx="4800600" cy="457200"/>
          </a:xfrm>
          <a:prstGeom prst="rect">
            <a:avLst/>
          </a:prstGeom>
          <a:noFill/>
          <a:ln/>
        </p:spPr>
        <p:txBody>
          <a:bodyPr wrap="square" lIns="0" tIns="0" rIns="0" bIns="0" rtlCol="0" anchor="ctr"/>
          <a:lstStyle/>
          <a:p>
            <a:pPr indent="0" marL="0">
              <a:buNone/>
            </a:pPr>
            <a:r>
              <a:rPr lang="en-US" sz="2000" b="1" dirty="0">
                <a:solidFill>
                  <a:srgbClr val="B85042"/>
                </a:solidFill>
                <a:latin typeface="Courier New" pitchFamily="34" charset="0"/>
                <a:ea typeface="Courier New" pitchFamily="34" charset="-122"/>
                <a:cs typeface="Courier New" pitchFamily="34" charset="-120"/>
              </a:rPr>
              <a:t>em</a:t>
            </a:r>
            <a:endParaRPr lang="en-US" sz="2000" dirty="0"/>
          </a:p>
        </p:txBody>
      </p:sp>
      <p:sp>
        <p:nvSpPr>
          <p:cNvPr id="14" name="Text 12"/>
          <p:cNvSpPr/>
          <p:nvPr/>
        </p:nvSpPr>
        <p:spPr>
          <a:xfrm>
            <a:off x="822960" y="4663440"/>
            <a:ext cx="4800600" cy="822960"/>
          </a:xfrm>
          <a:prstGeom prst="rect">
            <a:avLst/>
          </a:prstGeom>
          <a:noFill/>
          <a:ln/>
        </p:spPr>
        <p:txBody>
          <a:bodyPr wrap="square" lIns="0" tIns="0" rIns="0" bIns="0" rtlCol="0" anchor="ctr"/>
          <a:lstStyle/>
          <a:p>
            <a:pPr indent="0" marL="0">
              <a:buNone/>
            </a:pPr>
            <a:r>
              <a:rPr lang="en-US" sz="1300" dirty="0">
                <a:solidFill>
                  <a:srgbClr val="3A2B26"/>
                </a:solidFill>
                <a:latin typeface="Calibri" pitchFamily="34" charset="0"/>
                <a:ea typeface="Calibri" pitchFamily="34" charset="-122"/>
                <a:cs typeface="Calibri" pitchFamily="34" charset="-120"/>
              </a:rPr>
              <a:t>A size relative to the current FONT SIZE. 2em means “twice as big as the text near it.”</a:t>
            </a:r>
            <a:endParaRPr lang="en-US" sz="1300" dirty="0"/>
          </a:p>
        </p:txBody>
      </p:sp>
      <p:sp>
        <p:nvSpPr>
          <p:cNvPr id="15" name="Text 13"/>
          <p:cNvSpPr/>
          <p:nvPr/>
        </p:nvSpPr>
        <p:spPr>
          <a:xfrm>
            <a:off x="822960" y="5257800"/>
            <a:ext cx="4800600" cy="411480"/>
          </a:xfrm>
          <a:prstGeom prst="rect">
            <a:avLst/>
          </a:prstGeom>
          <a:noFill/>
          <a:ln/>
        </p:spPr>
        <p:txBody>
          <a:bodyPr wrap="square" lIns="0" tIns="0" rIns="0" bIns="0" rtlCol="0" anchor="ctr"/>
          <a:lstStyle/>
          <a:p>
            <a:pPr indent="0" marL="0">
              <a:buNone/>
            </a:pPr>
            <a:r>
              <a:rPr lang="en-US" sz="1100" i="1" dirty="0">
                <a:solidFill>
                  <a:srgbClr val="777777"/>
                </a:solidFill>
                <a:latin typeface="Calibri" pitchFamily="34" charset="0"/>
                <a:ea typeface="Calibri" pitchFamily="34" charset="-122"/>
                <a:cs typeface="Calibri" pitchFamily="34" charset="-120"/>
              </a:rPr>
              <a:t>USE FOR: spacing that should grow or shrink with the text</a:t>
            </a:r>
            <a:endParaRPr lang="en-US" sz="1100" dirty="0"/>
          </a:p>
        </p:txBody>
      </p:sp>
      <p:sp>
        <p:nvSpPr>
          <p:cNvPr id="16" name="Shape 14"/>
          <p:cNvSpPr/>
          <p:nvPr/>
        </p:nvSpPr>
        <p:spPr>
          <a:xfrm>
            <a:off x="6080760" y="3886200"/>
            <a:ext cx="5349240" cy="1874520"/>
          </a:xfrm>
          <a:prstGeom prst="roundRect">
            <a:avLst>
              <a:gd name="adj" fmla="val 4878"/>
            </a:avLst>
          </a:prstGeom>
          <a:solidFill>
            <a:srgbClr val="F4EFE7"/>
          </a:solidFill>
          <a:ln/>
        </p:spPr>
      </p:sp>
      <p:sp>
        <p:nvSpPr>
          <p:cNvPr id="17" name="Text 15"/>
          <p:cNvSpPr/>
          <p:nvPr/>
        </p:nvSpPr>
        <p:spPr>
          <a:xfrm>
            <a:off x="6355080" y="4069080"/>
            <a:ext cx="4800600" cy="457200"/>
          </a:xfrm>
          <a:prstGeom prst="rect">
            <a:avLst/>
          </a:prstGeom>
          <a:noFill/>
          <a:ln/>
        </p:spPr>
        <p:txBody>
          <a:bodyPr wrap="square" lIns="0" tIns="0" rIns="0" bIns="0" rtlCol="0" anchor="ctr"/>
          <a:lstStyle/>
          <a:p>
            <a:pPr indent="0" marL="0">
              <a:buNone/>
            </a:pPr>
            <a:r>
              <a:rPr lang="en-US" sz="2000" b="1" dirty="0">
                <a:solidFill>
                  <a:srgbClr val="B85042"/>
                </a:solidFill>
                <a:latin typeface="Courier New" pitchFamily="34" charset="0"/>
                <a:ea typeface="Courier New" pitchFamily="34" charset="-122"/>
                <a:cs typeface="Courier New" pitchFamily="34" charset="-120"/>
              </a:rPr>
              <a:t>pt</a:t>
            </a:r>
            <a:endParaRPr lang="en-US" sz="2000" dirty="0"/>
          </a:p>
        </p:txBody>
      </p:sp>
      <p:sp>
        <p:nvSpPr>
          <p:cNvPr id="18" name="Text 16"/>
          <p:cNvSpPr/>
          <p:nvPr/>
        </p:nvSpPr>
        <p:spPr>
          <a:xfrm>
            <a:off x="6355080" y="4663440"/>
            <a:ext cx="4800600" cy="822960"/>
          </a:xfrm>
          <a:prstGeom prst="rect">
            <a:avLst/>
          </a:prstGeom>
          <a:noFill/>
          <a:ln/>
        </p:spPr>
        <p:txBody>
          <a:bodyPr wrap="square" lIns="0" tIns="0" rIns="0" bIns="0" rtlCol="0" anchor="ctr"/>
          <a:lstStyle/>
          <a:p>
            <a:pPr indent="0" marL="0">
              <a:buNone/>
            </a:pPr>
            <a:r>
              <a:rPr lang="en-US" sz="1300" dirty="0">
                <a:solidFill>
                  <a:srgbClr val="3A2B26"/>
                </a:solidFill>
                <a:latin typeface="Calibri" pitchFamily="34" charset="0"/>
                <a:ea typeface="Calibri" pitchFamily="34" charset="-122"/>
                <a:cs typeface="Calibri" pitchFamily="34" charset="-120"/>
              </a:rPr>
              <a:t>“points” — a unit from paper and print design (1pt ≈ 1.33px). Common in Word, not on the web.</a:t>
            </a:r>
            <a:endParaRPr lang="en-US" sz="1300" dirty="0"/>
          </a:p>
        </p:txBody>
      </p:sp>
      <p:sp>
        <p:nvSpPr>
          <p:cNvPr id="19" name="Text 17"/>
          <p:cNvSpPr/>
          <p:nvPr/>
        </p:nvSpPr>
        <p:spPr>
          <a:xfrm>
            <a:off x="6355080" y="5257800"/>
            <a:ext cx="4800600" cy="411480"/>
          </a:xfrm>
          <a:prstGeom prst="rect">
            <a:avLst/>
          </a:prstGeom>
          <a:noFill/>
          <a:ln/>
        </p:spPr>
        <p:txBody>
          <a:bodyPr wrap="square" lIns="0" tIns="0" rIns="0" bIns="0" rtlCol="0" anchor="ctr"/>
          <a:lstStyle/>
          <a:p>
            <a:pPr indent="0" marL="0">
              <a:buNone/>
            </a:pPr>
            <a:r>
              <a:rPr lang="en-US" sz="1100" i="1" dirty="0">
                <a:solidFill>
                  <a:srgbClr val="777777"/>
                </a:solidFill>
                <a:latin typeface="Calibri" pitchFamily="34" charset="0"/>
                <a:ea typeface="Calibri" pitchFamily="34" charset="-122"/>
                <a:cs typeface="Calibri" pitchFamily="34" charset="-120"/>
              </a:rPr>
              <a:t>USE FOR: almost nothing in CSS — just good to recognize it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300" b="1" spc="100" kern="0" dirty="0">
                <a:solidFill>
                  <a:srgbClr val="B85042"/>
                </a:solidFill>
                <a:latin typeface="Calibri" pitchFamily="34" charset="0"/>
                <a:ea typeface="Calibri" pitchFamily="34" charset="-122"/>
                <a:cs typeface="Calibri" pitchFamily="34" charset="-120"/>
              </a:rPr>
              <a:t>CONCEPT</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2700" b="1" dirty="0">
                <a:solidFill>
                  <a:srgbClr val="2D2D2D"/>
                </a:solidFill>
                <a:latin typeface="Cambria" pitchFamily="34" charset="0"/>
                <a:ea typeface="Cambria" pitchFamily="34" charset="-122"/>
                <a:cs typeface="Cambria" pitchFamily="34" charset="-120"/>
              </a:rPr>
              <a:t>The Box Model</a:t>
            </a:r>
            <a:endParaRPr lang="en-US" sz="2700" dirty="0"/>
          </a:p>
        </p:txBody>
      </p:sp>
      <p:sp>
        <p:nvSpPr>
          <p:cNvPr id="4" name="Shape 2"/>
          <p:cNvSpPr/>
          <p:nvPr/>
        </p:nvSpPr>
        <p:spPr>
          <a:xfrm>
            <a:off x="548640" y="1920240"/>
            <a:ext cx="5394960" cy="3931920"/>
          </a:xfrm>
          <a:prstGeom prst="roundRect">
            <a:avLst>
              <a:gd name="adj" fmla="val 1395"/>
            </a:avLst>
          </a:prstGeom>
          <a:solidFill>
            <a:srgbClr val="E8DCC8"/>
          </a:solidFill>
          <a:ln/>
        </p:spPr>
      </p:sp>
      <p:sp>
        <p:nvSpPr>
          <p:cNvPr id="5" name="Text 3"/>
          <p:cNvSpPr/>
          <p:nvPr/>
        </p:nvSpPr>
        <p:spPr>
          <a:xfrm>
            <a:off x="731520" y="2011680"/>
            <a:ext cx="1828800" cy="274320"/>
          </a:xfrm>
          <a:prstGeom prst="rect">
            <a:avLst/>
          </a:prstGeom>
          <a:noFill/>
          <a:ln/>
        </p:spPr>
        <p:txBody>
          <a:bodyPr wrap="square" lIns="0" tIns="0" rIns="0" bIns="0" rtlCol="0" anchor="ctr"/>
          <a:lstStyle/>
          <a:p>
            <a:pPr indent="0" marL="0">
              <a:buNone/>
            </a:pPr>
            <a:r>
              <a:rPr lang="en-US" sz="1000" b="1" dirty="0">
                <a:solidFill>
                  <a:srgbClr val="8A6F4A"/>
                </a:solidFill>
                <a:latin typeface="Calibri" pitchFamily="34" charset="0"/>
                <a:ea typeface="Calibri" pitchFamily="34" charset="-122"/>
                <a:cs typeface="Calibri" pitchFamily="34" charset="-120"/>
              </a:rPr>
              <a:t>margin</a:t>
            </a:r>
            <a:endParaRPr lang="en-US" sz="1000" dirty="0"/>
          </a:p>
        </p:txBody>
      </p:sp>
      <p:sp>
        <p:nvSpPr>
          <p:cNvPr id="6" name="Shape 4"/>
          <p:cNvSpPr/>
          <p:nvPr/>
        </p:nvSpPr>
        <p:spPr>
          <a:xfrm>
            <a:off x="1005840" y="2377440"/>
            <a:ext cx="4480560" cy="3108960"/>
          </a:xfrm>
          <a:prstGeom prst="roundRect">
            <a:avLst>
              <a:gd name="adj" fmla="val 1765"/>
            </a:avLst>
          </a:prstGeom>
          <a:solidFill>
            <a:srgbClr val="D9C9A3"/>
          </a:solidFill>
          <a:ln/>
        </p:spPr>
      </p:sp>
      <p:sp>
        <p:nvSpPr>
          <p:cNvPr id="7" name="Text 5"/>
          <p:cNvSpPr/>
          <p:nvPr/>
        </p:nvSpPr>
        <p:spPr>
          <a:xfrm>
            <a:off x="1188720" y="2468880"/>
            <a:ext cx="1828800" cy="274320"/>
          </a:xfrm>
          <a:prstGeom prst="rect">
            <a:avLst/>
          </a:prstGeom>
          <a:noFill/>
          <a:ln/>
        </p:spPr>
        <p:txBody>
          <a:bodyPr wrap="square" lIns="0" tIns="0" rIns="0" bIns="0" rtlCol="0" anchor="ctr"/>
          <a:lstStyle/>
          <a:p>
            <a:pPr indent="0" marL="0">
              <a:buNone/>
            </a:pPr>
            <a:r>
              <a:rPr lang="en-US" sz="1000" b="1" dirty="0">
                <a:solidFill>
                  <a:srgbClr val="6E5636"/>
                </a:solidFill>
                <a:latin typeface="Calibri" pitchFamily="34" charset="0"/>
                <a:ea typeface="Calibri" pitchFamily="34" charset="-122"/>
                <a:cs typeface="Calibri" pitchFamily="34" charset="-120"/>
              </a:rPr>
              <a:t>border</a:t>
            </a:r>
            <a:endParaRPr lang="en-US" sz="1000" dirty="0"/>
          </a:p>
        </p:txBody>
      </p:sp>
      <p:sp>
        <p:nvSpPr>
          <p:cNvPr id="8" name="Shape 6"/>
          <p:cNvSpPr/>
          <p:nvPr/>
        </p:nvSpPr>
        <p:spPr>
          <a:xfrm>
            <a:off x="1280160" y="2788920"/>
            <a:ext cx="3931920" cy="2468880"/>
          </a:xfrm>
          <a:prstGeom prst="roundRect">
            <a:avLst>
              <a:gd name="adj" fmla="val 2222"/>
            </a:avLst>
          </a:prstGeom>
          <a:solidFill>
            <a:srgbClr val="E7E8D1"/>
          </a:solidFill>
          <a:ln/>
        </p:spPr>
      </p:sp>
      <p:sp>
        <p:nvSpPr>
          <p:cNvPr id="9" name="Text 7"/>
          <p:cNvSpPr/>
          <p:nvPr/>
        </p:nvSpPr>
        <p:spPr>
          <a:xfrm>
            <a:off x="1463040" y="2880360"/>
            <a:ext cx="1828800" cy="274320"/>
          </a:xfrm>
          <a:prstGeom prst="rect">
            <a:avLst/>
          </a:prstGeom>
          <a:noFill/>
          <a:ln/>
        </p:spPr>
        <p:txBody>
          <a:bodyPr wrap="square" lIns="0" tIns="0" rIns="0" bIns="0" rtlCol="0" anchor="ctr"/>
          <a:lstStyle/>
          <a:p>
            <a:pPr indent="0" marL="0">
              <a:buNone/>
            </a:pPr>
            <a:r>
              <a:rPr lang="en-US" sz="1000" b="1" dirty="0">
                <a:solidFill>
                  <a:srgbClr val="6E5636"/>
                </a:solidFill>
                <a:latin typeface="Calibri" pitchFamily="34" charset="0"/>
                <a:ea typeface="Calibri" pitchFamily="34" charset="-122"/>
                <a:cs typeface="Calibri" pitchFamily="34" charset="-120"/>
              </a:rPr>
              <a:t>padding</a:t>
            </a:r>
            <a:endParaRPr lang="en-US" sz="1000" dirty="0"/>
          </a:p>
        </p:txBody>
      </p:sp>
      <p:sp>
        <p:nvSpPr>
          <p:cNvPr id="10" name="Shape 8"/>
          <p:cNvSpPr/>
          <p:nvPr/>
        </p:nvSpPr>
        <p:spPr>
          <a:xfrm>
            <a:off x="1737360" y="3337560"/>
            <a:ext cx="3017520" cy="1371600"/>
          </a:xfrm>
          <a:prstGeom prst="roundRect">
            <a:avLst/>
          </a:prstGeom>
          <a:solidFill>
            <a:srgbClr val="B85042"/>
          </a:solidFill>
          <a:ln/>
        </p:spPr>
      </p:sp>
      <p:sp>
        <p:nvSpPr>
          <p:cNvPr id="11" name="Text 9"/>
          <p:cNvSpPr/>
          <p:nvPr/>
        </p:nvSpPr>
        <p:spPr>
          <a:xfrm>
            <a:off x="1737360" y="3337560"/>
            <a:ext cx="3017520" cy="13716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content</a:t>
            </a:r>
            <a:endParaRPr lang="en-US" sz="1300" dirty="0"/>
          </a:p>
        </p:txBody>
      </p:sp>
      <p:sp>
        <p:nvSpPr>
          <p:cNvPr id="12" name="Shape 10"/>
          <p:cNvSpPr/>
          <p:nvPr/>
        </p:nvSpPr>
        <p:spPr>
          <a:xfrm>
            <a:off x="6309360" y="1920240"/>
            <a:ext cx="5303520" cy="3931920"/>
          </a:xfrm>
          <a:prstGeom prst="roundRect">
            <a:avLst>
              <a:gd name="adj" fmla="val 2326"/>
            </a:avLst>
          </a:prstGeom>
          <a:solidFill>
            <a:srgbClr val="E7E8D1"/>
          </a:solidFill>
          <a:ln/>
        </p:spPr>
      </p:sp>
      <p:sp>
        <p:nvSpPr>
          <p:cNvPr id="13" name="Text 11"/>
          <p:cNvSpPr/>
          <p:nvPr/>
        </p:nvSpPr>
        <p:spPr>
          <a:xfrm>
            <a:off x="6583680" y="2121408"/>
            <a:ext cx="4754880" cy="365760"/>
          </a:xfrm>
          <a:prstGeom prst="rect">
            <a:avLst/>
          </a:prstGeom>
          <a:noFill/>
          <a:ln/>
        </p:spPr>
        <p:txBody>
          <a:bodyPr wrap="square" lIns="0" tIns="0" rIns="0" bIns="0" rtlCol="0" anchor="ctr"/>
          <a:lstStyle/>
          <a:p>
            <a:pPr indent="0" marL="0">
              <a:buNone/>
            </a:pPr>
            <a:r>
              <a:rPr lang="en-US" sz="1500" b="1" dirty="0">
                <a:solidFill>
                  <a:srgbClr val="3A2B26"/>
                </a:solidFill>
                <a:latin typeface="Cambria" pitchFamily="34" charset="0"/>
                <a:ea typeface="Cambria" pitchFamily="34" charset="-122"/>
                <a:cs typeface="Cambria" pitchFamily="34" charset="-120"/>
              </a:rPr>
              <a:t>Every element is a box</a:t>
            </a:r>
            <a:endParaRPr lang="en-US" sz="1500" dirty="0"/>
          </a:p>
        </p:txBody>
      </p:sp>
      <p:sp>
        <p:nvSpPr>
          <p:cNvPr id="14" name="Text 12"/>
          <p:cNvSpPr/>
          <p:nvPr/>
        </p:nvSpPr>
        <p:spPr>
          <a:xfrm>
            <a:off x="6583680" y="2542032"/>
            <a:ext cx="4754880" cy="310896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Content — the text or image itself</a:t>
            </a:r>
            <a:endParaRPr lang="en-US" sz="1200" dirty="0"/>
          </a:p>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Padding — space inside the border, around the content</a:t>
            </a:r>
            <a:endParaRPr lang="en-US" sz="1200" dirty="0"/>
          </a:p>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Border — the edge of the box</a:t>
            </a:r>
            <a:endParaRPr lang="en-US" sz="1200" dirty="0"/>
          </a:p>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Margin — space outside the border, between this box and others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300" b="1" spc="100" kern="0" dirty="0">
                <a:solidFill>
                  <a:srgbClr val="B85042"/>
                </a:solidFill>
                <a:latin typeface="Calibri" pitchFamily="34" charset="0"/>
                <a:ea typeface="Calibri" pitchFamily="34" charset="-122"/>
                <a:cs typeface="Calibri" pitchFamily="34" charset="-120"/>
              </a:rPr>
              <a:t>CONCEPT</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2700" b="1" dirty="0">
                <a:solidFill>
                  <a:srgbClr val="2D2D2D"/>
                </a:solidFill>
                <a:latin typeface="Cambria" pitchFamily="34" charset="0"/>
                <a:ea typeface="Cambria" pitchFamily="34" charset="-122"/>
                <a:cs typeface="Cambria" pitchFamily="34" charset="-120"/>
              </a:rPr>
              <a:t>The display Property</a:t>
            </a:r>
            <a:endParaRPr lang="en-US" sz="2700" dirty="0"/>
          </a:p>
        </p:txBody>
      </p:sp>
      <p:sp>
        <p:nvSpPr>
          <p:cNvPr id="4" name="Shape 2"/>
          <p:cNvSpPr/>
          <p:nvPr/>
        </p:nvSpPr>
        <p:spPr>
          <a:xfrm>
            <a:off x="548640" y="1828800"/>
            <a:ext cx="3520440" cy="4206240"/>
          </a:xfrm>
          <a:prstGeom prst="roundRect">
            <a:avLst>
              <a:gd name="adj" fmla="val 2597"/>
            </a:avLst>
          </a:prstGeom>
          <a:solidFill>
            <a:srgbClr val="E7E8D1"/>
          </a:solidFill>
          <a:ln/>
        </p:spPr>
      </p:sp>
      <p:sp>
        <p:nvSpPr>
          <p:cNvPr id="5" name="Text 3"/>
          <p:cNvSpPr/>
          <p:nvPr/>
        </p:nvSpPr>
        <p:spPr>
          <a:xfrm>
            <a:off x="777240" y="2011680"/>
            <a:ext cx="3063240" cy="365760"/>
          </a:xfrm>
          <a:prstGeom prst="rect">
            <a:avLst/>
          </a:prstGeom>
          <a:noFill/>
          <a:ln/>
        </p:spPr>
        <p:txBody>
          <a:bodyPr wrap="square" lIns="0" tIns="0" rIns="0" bIns="0" rtlCol="0" anchor="ctr"/>
          <a:lstStyle/>
          <a:p>
            <a:pPr indent="0" marL="0">
              <a:buNone/>
            </a:pPr>
            <a:r>
              <a:rPr lang="en-US" sz="1500" b="1" dirty="0">
                <a:solidFill>
                  <a:srgbClr val="B85042"/>
                </a:solidFill>
                <a:latin typeface="Courier New" pitchFamily="34" charset="0"/>
                <a:ea typeface="Courier New" pitchFamily="34" charset="-122"/>
                <a:cs typeface="Courier New" pitchFamily="34" charset="-120"/>
              </a:rPr>
              <a:t>block</a:t>
            </a:r>
            <a:endParaRPr lang="en-US" sz="1500" dirty="0"/>
          </a:p>
        </p:txBody>
      </p:sp>
      <p:sp>
        <p:nvSpPr>
          <p:cNvPr id="6" name="Shape 4"/>
          <p:cNvSpPr/>
          <p:nvPr/>
        </p:nvSpPr>
        <p:spPr>
          <a:xfrm>
            <a:off x="731520" y="2468880"/>
            <a:ext cx="3154680" cy="1463040"/>
          </a:xfrm>
          <a:prstGeom prst="roundRect">
            <a:avLst>
              <a:gd name="adj" fmla="val 3750"/>
            </a:avLst>
          </a:prstGeom>
          <a:solidFill>
            <a:srgbClr val="FFFFFF"/>
          </a:solidFill>
          <a:ln w="12700">
            <a:solidFill>
              <a:srgbClr val="A7BEAE"/>
            </a:solidFill>
            <a:prstDash val="solid"/>
          </a:ln>
        </p:spPr>
      </p:sp>
      <p:sp>
        <p:nvSpPr>
          <p:cNvPr id="7" name="Shape 5"/>
          <p:cNvSpPr/>
          <p:nvPr/>
        </p:nvSpPr>
        <p:spPr>
          <a:xfrm>
            <a:off x="868680" y="2606040"/>
            <a:ext cx="2880360" cy="292608"/>
          </a:xfrm>
          <a:prstGeom prst="roundRect">
            <a:avLst>
              <a:gd name="adj" fmla="val 15625"/>
            </a:avLst>
          </a:prstGeom>
          <a:solidFill>
            <a:srgbClr val="A7BEAE"/>
          </a:solidFill>
          <a:ln/>
        </p:spPr>
      </p:sp>
      <p:sp>
        <p:nvSpPr>
          <p:cNvPr id="8" name="Shape 6"/>
          <p:cNvSpPr/>
          <p:nvPr/>
        </p:nvSpPr>
        <p:spPr>
          <a:xfrm>
            <a:off x="868680" y="3035808"/>
            <a:ext cx="2880360" cy="292608"/>
          </a:xfrm>
          <a:prstGeom prst="roundRect">
            <a:avLst>
              <a:gd name="adj" fmla="val 15625"/>
            </a:avLst>
          </a:prstGeom>
          <a:solidFill>
            <a:srgbClr val="B85042"/>
          </a:solidFill>
          <a:ln/>
        </p:spPr>
      </p:sp>
      <p:sp>
        <p:nvSpPr>
          <p:cNvPr id="9" name="Shape 7"/>
          <p:cNvSpPr/>
          <p:nvPr/>
        </p:nvSpPr>
        <p:spPr>
          <a:xfrm>
            <a:off x="868680" y="3465576"/>
            <a:ext cx="2880360" cy="292608"/>
          </a:xfrm>
          <a:prstGeom prst="roundRect">
            <a:avLst>
              <a:gd name="adj" fmla="val 15625"/>
            </a:avLst>
          </a:prstGeom>
          <a:solidFill>
            <a:srgbClr val="A7BEAE"/>
          </a:solidFill>
          <a:ln/>
        </p:spPr>
      </p:sp>
      <p:sp>
        <p:nvSpPr>
          <p:cNvPr id="10" name="Text 8"/>
          <p:cNvSpPr/>
          <p:nvPr/>
        </p:nvSpPr>
        <p:spPr>
          <a:xfrm>
            <a:off x="777240" y="4114800"/>
            <a:ext cx="3063240" cy="1737360"/>
          </a:xfrm>
          <a:prstGeom prst="rect">
            <a:avLst/>
          </a:prstGeom>
          <a:noFill/>
          <a:ln/>
        </p:spPr>
        <p:txBody>
          <a:bodyPr wrap="square" lIns="0" tIns="0" rIns="0" bIns="0" rtlCol="0" anchor="ctr"/>
          <a:lstStyle/>
          <a:p>
            <a:pPr indent="0" marL="0">
              <a:lnSpc>
                <a:spcPct val="120000"/>
              </a:lnSpc>
              <a:buNone/>
            </a:pPr>
            <a:r>
              <a:rPr lang="en-US" sz="1150" dirty="0">
                <a:solidFill>
                  <a:srgbClr val="3A2B26"/>
                </a:solidFill>
                <a:latin typeface="Calibri" pitchFamily="34" charset="0"/>
                <a:ea typeface="Calibri" pitchFamily="34" charset="-122"/>
                <a:cs typeface="Calibri" pitchFamily="34" charset="-120"/>
              </a:rPr>
              <a:t>Takes up its own full line, stacks top to bottom.</a:t>
            </a:r>
            <a:endParaRPr lang="en-US" sz="1150" dirty="0"/>
          </a:p>
          <a:p>
            <a:pPr indent="0" marL="0">
              <a:lnSpc>
                <a:spcPct val="120000"/>
              </a:lnSpc>
              <a:buNone/>
            </a:pPr>
            <a:r>
              <a:rPr lang="en-US" sz="1150" dirty="0">
                <a:solidFill>
                  <a:srgbClr val="3A2B26"/>
                </a:solidFill>
                <a:latin typeface="Calibri" pitchFamily="34" charset="0"/>
                <a:ea typeface="Calibri" pitchFamily="34" charset="-122"/>
                <a:cs typeface="Calibri" pitchFamily="34" charset="-120"/>
              </a:rPr>
              <a:t>Example: &lt;div&gt;, &lt;p&gt;, &lt;section&gt;</a:t>
            </a:r>
            <a:endParaRPr lang="en-US" sz="1150" dirty="0"/>
          </a:p>
        </p:txBody>
      </p:sp>
      <p:sp>
        <p:nvSpPr>
          <p:cNvPr id="11" name="Shape 9"/>
          <p:cNvSpPr/>
          <p:nvPr/>
        </p:nvSpPr>
        <p:spPr>
          <a:xfrm>
            <a:off x="4343400" y="1828800"/>
            <a:ext cx="3520440" cy="4206240"/>
          </a:xfrm>
          <a:prstGeom prst="roundRect">
            <a:avLst>
              <a:gd name="adj" fmla="val 2597"/>
            </a:avLst>
          </a:prstGeom>
          <a:solidFill>
            <a:srgbClr val="F4EFE7"/>
          </a:solidFill>
          <a:ln/>
        </p:spPr>
      </p:sp>
      <p:sp>
        <p:nvSpPr>
          <p:cNvPr id="12" name="Text 10"/>
          <p:cNvSpPr/>
          <p:nvPr/>
        </p:nvSpPr>
        <p:spPr>
          <a:xfrm>
            <a:off x="4572000" y="2011680"/>
            <a:ext cx="3063240" cy="365760"/>
          </a:xfrm>
          <a:prstGeom prst="rect">
            <a:avLst/>
          </a:prstGeom>
          <a:noFill/>
          <a:ln/>
        </p:spPr>
        <p:txBody>
          <a:bodyPr wrap="square" lIns="0" tIns="0" rIns="0" bIns="0" rtlCol="0" anchor="ctr"/>
          <a:lstStyle/>
          <a:p>
            <a:pPr indent="0" marL="0">
              <a:buNone/>
            </a:pPr>
            <a:r>
              <a:rPr lang="en-US" sz="1500" b="1" dirty="0">
                <a:solidFill>
                  <a:srgbClr val="B85042"/>
                </a:solidFill>
                <a:latin typeface="Courier New" pitchFamily="34" charset="0"/>
                <a:ea typeface="Courier New" pitchFamily="34" charset="-122"/>
                <a:cs typeface="Courier New" pitchFamily="34" charset="-120"/>
              </a:rPr>
              <a:t>inline</a:t>
            </a:r>
            <a:endParaRPr lang="en-US" sz="1500" dirty="0"/>
          </a:p>
        </p:txBody>
      </p:sp>
      <p:sp>
        <p:nvSpPr>
          <p:cNvPr id="13" name="Shape 11"/>
          <p:cNvSpPr/>
          <p:nvPr/>
        </p:nvSpPr>
        <p:spPr>
          <a:xfrm>
            <a:off x="4526280" y="2468880"/>
            <a:ext cx="3154680" cy="1463040"/>
          </a:xfrm>
          <a:prstGeom prst="roundRect">
            <a:avLst>
              <a:gd name="adj" fmla="val 3750"/>
            </a:avLst>
          </a:prstGeom>
          <a:solidFill>
            <a:srgbClr val="FFFFFF"/>
          </a:solidFill>
          <a:ln w="12700">
            <a:solidFill>
              <a:srgbClr val="A7BEAE"/>
            </a:solidFill>
            <a:prstDash val="solid"/>
          </a:ln>
        </p:spPr>
      </p:sp>
      <p:sp>
        <p:nvSpPr>
          <p:cNvPr id="14" name="Shape 12"/>
          <p:cNvSpPr/>
          <p:nvPr/>
        </p:nvSpPr>
        <p:spPr>
          <a:xfrm>
            <a:off x="4663440" y="2651760"/>
            <a:ext cx="411480" cy="237744"/>
          </a:xfrm>
          <a:prstGeom prst="roundRect">
            <a:avLst>
              <a:gd name="adj" fmla="val 15385"/>
            </a:avLst>
          </a:prstGeom>
          <a:solidFill>
            <a:srgbClr val="A7BEAE"/>
          </a:solidFill>
          <a:ln/>
        </p:spPr>
      </p:sp>
      <p:sp>
        <p:nvSpPr>
          <p:cNvPr id="15" name="Shape 13"/>
          <p:cNvSpPr/>
          <p:nvPr/>
        </p:nvSpPr>
        <p:spPr>
          <a:xfrm>
            <a:off x="5166360" y="2651760"/>
            <a:ext cx="320040" cy="237744"/>
          </a:xfrm>
          <a:prstGeom prst="roundRect">
            <a:avLst>
              <a:gd name="adj" fmla="val 15385"/>
            </a:avLst>
          </a:prstGeom>
          <a:solidFill>
            <a:srgbClr val="A7BEAE"/>
          </a:solidFill>
          <a:ln/>
        </p:spPr>
      </p:sp>
      <p:sp>
        <p:nvSpPr>
          <p:cNvPr id="16" name="Shape 14"/>
          <p:cNvSpPr/>
          <p:nvPr/>
        </p:nvSpPr>
        <p:spPr>
          <a:xfrm>
            <a:off x="5577840" y="2651760"/>
            <a:ext cx="502920" cy="237744"/>
          </a:xfrm>
          <a:prstGeom prst="roundRect">
            <a:avLst>
              <a:gd name="adj" fmla="val 15385"/>
            </a:avLst>
          </a:prstGeom>
          <a:solidFill>
            <a:srgbClr val="B85042"/>
          </a:solidFill>
          <a:ln/>
        </p:spPr>
      </p:sp>
      <p:sp>
        <p:nvSpPr>
          <p:cNvPr id="17" name="Shape 15"/>
          <p:cNvSpPr/>
          <p:nvPr/>
        </p:nvSpPr>
        <p:spPr>
          <a:xfrm>
            <a:off x="6172200" y="2651760"/>
            <a:ext cx="365760" cy="237744"/>
          </a:xfrm>
          <a:prstGeom prst="roundRect">
            <a:avLst>
              <a:gd name="adj" fmla="val 15385"/>
            </a:avLst>
          </a:prstGeom>
          <a:solidFill>
            <a:srgbClr val="A7BEAE"/>
          </a:solidFill>
          <a:ln/>
        </p:spPr>
      </p:sp>
      <p:sp>
        <p:nvSpPr>
          <p:cNvPr id="18" name="Shape 16"/>
          <p:cNvSpPr/>
          <p:nvPr/>
        </p:nvSpPr>
        <p:spPr>
          <a:xfrm>
            <a:off x="6629400" y="2651760"/>
            <a:ext cx="457200" cy="237744"/>
          </a:xfrm>
          <a:prstGeom prst="roundRect">
            <a:avLst>
              <a:gd name="adj" fmla="val 15385"/>
            </a:avLst>
          </a:prstGeom>
          <a:solidFill>
            <a:srgbClr val="A7BEAE"/>
          </a:solidFill>
          <a:ln/>
        </p:spPr>
      </p:sp>
      <p:sp>
        <p:nvSpPr>
          <p:cNvPr id="19" name="Shape 17"/>
          <p:cNvSpPr/>
          <p:nvPr/>
        </p:nvSpPr>
        <p:spPr>
          <a:xfrm>
            <a:off x="4663440" y="3072384"/>
            <a:ext cx="365760" cy="237744"/>
          </a:xfrm>
          <a:prstGeom prst="roundRect">
            <a:avLst>
              <a:gd name="adj" fmla="val 15385"/>
            </a:avLst>
          </a:prstGeom>
          <a:solidFill>
            <a:srgbClr val="A7BEAE"/>
          </a:solidFill>
          <a:ln/>
        </p:spPr>
      </p:sp>
      <p:sp>
        <p:nvSpPr>
          <p:cNvPr id="20" name="Shape 18"/>
          <p:cNvSpPr/>
          <p:nvPr/>
        </p:nvSpPr>
        <p:spPr>
          <a:xfrm>
            <a:off x="5120640" y="3072384"/>
            <a:ext cx="457200" cy="237744"/>
          </a:xfrm>
          <a:prstGeom prst="roundRect">
            <a:avLst>
              <a:gd name="adj" fmla="val 15385"/>
            </a:avLst>
          </a:prstGeom>
          <a:solidFill>
            <a:srgbClr val="A7BEAE"/>
          </a:solidFill>
          <a:ln/>
        </p:spPr>
      </p:sp>
      <p:sp>
        <p:nvSpPr>
          <p:cNvPr id="21" name="Shape 19"/>
          <p:cNvSpPr/>
          <p:nvPr/>
        </p:nvSpPr>
        <p:spPr>
          <a:xfrm>
            <a:off x="5669280" y="3072384"/>
            <a:ext cx="320040" cy="237744"/>
          </a:xfrm>
          <a:prstGeom prst="roundRect">
            <a:avLst>
              <a:gd name="adj" fmla="val 15385"/>
            </a:avLst>
          </a:prstGeom>
          <a:solidFill>
            <a:srgbClr val="A7BEAE"/>
          </a:solidFill>
          <a:ln/>
        </p:spPr>
      </p:sp>
      <p:sp>
        <p:nvSpPr>
          <p:cNvPr id="22" name="Shape 20"/>
          <p:cNvSpPr/>
          <p:nvPr/>
        </p:nvSpPr>
        <p:spPr>
          <a:xfrm>
            <a:off x="6080760" y="3072384"/>
            <a:ext cx="411480" cy="237744"/>
          </a:xfrm>
          <a:prstGeom prst="roundRect">
            <a:avLst>
              <a:gd name="adj" fmla="val 15385"/>
            </a:avLst>
          </a:prstGeom>
          <a:solidFill>
            <a:srgbClr val="A7BEAE"/>
          </a:solidFill>
          <a:ln/>
        </p:spPr>
      </p:sp>
      <p:sp>
        <p:nvSpPr>
          <p:cNvPr id="23" name="Shape 21"/>
          <p:cNvSpPr/>
          <p:nvPr/>
        </p:nvSpPr>
        <p:spPr>
          <a:xfrm>
            <a:off x="4663440" y="3493008"/>
            <a:ext cx="457200" cy="237744"/>
          </a:xfrm>
          <a:prstGeom prst="roundRect">
            <a:avLst>
              <a:gd name="adj" fmla="val 15385"/>
            </a:avLst>
          </a:prstGeom>
          <a:solidFill>
            <a:srgbClr val="A7BEAE"/>
          </a:solidFill>
          <a:ln/>
        </p:spPr>
      </p:sp>
      <p:sp>
        <p:nvSpPr>
          <p:cNvPr id="24" name="Shape 22"/>
          <p:cNvSpPr/>
          <p:nvPr/>
        </p:nvSpPr>
        <p:spPr>
          <a:xfrm>
            <a:off x="5212080" y="3493008"/>
            <a:ext cx="365760" cy="237744"/>
          </a:xfrm>
          <a:prstGeom prst="roundRect">
            <a:avLst>
              <a:gd name="adj" fmla="val 15385"/>
            </a:avLst>
          </a:prstGeom>
          <a:solidFill>
            <a:srgbClr val="A7BEAE"/>
          </a:solidFill>
          <a:ln/>
        </p:spPr>
      </p:sp>
      <p:sp>
        <p:nvSpPr>
          <p:cNvPr id="25" name="Text 23"/>
          <p:cNvSpPr/>
          <p:nvPr/>
        </p:nvSpPr>
        <p:spPr>
          <a:xfrm>
            <a:off x="4572000" y="4114800"/>
            <a:ext cx="3063240" cy="1737360"/>
          </a:xfrm>
          <a:prstGeom prst="rect">
            <a:avLst/>
          </a:prstGeom>
          <a:noFill/>
          <a:ln/>
        </p:spPr>
        <p:txBody>
          <a:bodyPr wrap="square" lIns="0" tIns="0" rIns="0" bIns="0" rtlCol="0" anchor="ctr"/>
          <a:lstStyle/>
          <a:p>
            <a:pPr indent="0" marL="0">
              <a:lnSpc>
                <a:spcPct val="120000"/>
              </a:lnSpc>
              <a:buNone/>
            </a:pPr>
            <a:r>
              <a:rPr lang="en-US" sz="1150" dirty="0">
                <a:solidFill>
                  <a:srgbClr val="3A2B26"/>
                </a:solidFill>
                <a:latin typeface="Calibri" pitchFamily="34" charset="0"/>
                <a:ea typeface="Calibri" pitchFamily="34" charset="-122"/>
                <a:cs typeface="Calibri" pitchFamily="34" charset="-120"/>
              </a:rPr>
              <a:t>Stays inside a line of text, flows left to right.</a:t>
            </a:r>
            <a:endParaRPr lang="en-US" sz="1150" dirty="0"/>
          </a:p>
          <a:p>
            <a:pPr indent="0" marL="0">
              <a:lnSpc>
                <a:spcPct val="120000"/>
              </a:lnSpc>
              <a:buNone/>
            </a:pPr>
            <a:r>
              <a:rPr lang="en-US" sz="1150" dirty="0">
                <a:solidFill>
                  <a:srgbClr val="3A2B26"/>
                </a:solidFill>
                <a:latin typeface="Calibri" pitchFamily="34" charset="0"/>
                <a:ea typeface="Calibri" pitchFamily="34" charset="-122"/>
                <a:cs typeface="Calibri" pitchFamily="34" charset="-120"/>
              </a:rPr>
              <a:t>Example: &lt;span&gt;, &lt;a&gt;, &lt;strong&gt;</a:t>
            </a:r>
            <a:endParaRPr lang="en-US" sz="1150" dirty="0"/>
          </a:p>
        </p:txBody>
      </p:sp>
      <p:sp>
        <p:nvSpPr>
          <p:cNvPr id="26" name="Shape 24"/>
          <p:cNvSpPr/>
          <p:nvPr/>
        </p:nvSpPr>
        <p:spPr>
          <a:xfrm>
            <a:off x="8138160" y="1828800"/>
            <a:ext cx="3520440" cy="4206240"/>
          </a:xfrm>
          <a:prstGeom prst="roundRect">
            <a:avLst>
              <a:gd name="adj" fmla="val 2597"/>
            </a:avLst>
          </a:prstGeom>
          <a:solidFill>
            <a:srgbClr val="E7E8D1"/>
          </a:solidFill>
          <a:ln/>
        </p:spPr>
      </p:sp>
      <p:sp>
        <p:nvSpPr>
          <p:cNvPr id="27" name="Text 25"/>
          <p:cNvSpPr/>
          <p:nvPr/>
        </p:nvSpPr>
        <p:spPr>
          <a:xfrm>
            <a:off x="8366760" y="2011680"/>
            <a:ext cx="3063240" cy="365760"/>
          </a:xfrm>
          <a:prstGeom prst="rect">
            <a:avLst/>
          </a:prstGeom>
          <a:noFill/>
          <a:ln/>
        </p:spPr>
        <p:txBody>
          <a:bodyPr wrap="square" lIns="0" tIns="0" rIns="0" bIns="0" rtlCol="0" anchor="ctr"/>
          <a:lstStyle/>
          <a:p>
            <a:pPr indent="0" marL="0">
              <a:buNone/>
            </a:pPr>
            <a:r>
              <a:rPr lang="en-US" sz="1500" b="1" dirty="0">
                <a:solidFill>
                  <a:srgbClr val="B85042"/>
                </a:solidFill>
                <a:latin typeface="Courier New" pitchFamily="34" charset="0"/>
                <a:ea typeface="Courier New" pitchFamily="34" charset="-122"/>
                <a:cs typeface="Courier New" pitchFamily="34" charset="-120"/>
              </a:rPr>
              <a:t>flex / grid</a:t>
            </a:r>
            <a:endParaRPr lang="en-US" sz="1500" dirty="0"/>
          </a:p>
        </p:txBody>
      </p:sp>
      <p:sp>
        <p:nvSpPr>
          <p:cNvPr id="28" name="Shape 26"/>
          <p:cNvSpPr/>
          <p:nvPr/>
        </p:nvSpPr>
        <p:spPr>
          <a:xfrm>
            <a:off x="8321040" y="2468880"/>
            <a:ext cx="3154680" cy="1463040"/>
          </a:xfrm>
          <a:prstGeom prst="roundRect">
            <a:avLst>
              <a:gd name="adj" fmla="val 3750"/>
            </a:avLst>
          </a:prstGeom>
          <a:solidFill>
            <a:srgbClr val="FFFFFF"/>
          </a:solidFill>
          <a:ln w="12700">
            <a:solidFill>
              <a:srgbClr val="A7BEAE"/>
            </a:solidFill>
            <a:prstDash val="solid"/>
          </a:ln>
        </p:spPr>
      </p:sp>
      <p:sp>
        <p:nvSpPr>
          <p:cNvPr id="29" name="Shape 27"/>
          <p:cNvSpPr/>
          <p:nvPr/>
        </p:nvSpPr>
        <p:spPr>
          <a:xfrm>
            <a:off x="8481060" y="2788920"/>
            <a:ext cx="822960" cy="822960"/>
          </a:xfrm>
          <a:prstGeom prst="roundRect">
            <a:avLst>
              <a:gd name="adj" fmla="val 6667"/>
            </a:avLst>
          </a:prstGeom>
          <a:solidFill>
            <a:srgbClr val="A7BEAE"/>
          </a:solidFill>
          <a:ln/>
        </p:spPr>
      </p:sp>
      <p:sp>
        <p:nvSpPr>
          <p:cNvPr id="30" name="Shape 28"/>
          <p:cNvSpPr/>
          <p:nvPr/>
        </p:nvSpPr>
        <p:spPr>
          <a:xfrm>
            <a:off x="9486900" y="2788920"/>
            <a:ext cx="822960" cy="822960"/>
          </a:xfrm>
          <a:prstGeom prst="roundRect">
            <a:avLst>
              <a:gd name="adj" fmla="val 6667"/>
            </a:avLst>
          </a:prstGeom>
          <a:solidFill>
            <a:srgbClr val="B85042"/>
          </a:solidFill>
          <a:ln/>
        </p:spPr>
      </p:sp>
      <p:sp>
        <p:nvSpPr>
          <p:cNvPr id="31" name="Shape 29"/>
          <p:cNvSpPr/>
          <p:nvPr/>
        </p:nvSpPr>
        <p:spPr>
          <a:xfrm>
            <a:off x="10492740" y="2788920"/>
            <a:ext cx="822960" cy="822960"/>
          </a:xfrm>
          <a:prstGeom prst="roundRect">
            <a:avLst>
              <a:gd name="adj" fmla="val 6667"/>
            </a:avLst>
          </a:prstGeom>
          <a:solidFill>
            <a:srgbClr val="A7BEAE"/>
          </a:solidFill>
          <a:ln/>
        </p:spPr>
      </p:sp>
      <p:sp>
        <p:nvSpPr>
          <p:cNvPr id="32" name="Text 30"/>
          <p:cNvSpPr/>
          <p:nvPr/>
        </p:nvSpPr>
        <p:spPr>
          <a:xfrm>
            <a:off x="8366760" y="4114800"/>
            <a:ext cx="3063240" cy="1737360"/>
          </a:xfrm>
          <a:prstGeom prst="rect">
            <a:avLst/>
          </a:prstGeom>
          <a:noFill/>
          <a:ln/>
        </p:spPr>
        <p:txBody>
          <a:bodyPr wrap="square" lIns="0" tIns="0" rIns="0" bIns="0" rtlCol="0" anchor="ctr"/>
          <a:lstStyle/>
          <a:p>
            <a:pPr indent="0" marL="0">
              <a:lnSpc>
                <a:spcPct val="120000"/>
              </a:lnSpc>
              <a:buNone/>
            </a:pPr>
            <a:r>
              <a:rPr lang="en-US" sz="1150" dirty="0">
                <a:solidFill>
                  <a:srgbClr val="3A2B26"/>
                </a:solidFill>
                <a:latin typeface="Calibri" pitchFamily="34" charset="0"/>
                <a:ea typeface="Calibri" pitchFamily="34" charset="-122"/>
                <a:cs typeface="Calibri" pitchFamily="34" charset="-120"/>
              </a:rPr>
              <a:t>A container that arranges its children.</a:t>
            </a:r>
            <a:endParaRPr lang="en-US" sz="1150" dirty="0"/>
          </a:p>
          <a:p>
            <a:pPr indent="0" marL="0">
              <a:lnSpc>
                <a:spcPct val="120000"/>
              </a:lnSpc>
              <a:buNone/>
            </a:pPr>
            <a:r>
              <a:rPr lang="en-US" sz="1150" dirty="0">
                <a:solidFill>
                  <a:srgbClr val="3A2B26"/>
                </a:solidFill>
                <a:latin typeface="Calibri" pitchFamily="34" charset="0"/>
                <a:ea typeface="Calibri" pitchFamily="34" charset="-122"/>
                <a:cs typeface="Calibri" pitchFamily="34" charset="-120"/>
              </a:rPr>
              <a:t>display: flex; or display: grid;</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300" b="1" spc="100" kern="0" dirty="0">
                <a:solidFill>
                  <a:srgbClr val="B85042"/>
                </a:solidFill>
                <a:latin typeface="Calibri" pitchFamily="34" charset="0"/>
                <a:ea typeface="Calibri" pitchFamily="34" charset="-122"/>
                <a:cs typeface="Calibri" pitchFamily="34" charset="-120"/>
              </a:rPr>
              <a:t>CONCEPT</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2700" b="1" dirty="0">
                <a:solidFill>
                  <a:srgbClr val="2D2D2D"/>
                </a:solidFill>
                <a:latin typeface="Cambria" pitchFamily="34" charset="0"/>
                <a:ea typeface="Cambria" pitchFamily="34" charset="-122"/>
                <a:cs typeface="Cambria" pitchFamily="34" charset="-120"/>
              </a:rPr>
              <a:t>Flexbox — Arranging Items in a Row</a:t>
            </a:r>
            <a:endParaRPr lang="en-US" sz="2700" dirty="0"/>
          </a:p>
        </p:txBody>
      </p:sp>
      <p:sp>
        <p:nvSpPr>
          <p:cNvPr id="4" name="Shape 2"/>
          <p:cNvSpPr/>
          <p:nvPr/>
        </p:nvSpPr>
        <p:spPr>
          <a:xfrm>
            <a:off x="548640" y="1828800"/>
            <a:ext cx="5577840" cy="1920240"/>
          </a:xfrm>
          <a:prstGeom prst="roundRect">
            <a:avLst>
              <a:gd name="adj" fmla="val 4762"/>
            </a:avLst>
          </a:prstGeom>
          <a:solidFill>
            <a:srgbClr val="2D2321"/>
          </a:solidFill>
          <a:ln/>
        </p:spPr>
      </p:sp>
      <p:sp>
        <p:nvSpPr>
          <p:cNvPr id="5" name="Shape 3"/>
          <p:cNvSpPr/>
          <p:nvPr/>
        </p:nvSpPr>
        <p:spPr>
          <a:xfrm>
            <a:off x="749808" y="1993392"/>
            <a:ext cx="128016" cy="128016"/>
          </a:xfrm>
          <a:prstGeom prst="ellipse">
            <a:avLst/>
          </a:prstGeom>
          <a:solidFill>
            <a:srgbClr val="E06C75"/>
          </a:solidFill>
          <a:ln/>
        </p:spPr>
      </p:sp>
      <p:sp>
        <p:nvSpPr>
          <p:cNvPr id="6" name="Shape 4"/>
          <p:cNvSpPr/>
          <p:nvPr/>
        </p:nvSpPr>
        <p:spPr>
          <a:xfrm>
            <a:off x="978408" y="1993392"/>
            <a:ext cx="128016" cy="128016"/>
          </a:xfrm>
          <a:prstGeom prst="ellipse">
            <a:avLst/>
          </a:prstGeom>
          <a:solidFill>
            <a:srgbClr val="E5C07B"/>
          </a:solidFill>
          <a:ln/>
        </p:spPr>
      </p:sp>
      <p:sp>
        <p:nvSpPr>
          <p:cNvPr id="7" name="Shape 5"/>
          <p:cNvSpPr/>
          <p:nvPr/>
        </p:nvSpPr>
        <p:spPr>
          <a:xfrm>
            <a:off x="1207008" y="1993392"/>
            <a:ext cx="128016" cy="128016"/>
          </a:xfrm>
          <a:prstGeom prst="ellipse">
            <a:avLst/>
          </a:prstGeom>
          <a:solidFill>
            <a:srgbClr val="98C379"/>
          </a:solidFill>
          <a:ln/>
        </p:spPr>
      </p:sp>
      <p:sp>
        <p:nvSpPr>
          <p:cNvPr id="8" name="Text 6"/>
          <p:cNvSpPr/>
          <p:nvPr/>
        </p:nvSpPr>
        <p:spPr>
          <a:xfrm>
            <a:off x="804672" y="2286000"/>
            <a:ext cx="5065776" cy="1325880"/>
          </a:xfrm>
          <a:prstGeom prst="rect">
            <a:avLst/>
          </a:prstGeom>
          <a:noFill/>
          <a:ln/>
        </p:spPr>
        <p:txBody>
          <a:bodyPr wrap="square" lIns="0" tIns="0" rIns="0" bIns="0" rtlCol="0" anchor="ctr"/>
          <a:lstStyle/>
          <a:p>
            <a:pPr indent="0" marL="0">
              <a:lnSpc>
                <a:spcPct val="122000"/>
              </a:lnSpc>
              <a:buNone/>
            </a:pPr>
            <a:r>
              <a:rPr lang="en-US" sz="1200" dirty="0">
                <a:solidFill>
                  <a:srgbClr val="E7E8D1"/>
                </a:solidFill>
                <a:latin typeface="Courier New" pitchFamily="34" charset="0"/>
                <a:ea typeface="Courier New" pitchFamily="34" charset="-122"/>
                <a:cs typeface="Courier New" pitchFamily="34" charset="-120"/>
              </a:rPr>
              <a:t>.site-header {</a:t>
            </a:r>
            <a:endParaRPr lang="en-US" sz="1200" dirty="0"/>
          </a:p>
          <a:p>
            <a:pPr indent="0" marL="0">
              <a:lnSpc>
                <a:spcPct val="122000"/>
              </a:lnSpc>
              <a:buNone/>
            </a:pPr>
            <a:r>
              <a:rPr lang="en-US" sz="1200" dirty="0">
                <a:solidFill>
                  <a:srgbClr val="E7E8D1"/>
                </a:solidFill>
                <a:latin typeface="Courier New" pitchFamily="34" charset="0"/>
                <a:ea typeface="Courier New" pitchFamily="34" charset="-122"/>
                <a:cs typeface="Courier New" pitchFamily="34" charset="-120"/>
              </a:rPr>
              <a:t>  display: flex;</a:t>
            </a:r>
            <a:endParaRPr lang="en-US" sz="1200" dirty="0"/>
          </a:p>
          <a:p>
            <a:pPr indent="0" marL="0">
              <a:lnSpc>
                <a:spcPct val="122000"/>
              </a:lnSpc>
              <a:buNone/>
            </a:pPr>
            <a:r>
              <a:rPr lang="en-US" sz="1200" dirty="0">
                <a:solidFill>
                  <a:srgbClr val="E7E8D1"/>
                </a:solidFill>
                <a:latin typeface="Courier New" pitchFamily="34" charset="0"/>
                <a:ea typeface="Courier New" pitchFamily="34" charset="-122"/>
                <a:cs typeface="Courier New" pitchFamily="34" charset="-120"/>
              </a:rPr>
              <a:t>}</a:t>
            </a:r>
            <a:endParaRPr lang="en-US" sz="1200" dirty="0"/>
          </a:p>
        </p:txBody>
      </p:sp>
      <p:sp>
        <p:nvSpPr>
          <p:cNvPr id="9" name="Shape 7"/>
          <p:cNvSpPr/>
          <p:nvPr/>
        </p:nvSpPr>
        <p:spPr>
          <a:xfrm>
            <a:off x="6355080" y="1828800"/>
            <a:ext cx="5257800" cy="1920240"/>
          </a:xfrm>
          <a:prstGeom prst="roundRect">
            <a:avLst>
              <a:gd name="adj" fmla="val 4762"/>
            </a:avLst>
          </a:prstGeom>
          <a:solidFill>
            <a:srgbClr val="FFFFFF"/>
          </a:solidFill>
          <a:ln w="15875">
            <a:solidFill>
              <a:srgbClr val="A7BEAE"/>
            </a:solidFill>
            <a:prstDash val="solid"/>
          </a:ln>
        </p:spPr>
      </p:sp>
      <p:sp>
        <p:nvSpPr>
          <p:cNvPr id="10" name="Shape 8"/>
          <p:cNvSpPr/>
          <p:nvPr/>
        </p:nvSpPr>
        <p:spPr>
          <a:xfrm>
            <a:off x="6355080" y="1828800"/>
            <a:ext cx="5257800" cy="384048"/>
          </a:xfrm>
          <a:prstGeom prst="roundRect">
            <a:avLst>
              <a:gd name="adj" fmla="val 23810"/>
            </a:avLst>
          </a:prstGeom>
          <a:solidFill>
            <a:srgbClr val="F4EFE7"/>
          </a:solidFill>
          <a:ln/>
        </p:spPr>
      </p:sp>
      <p:sp>
        <p:nvSpPr>
          <p:cNvPr id="11" name="Shape 9"/>
          <p:cNvSpPr/>
          <p:nvPr/>
        </p:nvSpPr>
        <p:spPr>
          <a:xfrm>
            <a:off x="6519672" y="1956816"/>
            <a:ext cx="118872" cy="118872"/>
          </a:xfrm>
          <a:prstGeom prst="ellipse">
            <a:avLst/>
          </a:prstGeom>
          <a:solidFill>
            <a:srgbClr val="E06C75"/>
          </a:solidFill>
          <a:ln/>
        </p:spPr>
      </p:sp>
      <p:sp>
        <p:nvSpPr>
          <p:cNvPr id="12" name="Shape 10"/>
          <p:cNvSpPr/>
          <p:nvPr/>
        </p:nvSpPr>
        <p:spPr>
          <a:xfrm>
            <a:off x="6720840" y="1956816"/>
            <a:ext cx="118872" cy="118872"/>
          </a:xfrm>
          <a:prstGeom prst="ellipse">
            <a:avLst/>
          </a:prstGeom>
          <a:solidFill>
            <a:srgbClr val="E5C07B"/>
          </a:solidFill>
          <a:ln/>
        </p:spPr>
      </p:sp>
      <p:sp>
        <p:nvSpPr>
          <p:cNvPr id="13" name="Shape 11"/>
          <p:cNvSpPr/>
          <p:nvPr/>
        </p:nvSpPr>
        <p:spPr>
          <a:xfrm>
            <a:off x="6922008" y="1956816"/>
            <a:ext cx="118872" cy="118872"/>
          </a:xfrm>
          <a:prstGeom prst="ellipse">
            <a:avLst/>
          </a:prstGeom>
          <a:solidFill>
            <a:srgbClr val="98C379"/>
          </a:solidFill>
          <a:ln/>
        </p:spPr>
      </p:sp>
      <p:sp>
        <p:nvSpPr>
          <p:cNvPr id="14" name="Text 12"/>
          <p:cNvSpPr/>
          <p:nvPr/>
        </p:nvSpPr>
        <p:spPr>
          <a:xfrm>
            <a:off x="10149840" y="1883664"/>
            <a:ext cx="1280160" cy="274320"/>
          </a:xfrm>
          <a:prstGeom prst="rect">
            <a:avLst/>
          </a:prstGeom>
          <a:noFill/>
          <a:ln/>
        </p:spPr>
        <p:txBody>
          <a:bodyPr wrap="square" lIns="0" tIns="0" rIns="0" bIns="0" rtlCol="0" anchor="ctr"/>
          <a:lstStyle/>
          <a:p>
            <a:pPr algn="r" indent="0" marL="0">
              <a:buNone/>
            </a:pPr>
            <a:r>
              <a:rPr lang="en-US" sz="900" b="1" spc="100" kern="0" dirty="0">
                <a:solidFill>
                  <a:srgbClr val="999999"/>
                </a:solidFill>
                <a:latin typeface="Calibri" pitchFamily="34" charset="0"/>
                <a:ea typeface="Calibri" pitchFamily="34" charset="-122"/>
                <a:cs typeface="Calibri" pitchFamily="34" charset="-120"/>
              </a:rPr>
              <a:t>PREVIEW</a:t>
            </a:r>
            <a:endParaRPr lang="en-US" sz="900" dirty="0"/>
          </a:p>
        </p:txBody>
      </p:sp>
      <p:sp>
        <p:nvSpPr>
          <p:cNvPr id="15" name="Shape 13"/>
          <p:cNvSpPr/>
          <p:nvPr/>
        </p:nvSpPr>
        <p:spPr>
          <a:xfrm>
            <a:off x="6629400" y="2606040"/>
            <a:ext cx="1097280" cy="457200"/>
          </a:xfrm>
          <a:prstGeom prst="roundRect">
            <a:avLst>
              <a:gd name="adj" fmla="val 16000"/>
            </a:avLst>
          </a:prstGeom>
          <a:solidFill>
            <a:srgbClr val="B85042"/>
          </a:solidFill>
          <a:ln/>
        </p:spPr>
      </p:sp>
      <p:sp>
        <p:nvSpPr>
          <p:cNvPr id="16" name="Text 14"/>
          <p:cNvSpPr/>
          <p:nvPr/>
        </p:nvSpPr>
        <p:spPr>
          <a:xfrm>
            <a:off x="6629400" y="2606040"/>
            <a:ext cx="109728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Logo</a:t>
            </a:r>
            <a:endParaRPr lang="en-US" sz="1050" dirty="0"/>
          </a:p>
        </p:txBody>
      </p:sp>
      <p:sp>
        <p:nvSpPr>
          <p:cNvPr id="17" name="Shape 15"/>
          <p:cNvSpPr/>
          <p:nvPr/>
        </p:nvSpPr>
        <p:spPr>
          <a:xfrm>
            <a:off x="7863840" y="2606040"/>
            <a:ext cx="1097280" cy="457200"/>
          </a:xfrm>
          <a:prstGeom prst="roundRect">
            <a:avLst>
              <a:gd name="adj" fmla="val 16000"/>
            </a:avLst>
          </a:prstGeom>
          <a:solidFill>
            <a:srgbClr val="A7BEAE"/>
          </a:solidFill>
          <a:ln/>
        </p:spPr>
      </p:sp>
      <p:sp>
        <p:nvSpPr>
          <p:cNvPr id="18" name="Text 16"/>
          <p:cNvSpPr/>
          <p:nvPr/>
        </p:nvSpPr>
        <p:spPr>
          <a:xfrm>
            <a:off x="7863840" y="2606040"/>
            <a:ext cx="109728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Home</a:t>
            </a:r>
            <a:endParaRPr lang="en-US" sz="1050" dirty="0"/>
          </a:p>
        </p:txBody>
      </p:sp>
      <p:sp>
        <p:nvSpPr>
          <p:cNvPr id="19" name="Shape 17"/>
          <p:cNvSpPr/>
          <p:nvPr/>
        </p:nvSpPr>
        <p:spPr>
          <a:xfrm>
            <a:off x="9098280" y="2606040"/>
            <a:ext cx="1097280" cy="457200"/>
          </a:xfrm>
          <a:prstGeom prst="roundRect">
            <a:avLst>
              <a:gd name="adj" fmla="val 16000"/>
            </a:avLst>
          </a:prstGeom>
          <a:solidFill>
            <a:srgbClr val="A7BEAE"/>
          </a:solidFill>
          <a:ln/>
        </p:spPr>
      </p:sp>
      <p:sp>
        <p:nvSpPr>
          <p:cNvPr id="20" name="Text 18"/>
          <p:cNvSpPr/>
          <p:nvPr/>
        </p:nvSpPr>
        <p:spPr>
          <a:xfrm>
            <a:off x="9098280" y="2606040"/>
            <a:ext cx="109728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About</a:t>
            </a:r>
            <a:endParaRPr lang="en-US" sz="1050" dirty="0"/>
          </a:p>
        </p:txBody>
      </p:sp>
      <p:sp>
        <p:nvSpPr>
          <p:cNvPr id="21" name="Shape 19"/>
          <p:cNvSpPr/>
          <p:nvPr/>
        </p:nvSpPr>
        <p:spPr>
          <a:xfrm>
            <a:off x="10332720" y="2606040"/>
            <a:ext cx="1097280" cy="457200"/>
          </a:xfrm>
          <a:prstGeom prst="roundRect">
            <a:avLst>
              <a:gd name="adj" fmla="val 16000"/>
            </a:avLst>
          </a:prstGeom>
          <a:solidFill>
            <a:srgbClr val="A7BEAE"/>
          </a:solidFill>
          <a:ln/>
        </p:spPr>
      </p:sp>
      <p:sp>
        <p:nvSpPr>
          <p:cNvPr id="22" name="Text 20"/>
          <p:cNvSpPr/>
          <p:nvPr/>
        </p:nvSpPr>
        <p:spPr>
          <a:xfrm>
            <a:off x="10332720" y="2606040"/>
            <a:ext cx="109728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Contact</a:t>
            </a:r>
            <a:endParaRPr lang="en-US" sz="1050" dirty="0"/>
          </a:p>
        </p:txBody>
      </p:sp>
      <p:sp>
        <p:nvSpPr>
          <p:cNvPr id="23" name="Shape 21"/>
          <p:cNvSpPr/>
          <p:nvPr/>
        </p:nvSpPr>
        <p:spPr>
          <a:xfrm>
            <a:off x="548640" y="4023360"/>
            <a:ext cx="11064240" cy="1737360"/>
          </a:xfrm>
          <a:prstGeom prst="roundRect">
            <a:avLst>
              <a:gd name="adj" fmla="val 5263"/>
            </a:avLst>
          </a:prstGeom>
          <a:solidFill>
            <a:srgbClr val="F4EFE7"/>
          </a:solidFill>
          <a:ln/>
        </p:spPr>
      </p:sp>
      <p:sp>
        <p:nvSpPr>
          <p:cNvPr id="24" name="Text 22"/>
          <p:cNvSpPr/>
          <p:nvPr/>
        </p:nvSpPr>
        <p:spPr>
          <a:xfrm>
            <a:off x="822960" y="4224528"/>
            <a:ext cx="10515600" cy="365760"/>
          </a:xfrm>
          <a:prstGeom prst="rect">
            <a:avLst/>
          </a:prstGeom>
          <a:noFill/>
          <a:ln/>
        </p:spPr>
        <p:txBody>
          <a:bodyPr wrap="square" lIns="0" tIns="0" rIns="0" bIns="0" rtlCol="0" anchor="ctr"/>
          <a:lstStyle/>
          <a:p>
            <a:pPr indent="0" marL="0">
              <a:buNone/>
            </a:pPr>
            <a:r>
              <a:rPr lang="en-US" sz="1500" b="1" dirty="0">
                <a:solidFill>
                  <a:srgbClr val="3A2B26"/>
                </a:solidFill>
                <a:latin typeface="Cambria" pitchFamily="34" charset="0"/>
                <a:ea typeface="Cambria" pitchFamily="34" charset="-122"/>
                <a:cs typeface="Cambria" pitchFamily="34" charset="-120"/>
              </a:rPr>
              <a:t>The one-line summary</a:t>
            </a:r>
            <a:endParaRPr lang="en-US" sz="1500" dirty="0"/>
          </a:p>
        </p:txBody>
      </p:sp>
      <p:sp>
        <p:nvSpPr>
          <p:cNvPr id="25" name="Text 23"/>
          <p:cNvSpPr/>
          <p:nvPr/>
        </p:nvSpPr>
        <p:spPr>
          <a:xfrm>
            <a:off x="822960" y="4645152"/>
            <a:ext cx="10515600" cy="91440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Just adding display: flex; to a parent puts all the items inside it in a row, left to right</a:t>
            </a:r>
            <a:endParaRPr lang="en-US" sz="1200" dirty="0"/>
          </a:p>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Flexbox is perfect for things like a navbar, a row of buttons, or a row of cards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300" b="1" spc="100" kern="0" dirty="0">
                <a:solidFill>
                  <a:srgbClr val="B85042"/>
                </a:solidFill>
                <a:latin typeface="Calibri" pitchFamily="34" charset="0"/>
                <a:ea typeface="Calibri" pitchFamily="34" charset="-122"/>
                <a:cs typeface="Calibri" pitchFamily="34" charset="-120"/>
              </a:rPr>
              <a:t>PROPERTY TOUR</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2700" b="1" dirty="0">
                <a:solidFill>
                  <a:srgbClr val="2D2D2D"/>
                </a:solidFill>
                <a:latin typeface="Cambria" pitchFamily="34" charset="0"/>
                <a:ea typeface="Cambria" pitchFamily="34" charset="-122"/>
                <a:cs typeface="Cambria" pitchFamily="34" charset="-120"/>
              </a:rPr>
              <a:t>justify-content — Spacing Along the Row</a:t>
            </a:r>
            <a:endParaRPr lang="en-US" sz="2700" dirty="0"/>
          </a:p>
        </p:txBody>
      </p:sp>
      <p:sp>
        <p:nvSpPr>
          <p:cNvPr id="4" name="Shape 2"/>
          <p:cNvSpPr/>
          <p:nvPr/>
        </p:nvSpPr>
        <p:spPr>
          <a:xfrm>
            <a:off x="548640" y="1828800"/>
            <a:ext cx="2743200" cy="1188720"/>
          </a:xfrm>
          <a:prstGeom prst="roundRect">
            <a:avLst>
              <a:gd name="adj" fmla="val 6154"/>
            </a:avLst>
          </a:prstGeom>
          <a:solidFill>
            <a:srgbClr val="E7E8D1"/>
          </a:solidFill>
          <a:ln/>
        </p:spPr>
      </p:sp>
      <p:sp>
        <p:nvSpPr>
          <p:cNvPr id="5" name="Text 3"/>
          <p:cNvSpPr/>
          <p:nvPr/>
        </p:nvSpPr>
        <p:spPr>
          <a:xfrm>
            <a:off x="685800" y="1920240"/>
            <a:ext cx="2468880" cy="1005840"/>
          </a:xfrm>
          <a:prstGeom prst="rect">
            <a:avLst/>
          </a:prstGeom>
          <a:noFill/>
          <a:ln/>
        </p:spPr>
        <p:txBody>
          <a:bodyPr wrap="square" lIns="0" tIns="0" rIns="0" bIns="0" rtlCol="0" anchor="ctr"/>
          <a:lstStyle/>
          <a:p>
            <a:pPr indent="0" marL="0">
              <a:buNone/>
            </a:pPr>
            <a:r>
              <a:rPr lang="en-US" sz="1200" b="1" dirty="0">
                <a:solidFill>
                  <a:srgbClr val="B85042"/>
                </a:solidFill>
                <a:latin typeface="Courier New" pitchFamily="34" charset="0"/>
                <a:ea typeface="Courier New" pitchFamily="34" charset="-122"/>
                <a:cs typeface="Courier New" pitchFamily="34" charset="-120"/>
              </a:rPr>
              <a:t>justify-content:</a:t>
            </a:r>
            <a:endParaRPr lang="en-US" sz="1200" dirty="0"/>
          </a:p>
          <a:p>
            <a:pPr indent="0" marL="0">
              <a:buNone/>
            </a:pPr>
            <a:r>
              <a:rPr lang="en-US" sz="1200" b="1" dirty="0">
                <a:solidFill>
                  <a:srgbClr val="B85042"/>
                </a:solidFill>
                <a:latin typeface="Courier New" pitchFamily="34" charset="0"/>
                <a:ea typeface="Courier New" pitchFamily="34" charset="-122"/>
                <a:cs typeface="Courier New" pitchFamily="34" charset="-120"/>
              </a:rPr>
              <a:t>flex-start</a:t>
            </a:r>
            <a:endParaRPr lang="en-US" sz="1200" dirty="0"/>
          </a:p>
        </p:txBody>
      </p:sp>
      <p:sp>
        <p:nvSpPr>
          <p:cNvPr id="6" name="Shape 4"/>
          <p:cNvSpPr/>
          <p:nvPr/>
        </p:nvSpPr>
        <p:spPr>
          <a:xfrm>
            <a:off x="3566160" y="1828800"/>
            <a:ext cx="7863840" cy="1188720"/>
          </a:xfrm>
          <a:prstGeom prst="roundRect">
            <a:avLst>
              <a:gd name="adj" fmla="val 6154"/>
            </a:avLst>
          </a:prstGeom>
          <a:solidFill>
            <a:srgbClr val="FBFAF7"/>
          </a:solidFill>
          <a:ln w="12700">
            <a:solidFill>
              <a:srgbClr val="A7BEAE"/>
            </a:solidFill>
            <a:prstDash val="solid"/>
          </a:ln>
        </p:spPr>
      </p:sp>
      <p:sp>
        <p:nvSpPr>
          <p:cNvPr id="7" name="Shape 5"/>
          <p:cNvSpPr/>
          <p:nvPr/>
        </p:nvSpPr>
        <p:spPr>
          <a:xfrm>
            <a:off x="3840480" y="2194560"/>
            <a:ext cx="914400" cy="457200"/>
          </a:xfrm>
          <a:prstGeom prst="roundRect">
            <a:avLst>
              <a:gd name="adj" fmla="val 12000"/>
            </a:avLst>
          </a:prstGeom>
          <a:solidFill>
            <a:srgbClr val="A7BEAE"/>
          </a:solidFill>
          <a:ln/>
        </p:spPr>
      </p:sp>
      <p:sp>
        <p:nvSpPr>
          <p:cNvPr id="8" name="Shape 6"/>
          <p:cNvSpPr/>
          <p:nvPr/>
        </p:nvSpPr>
        <p:spPr>
          <a:xfrm>
            <a:off x="5029200" y="2194560"/>
            <a:ext cx="914400" cy="457200"/>
          </a:xfrm>
          <a:prstGeom prst="roundRect">
            <a:avLst>
              <a:gd name="adj" fmla="val 12000"/>
            </a:avLst>
          </a:prstGeom>
          <a:solidFill>
            <a:srgbClr val="A7BEAE"/>
          </a:solidFill>
          <a:ln/>
        </p:spPr>
      </p:sp>
      <p:sp>
        <p:nvSpPr>
          <p:cNvPr id="9" name="Shape 7"/>
          <p:cNvSpPr/>
          <p:nvPr/>
        </p:nvSpPr>
        <p:spPr>
          <a:xfrm>
            <a:off x="6217920" y="2194560"/>
            <a:ext cx="914400" cy="457200"/>
          </a:xfrm>
          <a:prstGeom prst="roundRect">
            <a:avLst>
              <a:gd name="adj" fmla="val 12000"/>
            </a:avLst>
          </a:prstGeom>
          <a:solidFill>
            <a:srgbClr val="A7BEAE"/>
          </a:solidFill>
          <a:ln/>
        </p:spPr>
      </p:sp>
      <p:sp>
        <p:nvSpPr>
          <p:cNvPr id="10" name="Shape 8"/>
          <p:cNvSpPr/>
          <p:nvPr/>
        </p:nvSpPr>
        <p:spPr>
          <a:xfrm>
            <a:off x="548640" y="3246120"/>
            <a:ext cx="2743200" cy="1188720"/>
          </a:xfrm>
          <a:prstGeom prst="roundRect">
            <a:avLst>
              <a:gd name="adj" fmla="val 6154"/>
            </a:avLst>
          </a:prstGeom>
          <a:solidFill>
            <a:srgbClr val="F4EFE7"/>
          </a:solidFill>
          <a:ln/>
        </p:spPr>
      </p:sp>
      <p:sp>
        <p:nvSpPr>
          <p:cNvPr id="11" name="Text 9"/>
          <p:cNvSpPr/>
          <p:nvPr/>
        </p:nvSpPr>
        <p:spPr>
          <a:xfrm>
            <a:off x="685800" y="3337560"/>
            <a:ext cx="2468880" cy="1005840"/>
          </a:xfrm>
          <a:prstGeom prst="rect">
            <a:avLst/>
          </a:prstGeom>
          <a:noFill/>
          <a:ln/>
        </p:spPr>
        <p:txBody>
          <a:bodyPr wrap="square" lIns="0" tIns="0" rIns="0" bIns="0" rtlCol="0" anchor="ctr"/>
          <a:lstStyle/>
          <a:p>
            <a:pPr indent="0" marL="0">
              <a:buNone/>
            </a:pPr>
            <a:r>
              <a:rPr lang="en-US" sz="1200" b="1" dirty="0">
                <a:solidFill>
                  <a:srgbClr val="B85042"/>
                </a:solidFill>
                <a:latin typeface="Courier New" pitchFamily="34" charset="0"/>
                <a:ea typeface="Courier New" pitchFamily="34" charset="-122"/>
                <a:cs typeface="Courier New" pitchFamily="34" charset="-120"/>
              </a:rPr>
              <a:t>justify-content:</a:t>
            </a:r>
            <a:endParaRPr lang="en-US" sz="1200" dirty="0"/>
          </a:p>
          <a:p>
            <a:pPr indent="0" marL="0">
              <a:buNone/>
            </a:pPr>
            <a:r>
              <a:rPr lang="en-US" sz="1200" b="1" dirty="0">
                <a:solidFill>
                  <a:srgbClr val="B85042"/>
                </a:solidFill>
                <a:latin typeface="Courier New" pitchFamily="34" charset="0"/>
                <a:ea typeface="Courier New" pitchFamily="34" charset="-122"/>
                <a:cs typeface="Courier New" pitchFamily="34" charset="-120"/>
              </a:rPr>
              <a:t>center</a:t>
            </a:r>
            <a:endParaRPr lang="en-US" sz="1200" dirty="0"/>
          </a:p>
        </p:txBody>
      </p:sp>
      <p:sp>
        <p:nvSpPr>
          <p:cNvPr id="12" name="Shape 10"/>
          <p:cNvSpPr/>
          <p:nvPr/>
        </p:nvSpPr>
        <p:spPr>
          <a:xfrm>
            <a:off x="3566160" y="3246120"/>
            <a:ext cx="7863840" cy="1188720"/>
          </a:xfrm>
          <a:prstGeom prst="roundRect">
            <a:avLst>
              <a:gd name="adj" fmla="val 6154"/>
            </a:avLst>
          </a:prstGeom>
          <a:solidFill>
            <a:srgbClr val="FBFAF7"/>
          </a:solidFill>
          <a:ln w="12700">
            <a:solidFill>
              <a:srgbClr val="A7BEAE"/>
            </a:solidFill>
            <a:prstDash val="solid"/>
          </a:ln>
        </p:spPr>
      </p:sp>
      <p:sp>
        <p:nvSpPr>
          <p:cNvPr id="13" name="Shape 11"/>
          <p:cNvSpPr/>
          <p:nvPr/>
        </p:nvSpPr>
        <p:spPr>
          <a:xfrm>
            <a:off x="5852160" y="3611880"/>
            <a:ext cx="914400" cy="457200"/>
          </a:xfrm>
          <a:prstGeom prst="roundRect">
            <a:avLst>
              <a:gd name="adj" fmla="val 12000"/>
            </a:avLst>
          </a:prstGeom>
          <a:solidFill>
            <a:srgbClr val="A7BEAE"/>
          </a:solidFill>
          <a:ln/>
        </p:spPr>
      </p:sp>
      <p:sp>
        <p:nvSpPr>
          <p:cNvPr id="14" name="Shape 12"/>
          <p:cNvSpPr/>
          <p:nvPr/>
        </p:nvSpPr>
        <p:spPr>
          <a:xfrm>
            <a:off x="7040880" y="3611880"/>
            <a:ext cx="914400" cy="457200"/>
          </a:xfrm>
          <a:prstGeom prst="roundRect">
            <a:avLst>
              <a:gd name="adj" fmla="val 12000"/>
            </a:avLst>
          </a:prstGeom>
          <a:solidFill>
            <a:srgbClr val="A7BEAE"/>
          </a:solidFill>
          <a:ln/>
        </p:spPr>
      </p:sp>
      <p:sp>
        <p:nvSpPr>
          <p:cNvPr id="15" name="Shape 13"/>
          <p:cNvSpPr/>
          <p:nvPr/>
        </p:nvSpPr>
        <p:spPr>
          <a:xfrm>
            <a:off x="8229600" y="3611880"/>
            <a:ext cx="914400" cy="457200"/>
          </a:xfrm>
          <a:prstGeom prst="roundRect">
            <a:avLst>
              <a:gd name="adj" fmla="val 12000"/>
            </a:avLst>
          </a:prstGeom>
          <a:solidFill>
            <a:srgbClr val="A7BEAE"/>
          </a:solidFill>
          <a:ln/>
        </p:spPr>
      </p:sp>
      <p:sp>
        <p:nvSpPr>
          <p:cNvPr id="16" name="Shape 14"/>
          <p:cNvSpPr/>
          <p:nvPr/>
        </p:nvSpPr>
        <p:spPr>
          <a:xfrm>
            <a:off x="548640" y="4663440"/>
            <a:ext cx="2743200" cy="1188720"/>
          </a:xfrm>
          <a:prstGeom prst="roundRect">
            <a:avLst>
              <a:gd name="adj" fmla="val 6154"/>
            </a:avLst>
          </a:prstGeom>
          <a:solidFill>
            <a:srgbClr val="E7E8D1"/>
          </a:solidFill>
          <a:ln/>
        </p:spPr>
      </p:sp>
      <p:sp>
        <p:nvSpPr>
          <p:cNvPr id="17" name="Text 15"/>
          <p:cNvSpPr/>
          <p:nvPr/>
        </p:nvSpPr>
        <p:spPr>
          <a:xfrm>
            <a:off x="685800" y="4754880"/>
            <a:ext cx="2468880" cy="1005840"/>
          </a:xfrm>
          <a:prstGeom prst="rect">
            <a:avLst/>
          </a:prstGeom>
          <a:noFill/>
          <a:ln/>
        </p:spPr>
        <p:txBody>
          <a:bodyPr wrap="square" lIns="0" tIns="0" rIns="0" bIns="0" rtlCol="0" anchor="ctr"/>
          <a:lstStyle/>
          <a:p>
            <a:pPr indent="0" marL="0">
              <a:buNone/>
            </a:pPr>
            <a:r>
              <a:rPr lang="en-US" sz="1200" b="1" dirty="0">
                <a:solidFill>
                  <a:srgbClr val="B85042"/>
                </a:solidFill>
                <a:latin typeface="Courier New" pitchFamily="34" charset="0"/>
                <a:ea typeface="Courier New" pitchFamily="34" charset="-122"/>
                <a:cs typeface="Courier New" pitchFamily="34" charset="-120"/>
              </a:rPr>
              <a:t>justify-content:</a:t>
            </a:r>
            <a:endParaRPr lang="en-US" sz="1200" dirty="0"/>
          </a:p>
          <a:p>
            <a:pPr indent="0" marL="0">
              <a:buNone/>
            </a:pPr>
            <a:r>
              <a:rPr lang="en-US" sz="1200" b="1" dirty="0">
                <a:solidFill>
                  <a:srgbClr val="B85042"/>
                </a:solidFill>
                <a:latin typeface="Courier New" pitchFamily="34" charset="0"/>
                <a:ea typeface="Courier New" pitchFamily="34" charset="-122"/>
                <a:cs typeface="Courier New" pitchFamily="34" charset="-120"/>
              </a:rPr>
              <a:t>space-between</a:t>
            </a:r>
            <a:endParaRPr lang="en-US" sz="1200" dirty="0"/>
          </a:p>
        </p:txBody>
      </p:sp>
      <p:sp>
        <p:nvSpPr>
          <p:cNvPr id="18" name="Shape 16"/>
          <p:cNvSpPr/>
          <p:nvPr/>
        </p:nvSpPr>
        <p:spPr>
          <a:xfrm>
            <a:off x="3566160" y="4663440"/>
            <a:ext cx="7863840" cy="1188720"/>
          </a:xfrm>
          <a:prstGeom prst="roundRect">
            <a:avLst>
              <a:gd name="adj" fmla="val 6154"/>
            </a:avLst>
          </a:prstGeom>
          <a:solidFill>
            <a:srgbClr val="FBFAF7"/>
          </a:solidFill>
          <a:ln w="12700">
            <a:solidFill>
              <a:srgbClr val="A7BEAE"/>
            </a:solidFill>
            <a:prstDash val="solid"/>
          </a:ln>
        </p:spPr>
      </p:sp>
      <p:sp>
        <p:nvSpPr>
          <p:cNvPr id="19" name="Shape 17"/>
          <p:cNvSpPr/>
          <p:nvPr/>
        </p:nvSpPr>
        <p:spPr>
          <a:xfrm>
            <a:off x="3840480" y="5029200"/>
            <a:ext cx="914400" cy="457200"/>
          </a:xfrm>
          <a:prstGeom prst="roundRect">
            <a:avLst>
              <a:gd name="adj" fmla="val 12000"/>
            </a:avLst>
          </a:prstGeom>
          <a:solidFill>
            <a:srgbClr val="A7BEAE"/>
          </a:solidFill>
          <a:ln/>
        </p:spPr>
      </p:sp>
      <p:sp>
        <p:nvSpPr>
          <p:cNvPr id="20" name="Shape 18"/>
          <p:cNvSpPr/>
          <p:nvPr/>
        </p:nvSpPr>
        <p:spPr>
          <a:xfrm>
            <a:off x="7040880" y="5029200"/>
            <a:ext cx="914400" cy="457200"/>
          </a:xfrm>
          <a:prstGeom prst="roundRect">
            <a:avLst>
              <a:gd name="adj" fmla="val 12000"/>
            </a:avLst>
          </a:prstGeom>
          <a:solidFill>
            <a:srgbClr val="A7BEAE"/>
          </a:solidFill>
          <a:ln/>
        </p:spPr>
      </p:sp>
      <p:sp>
        <p:nvSpPr>
          <p:cNvPr id="21" name="Shape 19"/>
          <p:cNvSpPr/>
          <p:nvPr/>
        </p:nvSpPr>
        <p:spPr>
          <a:xfrm>
            <a:off x="10241280" y="5029200"/>
            <a:ext cx="914400" cy="457200"/>
          </a:xfrm>
          <a:prstGeom prst="roundRect">
            <a:avLst>
              <a:gd name="adj" fmla="val 12000"/>
            </a:avLst>
          </a:prstGeom>
          <a:solidFill>
            <a:srgbClr val="A7BEAE"/>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300" b="1" spc="100" kern="0" dirty="0">
                <a:solidFill>
                  <a:srgbClr val="B85042"/>
                </a:solidFill>
                <a:latin typeface="Calibri" pitchFamily="34" charset="0"/>
                <a:ea typeface="Calibri" pitchFamily="34" charset="-122"/>
                <a:cs typeface="Calibri" pitchFamily="34" charset="-120"/>
              </a:rPr>
              <a:t>PROPERTY TOUR</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2700" b="1" dirty="0">
                <a:solidFill>
                  <a:srgbClr val="2D2D2D"/>
                </a:solidFill>
                <a:latin typeface="Cambria" pitchFamily="34" charset="0"/>
                <a:ea typeface="Cambria" pitchFamily="34" charset="-122"/>
                <a:cs typeface="Cambria" pitchFamily="34" charset="-120"/>
              </a:rPr>
              <a:t>align-items &amp; gap</a:t>
            </a:r>
            <a:endParaRPr lang="en-US" sz="2700" dirty="0"/>
          </a:p>
        </p:txBody>
      </p:sp>
      <p:sp>
        <p:nvSpPr>
          <p:cNvPr id="4" name="Shape 2"/>
          <p:cNvSpPr/>
          <p:nvPr/>
        </p:nvSpPr>
        <p:spPr>
          <a:xfrm>
            <a:off x="548640" y="1828800"/>
            <a:ext cx="5303520" cy="3931920"/>
          </a:xfrm>
          <a:prstGeom prst="roundRect">
            <a:avLst>
              <a:gd name="adj" fmla="val 2326"/>
            </a:avLst>
          </a:prstGeom>
          <a:solidFill>
            <a:srgbClr val="E7E8D1"/>
          </a:solidFill>
          <a:ln/>
        </p:spPr>
      </p:sp>
      <p:sp>
        <p:nvSpPr>
          <p:cNvPr id="5" name="Text 3"/>
          <p:cNvSpPr/>
          <p:nvPr/>
        </p:nvSpPr>
        <p:spPr>
          <a:xfrm>
            <a:off x="822960" y="2029968"/>
            <a:ext cx="4754880" cy="365760"/>
          </a:xfrm>
          <a:prstGeom prst="rect">
            <a:avLst/>
          </a:prstGeom>
          <a:noFill/>
          <a:ln/>
        </p:spPr>
        <p:txBody>
          <a:bodyPr wrap="square" lIns="0" tIns="0" rIns="0" bIns="0" rtlCol="0" anchor="ctr"/>
          <a:lstStyle/>
          <a:p>
            <a:pPr indent="0" marL="0">
              <a:buNone/>
            </a:pPr>
            <a:r>
              <a:rPr lang="en-US" sz="1500" b="1" dirty="0">
                <a:solidFill>
                  <a:srgbClr val="3A2B26"/>
                </a:solidFill>
                <a:latin typeface="Cambria" pitchFamily="34" charset="0"/>
                <a:ea typeface="Cambria" pitchFamily="34" charset="-122"/>
                <a:cs typeface="Cambria" pitchFamily="34" charset="-120"/>
              </a:rPr>
              <a:t>align-items</a:t>
            </a:r>
            <a:endParaRPr lang="en-US" sz="1500" dirty="0"/>
          </a:p>
        </p:txBody>
      </p:sp>
      <p:sp>
        <p:nvSpPr>
          <p:cNvPr id="6" name="Text 4"/>
          <p:cNvSpPr/>
          <p:nvPr/>
        </p:nvSpPr>
        <p:spPr>
          <a:xfrm>
            <a:off x="822960" y="2450592"/>
            <a:ext cx="4754880" cy="310896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Controls spacing across the OTHER direction</a:t>
            </a:r>
            <a:endParaRPr lang="en-US" sz="1200" dirty="0"/>
          </a:p>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align-items: center; centers items up and down in a row</a:t>
            </a:r>
            <a:endParaRPr lang="en-US" sz="1200" dirty="0"/>
          </a:p>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Great for lining up a logo and menu text neatly</a:t>
            </a:r>
            <a:endParaRPr lang="en-US" sz="1200" dirty="0"/>
          </a:p>
        </p:txBody>
      </p:sp>
      <p:sp>
        <p:nvSpPr>
          <p:cNvPr id="7" name="Shape 5"/>
          <p:cNvSpPr/>
          <p:nvPr/>
        </p:nvSpPr>
        <p:spPr>
          <a:xfrm>
            <a:off x="6126480" y="1828800"/>
            <a:ext cx="5486400" cy="3931920"/>
          </a:xfrm>
          <a:prstGeom prst="roundRect">
            <a:avLst>
              <a:gd name="adj" fmla="val 2326"/>
            </a:avLst>
          </a:prstGeom>
          <a:solidFill>
            <a:srgbClr val="F4EFE7"/>
          </a:solidFill>
          <a:ln/>
        </p:spPr>
      </p:sp>
      <p:sp>
        <p:nvSpPr>
          <p:cNvPr id="8" name="Text 6"/>
          <p:cNvSpPr/>
          <p:nvPr/>
        </p:nvSpPr>
        <p:spPr>
          <a:xfrm>
            <a:off x="6400800" y="2029968"/>
            <a:ext cx="4937760" cy="365760"/>
          </a:xfrm>
          <a:prstGeom prst="rect">
            <a:avLst/>
          </a:prstGeom>
          <a:noFill/>
          <a:ln/>
        </p:spPr>
        <p:txBody>
          <a:bodyPr wrap="square" lIns="0" tIns="0" rIns="0" bIns="0" rtlCol="0" anchor="ctr"/>
          <a:lstStyle/>
          <a:p>
            <a:pPr indent="0" marL="0">
              <a:buNone/>
            </a:pPr>
            <a:r>
              <a:rPr lang="en-US" sz="1500" b="1" dirty="0">
                <a:solidFill>
                  <a:srgbClr val="3A2B26"/>
                </a:solidFill>
                <a:latin typeface="Cambria" pitchFamily="34" charset="0"/>
                <a:ea typeface="Cambria" pitchFamily="34" charset="-122"/>
                <a:cs typeface="Cambria" pitchFamily="34" charset="-120"/>
              </a:rPr>
              <a:t>gap</a:t>
            </a:r>
            <a:endParaRPr lang="en-US" sz="1500" dirty="0"/>
          </a:p>
        </p:txBody>
      </p:sp>
      <p:sp>
        <p:nvSpPr>
          <p:cNvPr id="9" name="Text 7"/>
          <p:cNvSpPr/>
          <p:nvPr/>
        </p:nvSpPr>
        <p:spPr>
          <a:xfrm>
            <a:off x="6400800" y="2450592"/>
            <a:ext cx="4937760" cy="310896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Adds equal space BETWEEN every item</a:t>
            </a:r>
            <a:endParaRPr lang="en-US" sz="1200" dirty="0"/>
          </a:p>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No need for margin on every single item — just one line!</a:t>
            </a:r>
            <a:endParaRPr lang="en-US" sz="1200" dirty="0"/>
          </a:p>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gap: 20px; works for both flex and grid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300" b="1" spc="100" kern="0" dirty="0">
                <a:solidFill>
                  <a:srgbClr val="B85042"/>
                </a:solidFill>
                <a:latin typeface="Calibri" pitchFamily="34" charset="0"/>
                <a:ea typeface="Calibri" pitchFamily="34" charset="-122"/>
                <a:cs typeface="Calibri" pitchFamily="34" charset="-120"/>
              </a:rPr>
              <a:t>CONCEPT</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2700" b="1" dirty="0">
                <a:solidFill>
                  <a:srgbClr val="2D2D2D"/>
                </a:solidFill>
                <a:latin typeface="Cambria" pitchFamily="34" charset="0"/>
                <a:ea typeface="Cambria" pitchFamily="34" charset="-122"/>
                <a:cs typeface="Cambria" pitchFamily="34" charset="-120"/>
              </a:rPr>
              <a:t>Grid — Rows AND Columns</a:t>
            </a:r>
            <a:endParaRPr lang="en-US" sz="2700" dirty="0"/>
          </a:p>
        </p:txBody>
      </p:sp>
      <p:sp>
        <p:nvSpPr>
          <p:cNvPr id="4" name="Shape 2"/>
          <p:cNvSpPr/>
          <p:nvPr/>
        </p:nvSpPr>
        <p:spPr>
          <a:xfrm>
            <a:off x="548640" y="1828800"/>
            <a:ext cx="5577840" cy="2377440"/>
          </a:xfrm>
          <a:prstGeom prst="roundRect">
            <a:avLst>
              <a:gd name="adj" fmla="val 3846"/>
            </a:avLst>
          </a:prstGeom>
          <a:solidFill>
            <a:srgbClr val="2D2321"/>
          </a:solidFill>
          <a:ln/>
        </p:spPr>
      </p:sp>
      <p:sp>
        <p:nvSpPr>
          <p:cNvPr id="5" name="Shape 3"/>
          <p:cNvSpPr/>
          <p:nvPr/>
        </p:nvSpPr>
        <p:spPr>
          <a:xfrm>
            <a:off x="749808" y="1993392"/>
            <a:ext cx="128016" cy="128016"/>
          </a:xfrm>
          <a:prstGeom prst="ellipse">
            <a:avLst/>
          </a:prstGeom>
          <a:solidFill>
            <a:srgbClr val="E06C75"/>
          </a:solidFill>
          <a:ln/>
        </p:spPr>
      </p:sp>
      <p:sp>
        <p:nvSpPr>
          <p:cNvPr id="6" name="Shape 4"/>
          <p:cNvSpPr/>
          <p:nvPr/>
        </p:nvSpPr>
        <p:spPr>
          <a:xfrm>
            <a:off x="978408" y="1993392"/>
            <a:ext cx="128016" cy="128016"/>
          </a:xfrm>
          <a:prstGeom prst="ellipse">
            <a:avLst/>
          </a:prstGeom>
          <a:solidFill>
            <a:srgbClr val="E5C07B"/>
          </a:solidFill>
          <a:ln/>
        </p:spPr>
      </p:sp>
      <p:sp>
        <p:nvSpPr>
          <p:cNvPr id="7" name="Shape 5"/>
          <p:cNvSpPr/>
          <p:nvPr/>
        </p:nvSpPr>
        <p:spPr>
          <a:xfrm>
            <a:off x="1207008" y="1993392"/>
            <a:ext cx="128016" cy="128016"/>
          </a:xfrm>
          <a:prstGeom prst="ellipse">
            <a:avLst/>
          </a:prstGeom>
          <a:solidFill>
            <a:srgbClr val="98C379"/>
          </a:solidFill>
          <a:ln/>
        </p:spPr>
      </p:sp>
      <p:sp>
        <p:nvSpPr>
          <p:cNvPr id="8" name="Text 6"/>
          <p:cNvSpPr/>
          <p:nvPr/>
        </p:nvSpPr>
        <p:spPr>
          <a:xfrm>
            <a:off x="804672" y="2286000"/>
            <a:ext cx="5065776" cy="1783080"/>
          </a:xfrm>
          <a:prstGeom prst="rect">
            <a:avLst/>
          </a:prstGeom>
          <a:noFill/>
          <a:ln/>
        </p:spPr>
        <p:txBody>
          <a:bodyPr wrap="square" lIns="0" tIns="0" rIns="0" bIns="0" rtlCol="0" anchor="ctr"/>
          <a:lstStyle/>
          <a:p>
            <a:pPr indent="0" marL="0">
              <a:lnSpc>
                <a:spcPct val="122000"/>
              </a:lnSpc>
              <a:buNone/>
            </a:pPr>
            <a:r>
              <a:rPr lang="en-US" sz="1200" dirty="0">
                <a:solidFill>
                  <a:srgbClr val="E7E8D1"/>
                </a:solidFill>
                <a:latin typeface="Courier New" pitchFamily="34" charset="0"/>
                <a:ea typeface="Courier New" pitchFamily="34" charset="-122"/>
                <a:cs typeface="Courier New" pitchFamily="34" charset="-120"/>
              </a:rPr>
              <a:t>.gallery-grid {</a:t>
            </a:r>
            <a:endParaRPr lang="en-US" sz="1200" dirty="0"/>
          </a:p>
          <a:p>
            <a:pPr indent="0" marL="0">
              <a:lnSpc>
                <a:spcPct val="122000"/>
              </a:lnSpc>
              <a:buNone/>
            </a:pPr>
            <a:r>
              <a:rPr lang="en-US" sz="1200" dirty="0">
                <a:solidFill>
                  <a:srgbClr val="E7E8D1"/>
                </a:solidFill>
                <a:latin typeface="Courier New" pitchFamily="34" charset="0"/>
                <a:ea typeface="Courier New" pitchFamily="34" charset="-122"/>
                <a:cs typeface="Courier New" pitchFamily="34" charset="-120"/>
              </a:rPr>
              <a:t>  display: grid;</a:t>
            </a:r>
            <a:endParaRPr lang="en-US" sz="1200" dirty="0"/>
          </a:p>
          <a:p>
            <a:pPr indent="0" marL="0">
              <a:lnSpc>
                <a:spcPct val="122000"/>
              </a:lnSpc>
              <a:buNone/>
            </a:pPr>
            <a:r>
              <a:rPr lang="en-US" sz="1200" dirty="0">
                <a:solidFill>
                  <a:srgbClr val="E7E8D1"/>
                </a:solidFill>
                <a:latin typeface="Courier New" pitchFamily="34" charset="0"/>
                <a:ea typeface="Courier New" pitchFamily="34" charset="-122"/>
                <a:cs typeface="Courier New" pitchFamily="34" charset="-120"/>
              </a:rPr>
              <a:t>  grid-template-columns:</a:t>
            </a:r>
            <a:endParaRPr lang="en-US" sz="1200" dirty="0"/>
          </a:p>
          <a:p>
            <a:pPr indent="0" marL="0">
              <a:lnSpc>
                <a:spcPct val="122000"/>
              </a:lnSpc>
              <a:buNone/>
            </a:pPr>
            <a:r>
              <a:rPr lang="en-US" sz="1200" dirty="0">
                <a:solidFill>
                  <a:srgbClr val="E7E8D1"/>
                </a:solidFill>
                <a:latin typeface="Courier New" pitchFamily="34" charset="0"/>
                <a:ea typeface="Courier New" pitchFamily="34" charset="-122"/>
                <a:cs typeface="Courier New" pitchFamily="34" charset="-120"/>
              </a:rPr>
              <a:t>    repeat(3, 1fr);</a:t>
            </a:r>
            <a:endParaRPr lang="en-US" sz="1200" dirty="0"/>
          </a:p>
          <a:p>
            <a:pPr indent="0" marL="0">
              <a:lnSpc>
                <a:spcPct val="122000"/>
              </a:lnSpc>
              <a:buNone/>
            </a:pPr>
            <a:r>
              <a:rPr lang="en-US" sz="1200" dirty="0">
                <a:solidFill>
                  <a:srgbClr val="E7E8D1"/>
                </a:solidFill>
                <a:latin typeface="Courier New" pitchFamily="34" charset="0"/>
                <a:ea typeface="Courier New" pitchFamily="34" charset="-122"/>
                <a:cs typeface="Courier New" pitchFamily="34" charset="-120"/>
              </a:rPr>
              <a:t>}</a:t>
            </a:r>
            <a:endParaRPr lang="en-US" sz="1200" dirty="0"/>
          </a:p>
        </p:txBody>
      </p:sp>
      <p:sp>
        <p:nvSpPr>
          <p:cNvPr id="9" name="Shape 7"/>
          <p:cNvSpPr/>
          <p:nvPr/>
        </p:nvSpPr>
        <p:spPr>
          <a:xfrm>
            <a:off x="6355080" y="1828800"/>
            <a:ext cx="5257800" cy="2377440"/>
          </a:xfrm>
          <a:prstGeom prst="roundRect">
            <a:avLst>
              <a:gd name="adj" fmla="val 3846"/>
            </a:avLst>
          </a:prstGeom>
          <a:solidFill>
            <a:srgbClr val="FFFFFF"/>
          </a:solidFill>
          <a:ln w="15875">
            <a:solidFill>
              <a:srgbClr val="A7BEAE"/>
            </a:solidFill>
            <a:prstDash val="solid"/>
          </a:ln>
        </p:spPr>
      </p:sp>
      <p:sp>
        <p:nvSpPr>
          <p:cNvPr id="10" name="Shape 8"/>
          <p:cNvSpPr/>
          <p:nvPr/>
        </p:nvSpPr>
        <p:spPr>
          <a:xfrm>
            <a:off x="6355080" y="1828800"/>
            <a:ext cx="5257800" cy="384048"/>
          </a:xfrm>
          <a:prstGeom prst="roundRect">
            <a:avLst>
              <a:gd name="adj" fmla="val 23810"/>
            </a:avLst>
          </a:prstGeom>
          <a:solidFill>
            <a:srgbClr val="F4EFE7"/>
          </a:solidFill>
          <a:ln/>
        </p:spPr>
      </p:sp>
      <p:sp>
        <p:nvSpPr>
          <p:cNvPr id="11" name="Shape 9"/>
          <p:cNvSpPr/>
          <p:nvPr/>
        </p:nvSpPr>
        <p:spPr>
          <a:xfrm>
            <a:off x="6519672" y="1956816"/>
            <a:ext cx="118872" cy="118872"/>
          </a:xfrm>
          <a:prstGeom prst="ellipse">
            <a:avLst/>
          </a:prstGeom>
          <a:solidFill>
            <a:srgbClr val="E06C75"/>
          </a:solidFill>
          <a:ln/>
        </p:spPr>
      </p:sp>
      <p:sp>
        <p:nvSpPr>
          <p:cNvPr id="12" name="Shape 10"/>
          <p:cNvSpPr/>
          <p:nvPr/>
        </p:nvSpPr>
        <p:spPr>
          <a:xfrm>
            <a:off x="6720840" y="1956816"/>
            <a:ext cx="118872" cy="118872"/>
          </a:xfrm>
          <a:prstGeom prst="ellipse">
            <a:avLst/>
          </a:prstGeom>
          <a:solidFill>
            <a:srgbClr val="E5C07B"/>
          </a:solidFill>
          <a:ln/>
        </p:spPr>
      </p:sp>
      <p:sp>
        <p:nvSpPr>
          <p:cNvPr id="13" name="Shape 11"/>
          <p:cNvSpPr/>
          <p:nvPr/>
        </p:nvSpPr>
        <p:spPr>
          <a:xfrm>
            <a:off x="6922008" y="1956816"/>
            <a:ext cx="118872" cy="118872"/>
          </a:xfrm>
          <a:prstGeom prst="ellipse">
            <a:avLst/>
          </a:prstGeom>
          <a:solidFill>
            <a:srgbClr val="98C379"/>
          </a:solidFill>
          <a:ln/>
        </p:spPr>
      </p:sp>
      <p:sp>
        <p:nvSpPr>
          <p:cNvPr id="14" name="Text 12"/>
          <p:cNvSpPr/>
          <p:nvPr/>
        </p:nvSpPr>
        <p:spPr>
          <a:xfrm>
            <a:off x="10149840" y="1883664"/>
            <a:ext cx="1280160" cy="274320"/>
          </a:xfrm>
          <a:prstGeom prst="rect">
            <a:avLst/>
          </a:prstGeom>
          <a:noFill/>
          <a:ln/>
        </p:spPr>
        <p:txBody>
          <a:bodyPr wrap="square" lIns="0" tIns="0" rIns="0" bIns="0" rtlCol="0" anchor="ctr"/>
          <a:lstStyle/>
          <a:p>
            <a:pPr algn="r" indent="0" marL="0">
              <a:buNone/>
            </a:pPr>
            <a:r>
              <a:rPr lang="en-US" sz="900" b="1" spc="100" kern="0" dirty="0">
                <a:solidFill>
                  <a:srgbClr val="999999"/>
                </a:solidFill>
                <a:latin typeface="Calibri" pitchFamily="34" charset="0"/>
                <a:ea typeface="Calibri" pitchFamily="34" charset="-122"/>
                <a:cs typeface="Calibri" pitchFamily="34" charset="-120"/>
              </a:rPr>
              <a:t>PREVIEW</a:t>
            </a:r>
            <a:endParaRPr lang="en-US" sz="900" dirty="0"/>
          </a:p>
        </p:txBody>
      </p:sp>
      <p:sp>
        <p:nvSpPr>
          <p:cNvPr id="15" name="Shape 13"/>
          <p:cNvSpPr/>
          <p:nvPr/>
        </p:nvSpPr>
        <p:spPr>
          <a:xfrm>
            <a:off x="6629400" y="2423160"/>
            <a:ext cx="1417320" cy="548640"/>
          </a:xfrm>
          <a:prstGeom prst="roundRect">
            <a:avLst>
              <a:gd name="adj" fmla="val 10000"/>
            </a:avLst>
          </a:prstGeom>
          <a:solidFill>
            <a:srgbClr val="A7BEAE"/>
          </a:solidFill>
          <a:ln/>
        </p:spPr>
      </p:sp>
      <p:sp>
        <p:nvSpPr>
          <p:cNvPr id="16" name="Shape 14"/>
          <p:cNvSpPr/>
          <p:nvPr/>
        </p:nvSpPr>
        <p:spPr>
          <a:xfrm>
            <a:off x="8229600" y="2423160"/>
            <a:ext cx="1417320" cy="548640"/>
          </a:xfrm>
          <a:prstGeom prst="roundRect">
            <a:avLst>
              <a:gd name="adj" fmla="val 10000"/>
            </a:avLst>
          </a:prstGeom>
          <a:solidFill>
            <a:srgbClr val="A7BEAE"/>
          </a:solidFill>
          <a:ln/>
        </p:spPr>
      </p:sp>
      <p:sp>
        <p:nvSpPr>
          <p:cNvPr id="17" name="Shape 15"/>
          <p:cNvSpPr/>
          <p:nvPr/>
        </p:nvSpPr>
        <p:spPr>
          <a:xfrm>
            <a:off x="9829800" y="2423160"/>
            <a:ext cx="1417320" cy="548640"/>
          </a:xfrm>
          <a:prstGeom prst="roundRect">
            <a:avLst>
              <a:gd name="adj" fmla="val 10000"/>
            </a:avLst>
          </a:prstGeom>
          <a:solidFill>
            <a:srgbClr val="A7BEAE"/>
          </a:solidFill>
          <a:ln/>
        </p:spPr>
      </p:sp>
      <p:sp>
        <p:nvSpPr>
          <p:cNvPr id="18" name="Shape 16"/>
          <p:cNvSpPr/>
          <p:nvPr/>
        </p:nvSpPr>
        <p:spPr>
          <a:xfrm>
            <a:off x="6629400" y="3108960"/>
            <a:ext cx="1417320" cy="548640"/>
          </a:xfrm>
          <a:prstGeom prst="roundRect">
            <a:avLst>
              <a:gd name="adj" fmla="val 10000"/>
            </a:avLst>
          </a:prstGeom>
          <a:solidFill>
            <a:srgbClr val="A7BEAE"/>
          </a:solidFill>
          <a:ln/>
        </p:spPr>
      </p:sp>
      <p:sp>
        <p:nvSpPr>
          <p:cNvPr id="19" name="Shape 17"/>
          <p:cNvSpPr/>
          <p:nvPr/>
        </p:nvSpPr>
        <p:spPr>
          <a:xfrm>
            <a:off x="8229600" y="3108960"/>
            <a:ext cx="1417320" cy="548640"/>
          </a:xfrm>
          <a:prstGeom prst="roundRect">
            <a:avLst>
              <a:gd name="adj" fmla="val 10000"/>
            </a:avLst>
          </a:prstGeom>
          <a:solidFill>
            <a:srgbClr val="A7BEAE"/>
          </a:solidFill>
          <a:ln/>
        </p:spPr>
      </p:sp>
      <p:sp>
        <p:nvSpPr>
          <p:cNvPr id="20" name="Shape 18"/>
          <p:cNvSpPr/>
          <p:nvPr/>
        </p:nvSpPr>
        <p:spPr>
          <a:xfrm>
            <a:off x="9829800" y="3108960"/>
            <a:ext cx="1417320" cy="548640"/>
          </a:xfrm>
          <a:prstGeom prst="roundRect">
            <a:avLst>
              <a:gd name="adj" fmla="val 10000"/>
            </a:avLst>
          </a:prstGeom>
          <a:solidFill>
            <a:srgbClr val="A7BEAE"/>
          </a:solidFill>
          <a:ln/>
        </p:spPr>
      </p:sp>
      <p:sp>
        <p:nvSpPr>
          <p:cNvPr id="21" name="Shape 19"/>
          <p:cNvSpPr/>
          <p:nvPr/>
        </p:nvSpPr>
        <p:spPr>
          <a:xfrm>
            <a:off x="548640" y="4480560"/>
            <a:ext cx="11064240" cy="1371600"/>
          </a:xfrm>
          <a:prstGeom prst="roundRect">
            <a:avLst>
              <a:gd name="adj" fmla="val 6667"/>
            </a:avLst>
          </a:prstGeom>
          <a:solidFill>
            <a:srgbClr val="F4EFE7"/>
          </a:solidFill>
          <a:ln/>
        </p:spPr>
      </p:sp>
      <p:sp>
        <p:nvSpPr>
          <p:cNvPr id="22" name="Text 20"/>
          <p:cNvSpPr/>
          <p:nvPr/>
        </p:nvSpPr>
        <p:spPr>
          <a:xfrm>
            <a:off x="822960" y="4681728"/>
            <a:ext cx="10515600" cy="365760"/>
          </a:xfrm>
          <a:prstGeom prst="rect">
            <a:avLst/>
          </a:prstGeom>
          <a:noFill/>
          <a:ln/>
        </p:spPr>
        <p:txBody>
          <a:bodyPr wrap="square" lIns="0" tIns="0" rIns="0" bIns="0" rtlCol="0" anchor="ctr"/>
          <a:lstStyle/>
          <a:p>
            <a:pPr indent="0" marL="0">
              <a:buNone/>
            </a:pPr>
            <a:r>
              <a:rPr lang="en-US" sz="1500" b="1" dirty="0">
                <a:solidFill>
                  <a:srgbClr val="3A2B26"/>
                </a:solidFill>
                <a:latin typeface="Cambria" pitchFamily="34" charset="0"/>
                <a:ea typeface="Cambria" pitchFamily="34" charset="-122"/>
                <a:cs typeface="Cambria" pitchFamily="34" charset="-120"/>
              </a:rPr>
              <a:t>When do I use Grid instead of Flexbox?</a:t>
            </a:r>
            <a:endParaRPr lang="en-US" sz="1500" dirty="0"/>
          </a:p>
        </p:txBody>
      </p:sp>
      <p:sp>
        <p:nvSpPr>
          <p:cNvPr id="23" name="Text 21"/>
          <p:cNvSpPr/>
          <p:nvPr/>
        </p:nvSpPr>
        <p:spPr>
          <a:xfrm>
            <a:off x="822960" y="5102352"/>
            <a:ext cx="10515600" cy="54864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Flexbox = ONE direction (a row OR a column). Grid = rows AND columns together — perfect for a photo gallery.</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300" b="1" spc="100" kern="0" dirty="0">
                <a:solidFill>
                  <a:srgbClr val="B85042"/>
                </a:solidFill>
                <a:latin typeface="Calibri" pitchFamily="34" charset="0"/>
                <a:ea typeface="Calibri" pitchFamily="34" charset="-122"/>
                <a:cs typeface="Calibri" pitchFamily="34" charset="-120"/>
              </a:rPr>
              <a:t>PROPERTY TOUR</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2700" b="1" dirty="0">
                <a:solidFill>
                  <a:srgbClr val="2D2D2D"/>
                </a:solidFill>
                <a:latin typeface="Cambria" pitchFamily="34" charset="0"/>
                <a:ea typeface="Cambria" pitchFamily="34" charset="-122"/>
                <a:cs typeface="Cambria" pitchFamily="34" charset="-120"/>
              </a:rPr>
              <a:t>Understanding repeat() and fr</a:t>
            </a:r>
            <a:endParaRPr lang="en-US" sz="2700" dirty="0"/>
          </a:p>
        </p:txBody>
      </p:sp>
      <p:sp>
        <p:nvSpPr>
          <p:cNvPr id="4" name="Shape 2"/>
          <p:cNvSpPr/>
          <p:nvPr/>
        </p:nvSpPr>
        <p:spPr>
          <a:xfrm>
            <a:off x="548640" y="1828800"/>
            <a:ext cx="5303520" cy="3931920"/>
          </a:xfrm>
          <a:prstGeom prst="roundRect">
            <a:avLst>
              <a:gd name="adj" fmla="val 2326"/>
            </a:avLst>
          </a:prstGeom>
          <a:solidFill>
            <a:srgbClr val="E7E8D1"/>
          </a:solidFill>
          <a:ln/>
        </p:spPr>
      </p:sp>
      <p:sp>
        <p:nvSpPr>
          <p:cNvPr id="5" name="Text 3"/>
          <p:cNvSpPr/>
          <p:nvPr/>
        </p:nvSpPr>
        <p:spPr>
          <a:xfrm>
            <a:off x="822960" y="2029968"/>
            <a:ext cx="4754880" cy="365760"/>
          </a:xfrm>
          <a:prstGeom prst="rect">
            <a:avLst/>
          </a:prstGeom>
          <a:noFill/>
          <a:ln/>
        </p:spPr>
        <p:txBody>
          <a:bodyPr wrap="square" lIns="0" tIns="0" rIns="0" bIns="0" rtlCol="0" anchor="ctr"/>
          <a:lstStyle/>
          <a:p>
            <a:pPr indent="0" marL="0">
              <a:buNone/>
            </a:pPr>
            <a:r>
              <a:rPr lang="en-US" sz="1500" b="1" dirty="0">
                <a:solidFill>
                  <a:srgbClr val="3A2B26"/>
                </a:solidFill>
                <a:latin typeface="Cambria" pitchFamily="34" charset="0"/>
                <a:ea typeface="Cambria" pitchFamily="34" charset="-122"/>
                <a:cs typeface="Cambria" pitchFamily="34" charset="-120"/>
              </a:rPr>
              <a:t>fr = “fraction”</a:t>
            </a:r>
            <a:endParaRPr lang="en-US" sz="1500" dirty="0"/>
          </a:p>
        </p:txBody>
      </p:sp>
      <p:sp>
        <p:nvSpPr>
          <p:cNvPr id="6" name="Text 4"/>
          <p:cNvSpPr/>
          <p:nvPr/>
        </p:nvSpPr>
        <p:spPr>
          <a:xfrm>
            <a:off x="822960" y="2450592"/>
            <a:ext cx="4754880" cy="310896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1fr means “1 equal share of the space”</a:t>
            </a:r>
            <a:endParaRPr lang="en-US" sz="1200" dirty="0"/>
          </a:p>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grid-template-columns: 1fr 1fr 1fr; = 3 equal columns</a:t>
            </a:r>
            <a:endParaRPr lang="en-US" sz="1200" dirty="0"/>
          </a:p>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Change one number to make a column wider, e.g. 2fr 1fr 1fr</a:t>
            </a:r>
            <a:endParaRPr lang="en-US" sz="1200" dirty="0"/>
          </a:p>
        </p:txBody>
      </p:sp>
      <p:sp>
        <p:nvSpPr>
          <p:cNvPr id="7" name="Shape 5"/>
          <p:cNvSpPr/>
          <p:nvPr/>
        </p:nvSpPr>
        <p:spPr>
          <a:xfrm>
            <a:off x="6126480" y="1828800"/>
            <a:ext cx="5486400" cy="3931920"/>
          </a:xfrm>
          <a:prstGeom prst="roundRect">
            <a:avLst>
              <a:gd name="adj" fmla="val 2326"/>
            </a:avLst>
          </a:prstGeom>
          <a:solidFill>
            <a:srgbClr val="F4EFE7"/>
          </a:solidFill>
          <a:ln/>
        </p:spPr>
      </p:sp>
      <p:sp>
        <p:nvSpPr>
          <p:cNvPr id="8" name="Text 6"/>
          <p:cNvSpPr/>
          <p:nvPr/>
        </p:nvSpPr>
        <p:spPr>
          <a:xfrm>
            <a:off x="6400800" y="2029968"/>
            <a:ext cx="4937760" cy="365760"/>
          </a:xfrm>
          <a:prstGeom prst="rect">
            <a:avLst/>
          </a:prstGeom>
          <a:noFill/>
          <a:ln/>
        </p:spPr>
        <p:txBody>
          <a:bodyPr wrap="square" lIns="0" tIns="0" rIns="0" bIns="0" rtlCol="0" anchor="ctr"/>
          <a:lstStyle/>
          <a:p>
            <a:pPr indent="0" marL="0">
              <a:buNone/>
            </a:pPr>
            <a:r>
              <a:rPr lang="en-US" sz="1500" b="1" dirty="0">
                <a:solidFill>
                  <a:srgbClr val="3A2B26"/>
                </a:solidFill>
                <a:latin typeface="Cambria" pitchFamily="34" charset="0"/>
                <a:ea typeface="Cambria" pitchFamily="34" charset="-122"/>
                <a:cs typeface="Cambria" pitchFamily="34" charset="-120"/>
              </a:rPr>
              <a:t>repeat() = a shortcut</a:t>
            </a:r>
            <a:endParaRPr lang="en-US" sz="1500" dirty="0"/>
          </a:p>
        </p:txBody>
      </p:sp>
      <p:sp>
        <p:nvSpPr>
          <p:cNvPr id="9" name="Text 7"/>
          <p:cNvSpPr/>
          <p:nvPr/>
        </p:nvSpPr>
        <p:spPr>
          <a:xfrm>
            <a:off x="6400800" y="2450592"/>
            <a:ext cx="4937760" cy="310896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repeat(3, 1fr) means “repeat 1fr, 3 times”</a:t>
            </a:r>
            <a:endParaRPr lang="en-US" sz="1200" dirty="0"/>
          </a:p>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Same result as 1fr 1fr 1fr, just shorter to write</a:t>
            </a:r>
            <a:endParaRPr lang="en-US" sz="1200" dirty="0"/>
          </a:p>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Change the first number any time you want more or fewer columns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300" b="1" spc="100" kern="0" dirty="0">
                <a:solidFill>
                  <a:srgbClr val="B85042"/>
                </a:solidFill>
                <a:latin typeface="Calibri" pitchFamily="34" charset="0"/>
                <a:ea typeface="Calibri" pitchFamily="34" charset="-122"/>
                <a:cs typeface="Calibri" pitchFamily="34" charset="-120"/>
              </a:rPr>
              <a:t>BEFORE / AFTER</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2700" b="1" dirty="0">
                <a:solidFill>
                  <a:srgbClr val="2D2D2D"/>
                </a:solidFill>
                <a:latin typeface="Cambria" pitchFamily="34" charset="0"/>
                <a:ea typeface="Cambria" pitchFamily="34" charset="-122"/>
                <a:cs typeface="Cambria" pitchFamily="34" charset="-120"/>
              </a:rPr>
              <a:t>Flexbox in Action — the Header</a:t>
            </a:r>
            <a:endParaRPr lang="en-US" sz="2700" dirty="0"/>
          </a:p>
        </p:txBody>
      </p:sp>
      <p:sp>
        <p:nvSpPr>
          <p:cNvPr id="4" name="Shape 2"/>
          <p:cNvSpPr/>
          <p:nvPr/>
        </p:nvSpPr>
        <p:spPr>
          <a:xfrm>
            <a:off x="548640" y="1920240"/>
            <a:ext cx="5074920" cy="3840480"/>
          </a:xfrm>
          <a:prstGeom prst="roundRect">
            <a:avLst>
              <a:gd name="adj" fmla="val 2381"/>
            </a:avLst>
          </a:prstGeom>
          <a:solidFill>
            <a:srgbClr val="F4EFE7"/>
          </a:solidFill>
          <a:ln/>
        </p:spPr>
      </p:sp>
      <p:sp>
        <p:nvSpPr>
          <p:cNvPr id="5" name="Text 3"/>
          <p:cNvSpPr/>
          <p:nvPr/>
        </p:nvSpPr>
        <p:spPr>
          <a:xfrm>
            <a:off x="822960" y="2148840"/>
            <a:ext cx="4526280" cy="365760"/>
          </a:xfrm>
          <a:prstGeom prst="rect">
            <a:avLst/>
          </a:prstGeom>
          <a:noFill/>
          <a:ln/>
        </p:spPr>
        <p:txBody>
          <a:bodyPr wrap="square" lIns="0" tIns="0" rIns="0" bIns="0" rtlCol="0" anchor="ctr"/>
          <a:lstStyle/>
          <a:p>
            <a:pPr indent="0" marL="0">
              <a:buNone/>
            </a:pPr>
            <a:r>
              <a:rPr lang="en-US" sz="1600" b="1" dirty="0">
                <a:solidFill>
                  <a:srgbClr val="3A2B26"/>
                </a:solidFill>
                <a:latin typeface="Cambria" pitchFamily="34" charset="0"/>
                <a:ea typeface="Cambria" pitchFamily="34" charset="-122"/>
                <a:cs typeface="Cambria" pitchFamily="34" charset="-120"/>
              </a:rPr>
              <a:t>Before (no CSS)</a:t>
            </a:r>
            <a:endParaRPr lang="en-US" sz="1600" dirty="0"/>
          </a:p>
        </p:txBody>
      </p:sp>
      <p:sp>
        <p:nvSpPr>
          <p:cNvPr id="6" name="Shape 4"/>
          <p:cNvSpPr/>
          <p:nvPr/>
        </p:nvSpPr>
        <p:spPr>
          <a:xfrm>
            <a:off x="822960" y="2743200"/>
            <a:ext cx="2011680" cy="411480"/>
          </a:xfrm>
          <a:prstGeom prst="roundRect">
            <a:avLst>
              <a:gd name="adj" fmla="val 13333"/>
            </a:avLst>
          </a:prstGeom>
          <a:solidFill>
            <a:srgbClr val="A7BEAE"/>
          </a:solidFill>
          <a:ln/>
        </p:spPr>
      </p:sp>
      <p:sp>
        <p:nvSpPr>
          <p:cNvPr id="7" name="Text 5"/>
          <p:cNvSpPr/>
          <p:nvPr/>
        </p:nvSpPr>
        <p:spPr>
          <a:xfrm>
            <a:off x="822960" y="2743200"/>
            <a:ext cx="2011680" cy="41148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Logo</a:t>
            </a:r>
            <a:endParaRPr lang="en-US" sz="1100" dirty="0"/>
          </a:p>
        </p:txBody>
      </p:sp>
      <p:sp>
        <p:nvSpPr>
          <p:cNvPr id="8" name="Shape 6"/>
          <p:cNvSpPr/>
          <p:nvPr/>
        </p:nvSpPr>
        <p:spPr>
          <a:xfrm>
            <a:off x="822960" y="3291840"/>
            <a:ext cx="2011680" cy="411480"/>
          </a:xfrm>
          <a:prstGeom prst="roundRect">
            <a:avLst>
              <a:gd name="adj" fmla="val 13333"/>
            </a:avLst>
          </a:prstGeom>
          <a:solidFill>
            <a:srgbClr val="A7BEAE"/>
          </a:solidFill>
          <a:ln/>
        </p:spPr>
      </p:sp>
      <p:sp>
        <p:nvSpPr>
          <p:cNvPr id="9" name="Text 7"/>
          <p:cNvSpPr/>
          <p:nvPr/>
        </p:nvSpPr>
        <p:spPr>
          <a:xfrm>
            <a:off x="822960" y="3291840"/>
            <a:ext cx="2011680" cy="41148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Home</a:t>
            </a:r>
            <a:endParaRPr lang="en-US" sz="1100" dirty="0"/>
          </a:p>
        </p:txBody>
      </p:sp>
      <p:sp>
        <p:nvSpPr>
          <p:cNvPr id="10" name="Shape 8"/>
          <p:cNvSpPr/>
          <p:nvPr/>
        </p:nvSpPr>
        <p:spPr>
          <a:xfrm>
            <a:off x="822960" y="3840480"/>
            <a:ext cx="2011680" cy="411480"/>
          </a:xfrm>
          <a:prstGeom prst="roundRect">
            <a:avLst>
              <a:gd name="adj" fmla="val 13333"/>
            </a:avLst>
          </a:prstGeom>
          <a:solidFill>
            <a:srgbClr val="A7BEAE"/>
          </a:solidFill>
          <a:ln/>
        </p:spPr>
      </p:sp>
      <p:sp>
        <p:nvSpPr>
          <p:cNvPr id="11" name="Text 9"/>
          <p:cNvSpPr/>
          <p:nvPr/>
        </p:nvSpPr>
        <p:spPr>
          <a:xfrm>
            <a:off x="822960" y="3840480"/>
            <a:ext cx="2011680" cy="41148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About</a:t>
            </a:r>
            <a:endParaRPr lang="en-US" sz="1100" dirty="0"/>
          </a:p>
        </p:txBody>
      </p:sp>
      <p:sp>
        <p:nvSpPr>
          <p:cNvPr id="12" name="Shape 10"/>
          <p:cNvSpPr/>
          <p:nvPr/>
        </p:nvSpPr>
        <p:spPr>
          <a:xfrm>
            <a:off x="822960" y="4389120"/>
            <a:ext cx="2011680" cy="411480"/>
          </a:xfrm>
          <a:prstGeom prst="roundRect">
            <a:avLst>
              <a:gd name="adj" fmla="val 13333"/>
            </a:avLst>
          </a:prstGeom>
          <a:solidFill>
            <a:srgbClr val="A7BEAE"/>
          </a:solidFill>
          <a:ln/>
        </p:spPr>
      </p:sp>
      <p:sp>
        <p:nvSpPr>
          <p:cNvPr id="13" name="Text 11"/>
          <p:cNvSpPr/>
          <p:nvPr/>
        </p:nvSpPr>
        <p:spPr>
          <a:xfrm>
            <a:off x="822960" y="4389120"/>
            <a:ext cx="2011680" cy="41148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Contact</a:t>
            </a:r>
            <a:endParaRPr lang="en-US" sz="1100" dirty="0"/>
          </a:p>
        </p:txBody>
      </p:sp>
      <p:sp>
        <p:nvSpPr>
          <p:cNvPr id="14" name="Shape 12"/>
          <p:cNvSpPr/>
          <p:nvPr/>
        </p:nvSpPr>
        <p:spPr>
          <a:xfrm>
            <a:off x="6172200" y="1920240"/>
            <a:ext cx="5074920" cy="3840480"/>
          </a:xfrm>
          <a:prstGeom prst="roundRect">
            <a:avLst>
              <a:gd name="adj" fmla="val 2381"/>
            </a:avLst>
          </a:prstGeom>
          <a:solidFill>
            <a:srgbClr val="E7E8D1"/>
          </a:solidFill>
          <a:ln/>
        </p:spPr>
      </p:sp>
      <p:sp>
        <p:nvSpPr>
          <p:cNvPr id="15" name="Text 13"/>
          <p:cNvSpPr/>
          <p:nvPr/>
        </p:nvSpPr>
        <p:spPr>
          <a:xfrm>
            <a:off x="6446520" y="2148840"/>
            <a:ext cx="4526280" cy="365760"/>
          </a:xfrm>
          <a:prstGeom prst="rect">
            <a:avLst/>
          </a:prstGeom>
          <a:noFill/>
          <a:ln/>
        </p:spPr>
        <p:txBody>
          <a:bodyPr wrap="square" lIns="0" tIns="0" rIns="0" bIns="0" rtlCol="0" anchor="ctr"/>
          <a:lstStyle/>
          <a:p>
            <a:pPr indent="0" marL="0">
              <a:buNone/>
            </a:pPr>
            <a:r>
              <a:rPr lang="en-US" sz="1600" b="1" dirty="0">
                <a:solidFill>
                  <a:srgbClr val="3A2B26"/>
                </a:solidFill>
                <a:latin typeface="Cambria" pitchFamily="34" charset="0"/>
                <a:ea typeface="Cambria" pitchFamily="34" charset="-122"/>
                <a:cs typeface="Cambria" pitchFamily="34" charset="-120"/>
              </a:rPr>
              <a:t>After (display: flex)</a:t>
            </a:r>
            <a:endParaRPr lang="en-US" sz="1600" dirty="0"/>
          </a:p>
        </p:txBody>
      </p:sp>
      <p:sp>
        <p:nvSpPr>
          <p:cNvPr id="16" name="Shape 14"/>
          <p:cNvSpPr/>
          <p:nvPr/>
        </p:nvSpPr>
        <p:spPr>
          <a:xfrm>
            <a:off x="6446520" y="2834640"/>
            <a:ext cx="4526280" cy="548640"/>
          </a:xfrm>
          <a:prstGeom prst="roundRect">
            <a:avLst>
              <a:gd name="adj" fmla="val 10000"/>
            </a:avLst>
          </a:prstGeom>
          <a:solidFill>
            <a:srgbClr val="FFFFFF"/>
          </a:solidFill>
          <a:ln w="12700">
            <a:solidFill>
              <a:srgbClr val="A7BEAE"/>
            </a:solidFill>
            <a:prstDash val="solid"/>
          </a:ln>
        </p:spPr>
      </p:sp>
      <p:sp>
        <p:nvSpPr>
          <p:cNvPr id="17" name="Shape 15"/>
          <p:cNvSpPr/>
          <p:nvPr/>
        </p:nvSpPr>
        <p:spPr>
          <a:xfrm>
            <a:off x="6583680" y="2971800"/>
            <a:ext cx="822960" cy="274320"/>
          </a:xfrm>
          <a:prstGeom prst="roundRect">
            <a:avLst>
              <a:gd name="adj" fmla="val 16667"/>
            </a:avLst>
          </a:prstGeom>
          <a:solidFill>
            <a:srgbClr val="B85042"/>
          </a:solidFill>
          <a:ln/>
        </p:spPr>
      </p:sp>
      <p:sp>
        <p:nvSpPr>
          <p:cNvPr id="18" name="Shape 16"/>
          <p:cNvSpPr/>
          <p:nvPr/>
        </p:nvSpPr>
        <p:spPr>
          <a:xfrm>
            <a:off x="7955280" y="2971800"/>
            <a:ext cx="914400" cy="274320"/>
          </a:xfrm>
          <a:prstGeom prst="roundRect">
            <a:avLst>
              <a:gd name="adj" fmla="val 16667"/>
            </a:avLst>
          </a:prstGeom>
          <a:solidFill>
            <a:srgbClr val="A7BEAE"/>
          </a:solidFill>
          <a:ln/>
        </p:spPr>
      </p:sp>
      <p:sp>
        <p:nvSpPr>
          <p:cNvPr id="19" name="Shape 17"/>
          <p:cNvSpPr/>
          <p:nvPr/>
        </p:nvSpPr>
        <p:spPr>
          <a:xfrm>
            <a:off x="9006840" y="2971800"/>
            <a:ext cx="914400" cy="274320"/>
          </a:xfrm>
          <a:prstGeom prst="roundRect">
            <a:avLst>
              <a:gd name="adj" fmla="val 16667"/>
            </a:avLst>
          </a:prstGeom>
          <a:solidFill>
            <a:srgbClr val="A7BEAE"/>
          </a:solidFill>
          <a:ln/>
        </p:spPr>
      </p:sp>
      <p:sp>
        <p:nvSpPr>
          <p:cNvPr id="20" name="Shape 18"/>
          <p:cNvSpPr/>
          <p:nvPr/>
        </p:nvSpPr>
        <p:spPr>
          <a:xfrm>
            <a:off x="10058400" y="2971800"/>
            <a:ext cx="914400" cy="274320"/>
          </a:xfrm>
          <a:prstGeom prst="roundRect">
            <a:avLst>
              <a:gd name="adj" fmla="val 16667"/>
            </a:avLst>
          </a:prstGeom>
          <a:solidFill>
            <a:srgbClr val="A7BEAE"/>
          </a:solidFill>
          <a:ln/>
        </p:spPr>
      </p:sp>
      <p:sp>
        <p:nvSpPr>
          <p:cNvPr id="21" name="Text 19"/>
          <p:cNvSpPr/>
          <p:nvPr/>
        </p:nvSpPr>
        <p:spPr>
          <a:xfrm>
            <a:off x="6446520" y="3657600"/>
            <a:ext cx="4526280" cy="822960"/>
          </a:xfrm>
          <a:prstGeom prst="rect">
            <a:avLst/>
          </a:prstGeom>
          <a:noFill/>
          <a:ln/>
        </p:spPr>
        <p:txBody>
          <a:bodyPr wrap="square" lIns="0" tIns="0" rIns="0" bIns="0" rtlCol="0" anchor="ctr"/>
          <a:lstStyle/>
          <a:p>
            <a:pPr indent="0" marL="0">
              <a:buNone/>
            </a:pPr>
            <a:r>
              <a:rPr lang="en-US" sz="1200" dirty="0">
                <a:solidFill>
                  <a:srgbClr val="3A2B26"/>
                </a:solidFill>
                <a:latin typeface="Courier New" pitchFamily="34" charset="0"/>
                <a:ea typeface="Courier New" pitchFamily="34" charset="-122"/>
                <a:cs typeface="Courier New" pitchFamily="34" charset="-120"/>
              </a:rPr>
              <a:t>justify-content: space-between;</a:t>
            </a:r>
            <a:endParaRPr lang="en-US" sz="1200" dirty="0"/>
          </a:p>
          <a:p>
            <a:pPr indent="0" marL="0">
              <a:buNone/>
            </a:pPr>
            <a:r>
              <a:rPr lang="en-US" sz="1200" dirty="0">
                <a:solidFill>
                  <a:srgbClr val="3A2B26"/>
                </a:solidFill>
                <a:latin typeface="Courier New" pitchFamily="34" charset="0"/>
                <a:ea typeface="Courier New" pitchFamily="34" charset="-122"/>
                <a:cs typeface="Courier New" pitchFamily="34" charset="-120"/>
              </a:rPr>
              <a:t>align-items: center;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300" b="1" spc="100" kern="0" dirty="0">
                <a:solidFill>
                  <a:srgbClr val="B85042"/>
                </a:solidFill>
                <a:latin typeface="Calibri" pitchFamily="34" charset="0"/>
                <a:ea typeface="Calibri" pitchFamily="34" charset="-122"/>
                <a:cs typeface="Calibri" pitchFamily="34" charset="-120"/>
              </a:rPr>
              <a:t>BEFORE / AFTER</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2700" b="1" dirty="0">
                <a:solidFill>
                  <a:srgbClr val="2D2D2D"/>
                </a:solidFill>
                <a:latin typeface="Cambria" pitchFamily="34" charset="0"/>
                <a:ea typeface="Cambria" pitchFamily="34" charset="-122"/>
                <a:cs typeface="Cambria" pitchFamily="34" charset="-120"/>
              </a:rPr>
              <a:t>Grid in Action — the Gallery</a:t>
            </a:r>
            <a:endParaRPr lang="en-US" sz="2700" dirty="0"/>
          </a:p>
        </p:txBody>
      </p:sp>
      <p:sp>
        <p:nvSpPr>
          <p:cNvPr id="4" name="Shape 2"/>
          <p:cNvSpPr/>
          <p:nvPr/>
        </p:nvSpPr>
        <p:spPr>
          <a:xfrm>
            <a:off x="548640" y="1920240"/>
            <a:ext cx="5074920" cy="3840480"/>
          </a:xfrm>
          <a:prstGeom prst="roundRect">
            <a:avLst>
              <a:gd name="adj" fmla="val 2381"/>
            </a:avLst>
          </a:prstGeom>
          <a:solidFill>
            <a:srgbClr val="F4EFE7"/>
          </a:solidFill>
          <a:ln/>
        </p:spPr>
      </p:sp>
      <p:sp>
        <p:nvSpPr>
          <p:cNvPr id="5" name="Text 3"/>
          <p:cNvSpPr/>
          <p:nvPr/>
        </p:nvSpPr>
        <p:spPr>
          <a:xfrm>
            <a:off x="822960" y="2148840"/>
            <a:ext cx="4526280" cy="365760"/>
          </a:xfrm>
          <a:prstGeom prst="rect">
            <a:avLst/>
          </a:prstGeom>
          <a:noFill/>
          <a:ln/>
        </p:spPr>
        <p:txBody>
          <a:bodyPr wrap="square" lIns="0" tIns="0" rIns="0" bIns="0" rtlCol="0" anchor="ctr"/>
          <a:lstStyle/>
          <a:p>
            <a:pPr indent="0" marL="0">
              <a:buNone/>
            </a:pPr>
            <a:r>
              <a:rPr lang="en-US" sz="1600" b="1" dirty="0">
                <a:solidFill>
                  <a:srgbClr val="3A2B26"/>
                </a:solidFill>
                <a:latin typeface="Cambria" pitchFamily="34" charset="0"/>
                <a:ea typeface="Cambria" pitchFamily="34" charset="-122"/>
                <a:cs typeface="Cambria" pitchFamily="34" charset="-120"/>
              </a:rPr>
              <a:t>Before (no CSS)</a:t>
            </a:r>
            <a:endParaRPr lang="en-US" sz="1600" dirty="0"/>
          </a:p>
        </p:txBody>
      </p:sp>
      <p:sp>
        <p:nvSpPr>
          <p:cNvPr id="6" name="Shape 4"/>
          <p:cNvSpPr/>
          <p:nvPr/>
        </p:nvSpPr>
        <p:spPr>
          <a:xfrm>
            <a:off x="822960" y="2743200"/>
            <a:ext cx="4526280" cy="502920"/>
          </a:xfrm>
          <a:prstGeom prst="roundRect">
            <a:avLst>
              <a:gd name="adj" fmla="val 10909"/>
            </a:avLst>
          </a:prstGeom>
          <a:solidFill>
            <a:srgbClr val="A7BEAE"/>
          </a:solidFill>
          <a:ln/>
        </p:spPr>
      </p:sp>
      <p:sp>
        <p:nvSpPr>
          <p:cNvPr id="7" name="Text 5"/>
          <p:cNvSpPr/>
          <p:nvPr/>
        </p:nvSpPr>
        <p:spPr>
          <a:xfrm>
            <a:off x="822960" y="2743200"/>
            <a:ext cx="4526280" cy="5029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Card 1</a:t>
            </a:r>
            <a:endParaRPr lang="en-US" sz="1100" dirty="0"/>
          </a:p>
        </p:txBody>
      </p:sp>
      <p:sp>
        <p:nvSpPr>
          <p:cNvPr id="8" name="Shape 6"/>
          <p:cNvSpPr/>
          <p:nvPr/>
        </p:nvSpPr>
        <p:spPr>
          <a:xfrm>
            <a:off x="822960" y="3429000"/>
            <a:ext cx="4526280" cy="502920"/>
          </a:xfrm>
          <a:prstGeom prst="roundRect">
            <a:avLst>
              <a:gd name="adj" fmla="val 10909"/>
            </a:avLst>
          </a:prstGeom>
          <a:solidFill>
            <a:srgbClr val="A7BEAE"/>
          </a:solidFill>
          <a:ln/>
        </p:spPr>
      </p:sp>
      <p:sp>
        <p:nvSpPr>
          <p:cNvPr id="9" name="Text 7"/>
          <p:cNvSpPr/>
          <p:nvPr/>
        </p:nvSpPr>
        <p:spPr>
          <a:xfrm>
            <a:off x="822960" y="3429000"/>
            <a:ext cx="4526280" cy="5029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Card 2</a:t>
            </a:r>
            <a:endParaRPr lang="en-US" sz="1100" dirty="0"/>
          </a:p>
        </p:txBody>
      </p:sp>
      <p:sp>
        <p:nvSpPr>
          <p:cNvPr id="10" name="Shape 8"/>
          <p:cNvSpPr/>
          <p:nvPr/>
        </p:nvSpPr>
        <p:spPr>
          <a:xfrm>
            <a:off x="822960" y="4114800"/>
            <a:ext cx="4526280" cy="502920"/>
          </a:xfrm>
          <a:prstGeom prst="roundRect">
            <a:avLst>
              <a:gd name="adj" fmla="val 10909"/>
            </a:avLst>
          </a:prstGeom>
          <a:solidFill>
            <a:srgbClr val="A7BEAE"/>
          </a:solidFill>
          <a:ln/>
        </p:spPr>
      </p:sp>
      <p:sp>
        <p:nvSpPr>
          <p:cNvPr id="11" name="Text 9"/>
          <p:cNvSpPr/>
          <p:nvPr/>
        </p:nvSpPr>
        <p:spPr>
          <a:xfrm>
            <a:off x="822960" y="4114800"/>
            <a:ext cx="4526280" cy="5029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Card 3</a:t>
            </a:r>
            <a:endParaRPr lang="en-US" sz="1100" dirty="0"/>
          </a:p>
        </p:txBody>
      </p:sp>
      <p:sp>
        <p:nvSpPr>
          <p:cNvPr id="12" name="Shape 10"/>
          <p:cNvSpPr/>
          <p:nvPr/>
        </p:nvSpPr>
        <p:spPr>
          <a:xfrm>
            <a:off x="6172200" y="1920240"/>
            <a:ext cx="5074920" cy="3840480"/>
          </a:xfrm>
          <a:prstGeom prst="roundRect">
            <a:avLst>
              <a:gd name="adj" fmla="val 2381"/>
            </a:avLst>
          </a:prstGeom>
          <a:solidFill>
            <a:srgbClr val="E7E8D1"/>
          </a:solidFill>
          <a:ln/>
        </p:spPr>
      </p:sp>
      <p:sp>
        <p:nvSpPr>
          <p:cNvPr id="13" name="Text 11"/>
          <p:cNvSpPr/>
          <p:nvPr/>
        </p:nvSpPr>
        <p:spPr>
          <a:xfrm>
            <a:off x="6446520" y="2148840"/>
            <a:ext cx="4526280" cy="365760"/>
          </a:xfrm>
          <a:prstGeom prst="rect">
            <a:avLst/>
          </a:prstGeom>
          <a:noFill/>
          <a:ln/>
        </p:spPr>
        <p:txBody>
          <a:bodyPr wrap="square" lIns="0" tIns="0" rIns="0" bIns="0" rtlCol="0" anchor="ctr"/>
          <a:lstStyle/>
          <a:p>
            <a:pPr indent="0" marL="0">
              <a:buNone/>
            </a:pPr>
            <a:r>
              <a:rPr lang="en-US" sz="1600" b="1" dirty="0">
                <a:solidFill>
                  <a:srgbClr val="3A2B26"/>
                </a:solidFill>
                <a:latin typeface="Cambria" pitchFamily="34" charset="0"/>
                <a:ea typeface="Cambria" pitchFamily="34" charset="-122"/>
                <a:cs typeface="Cambria" pitchFamily="34" charset="-120"/>
              </a:rPr>
              <a:t>After (display: grid)</a:t>
            </a:r>
            <a:endParaRPr lang="en-US" sz="1600" dirty="0"/>
          </a:p>
        </p:txBody>
      </p:sp>
      <p:sp>
        <p:nvSpPr>
          <p:cNvPr id="14" name="Shape 12"/>
          <p:cNvSpPr/>
          <p:nvPr/>
        </p:nvSpPr>
        <p:spPr>
          <a:xfrm>
            <a:off x="6446520" y="2788920"/>
            <a:ext cx="1280160" cy="822960"/>
          </a:xfrm>
          <a:prstGeom prst="roundRect">
            <a:avLst>
              <a:gd name="adj" fmla="val 6667"/>
            </a:avLst>
          </a:prstGeom>
          <a:solidFill>
            <a:srgbClr val="FFFFFF"/>
          </a:solidFill>
          <a:ln w="12700">
            <a:solidFill>
              <a:srgbClr val="A7BEAE"/>
            </a:solidFill>
            <a:prstDash val="solid"/>
          </a:ln>
        </p:spPr>
      </p:sp>
      <p:sp>
        <p:nvSpPr>
          <p:cNvPr id="15" name="Text 13"/>
          <p:cNvSpPr/>
          <p:nvPr/>
        </p:nvSpPr>
        <p:spPr>
          <a:xfrm>
            <a:off x="6446520" y="2788920"/>
            <a:ext cx="1280160" cy="822960"/>
          </a:xfrm>
          <a:prstGeom prst="rect">
            <a:avLst/>
          </a:prstGeom>
          <a:noFill/>
          <a:ln/>
        </p:spPr>
        <p:txBody>
          <a:bodyPr wrap="square" lIns="0" tIns="0" rIns="0" bIns="0" rtlCol="0" anchor="ctr"/>
          <a:lstStyle/>
          <a:p>
            <a:pPr algn="ctr" indent="0" marL="0">
              <a:buNone/>
            </a:pPr>
            <a:r>
              <a:rPr lang="en-US" sz="1050" dirty="0">
                <a:solidFill>
                  <a:srgbClr val="3A2B26"/>
                </a:solidFill>
                <a:latin typeface="Calibri" pitchFamily="34" charset="0"/>
                <a:ea typeface="Calibri" pitchFamily="34" charset="-122"/>
                <a:cs typeface="Calibri" pitchFamily="34" charset="-120"/>
              </a:rPr>
              <a:t>Card 1</a:t>
            </a:r>
            <a:endParaRPr lang="en-US" sz="1050" dirty="0"/>
          </a:p>
        </p:txBody>
      </p:sp>
      <p:sp>
        <p:nvSpPr>
          <p:cNvPr id="16" name="Shape 14"/>
          <p:cNvSpPr/>
          <p:nvPr/>
        </p:nvSpPr>
        <p:spPr>
          <a:xfrm>
            <a:off x="7909560" y="2788920"/>
            <a:ext cx="1280160" cy="822960"/>
          </a:xfrm>
          <a:prstGeom prst="roundRect">
            <a:avLst>
              <a:gd name="adj" fmla="val 6667"/>
            </a:avLst>
          </a:prstGeom>
          <a:solidFill>
            <a:srgbClr val="FFFFFF"/>
          </a:solidFill>
          <a:ln w="12700">
            <a:solidFill>
              <a:srgbClr val="A7BEAE"/>
            </a:solidFill>
            <a:prstDash val="solid"/>
          </a:ln>
        </p:spPr>
      </p:sp>
      <p:sp>
        <p:nvSpPr>
          <p:cNvPr id="17" name="Text 15"/>
          <p:cNvSpPr/>
          <p:nvPr/>
        </p:nvSpPr>
        <p:spPr>
          <a:xfrm>
            <a:off x="7909560" y="2788920"/>
            <a:ext cx="1280160" cy="822960"/>
          </a:xfrm>
          <a:prstGeom prst="rect">
            <a:avLst/>
          </a:prstGeom>
          <a:noFill/>
          <a:ln/>
        </p:spPr>
        <p:txBody>
          <a:bodyPr wrap="square" lIns="0" tIns="0" rIns="0" bIns="0" rtlCol="0" anchor="ctr"/>
          <a:lstStyle/>
          <a:p>
            <a:pPr algn="ctr" indent="0" marL="0">
              <a:buNone/>
            </a:pPr>
            <a:r>
              <a:rPr lang="en-US" sz="1050" dirty="0">
                <a:solidFill>
                  <a:srgbClr val="3A2B26"/>
                </a:solidFill>
                <a:latin typeface="Calibri" pitchFamily="34" charset="0"/>
                <a:ea typeface="Calibri" pitchFamily="34" charset="-122"/>
                <a:cs typeface="Calibri" pitchFamily="34" charset="-120"/>
              </a:rPr>
              <a:t>Card 2</a:t>
            </a:r>
            <a:endParaRPr lang="en-US" sz="1050" dirty="0"/>
          </a:p>
        </p:txBody>
      </p:sp>
      <p:sp>
        <p:nvSpPr>
          <p:cNvPr id="18" name="Shape 16"/>
          <p:cNvSpPr/>
          <p:nvPr/>
        </p:nvSpPr>
        <p:spPr>
          <a:xfrm>
            <a:off x="9372600" y="2788920"/>
            <a:ext cx="1280160" cy="822960"/>
          </a:xfrm>
          <a:prstGeom prst="roundRect">
            <a:avLst>
              <a:gd name="adj" fmla="val 6667"/>
            </a:avLst>
          </a:prstGeom>
          <a:solidFill>
            <a:srgbClr val="FFFFFF"/>
          </a:solidFill>
          <a:ln w="12700">
            <a:solidFill>
              <a:srgbClr val="A7BEAE"/>
            </a:solidFill>
            <a:prstDash val="solid"/>
          </a:ln>
        </p:spPr>
      </p:sp>
      <p:sp>
        <p:nvSpPr>
          <p:cNvPr id="19" name="Text 17"/>
          <p:cNvSpPr/>
          <p:nvPr/>
        </p:nvSpPr>
        <p:spPr>
          <a:xfrm>
            <a:off x="9372600" y="2788920"/>
            <a:ext cx="1280160" cy="822960"/>
          </a:xfrm>
          <a:prstGeom prst="rect">
            <a:avLst/>
          </a:prstGeom>
          <a:noFill/>
          <a:ln/>
        </p:spPr>
        <p:txBody>
          <a:bodyPr wrap="square" lIns="0" tIns="0" rIns="0" bIns="0" rtlCol="0" anchor="ctr"/>
          <a:lstStyle/>
          <a:p>
            <a:pPr algn="ctr" indent="0" marL="0">
              <a:buNone/>
            </a:pPr>
            <a:r>
              <a:rPr lang="en-US" sz="1050" dirty="0">
                <a:solidFill>
                  <a:srgbClr val="3A2B26"/>
                </a:solidFill>
                <a:latin typeface="Calibri" pitchFamily="34" charset="0"/>
                <a:ea typeface="Calibri" pitchFamily="34" charset="-122"/>
                <a:cs typeface="Calibri" pitchFamily="34" charset="-120"/>
              </a:rPr>
              <a:t>Card 3</a:t>
            </a:r>
            <a:endParaRPr lang="en-US" sz="1050" dirty="0"/>
          </a:p>
        </p:txBody>
      </p:sp>
      <p:sp>
        <p:nvSpPr>
          <p:cNvPr id="20" name="Text 18"/>
          <p:cNvSpPr/>
          <p:nvPr/>
        </p:nvSpPr>
        <p:spPr>
          <a:xfrm>
            <a:off x="6446520" y="3931920"/>
            <a:ext cx="4526280" cy="1097280"/>
          </a:xfrm>
          <a:prstGeom prst="rect">
            <a:avLst/>
          </a:prstGeom>
          <a:noFill/>
          <a:ln/>
        </p:spPr>
        <p:txBody>
          <a:bodyPr wrap="square" lIns="0" tIns="0" rIns="0" bIns="0" rtlCol="0" anchor="ctr"/>
          <a:lstStyle/>
          <a:p>
            <a:pPr indent="0" marL="0">
              <a:buNone/>
            </a:pPr>
            <a:r>
              <a:rPr lang="en-US" sz="1200" dirty="0">
                <a:solidFill>
                  <a:srgbClr val="3A2B26"/>
                </a:solidFill>
                <a:latin typeface="Courier New" pitchFamily="34" charset="0"/>
                <a:ea typeface="Courier New" pitchFamily="34" charset="-122"/>
                <a:cs typeface="Courier New" pitchFamily="34" charset="-120"/>
              </a:rPr>
              <a:t>display: grid;</a:t>
            </a:r>
            <a:endParaRPr lang="en-US" sz="1200" dirty="0"/>
          </a:p>
          <a:p>
            <a:pPr indent="0" marL="0">
              <a:buNone/>
            </a:pPr>
            <a:r>
              <a:rPr lang="en-US" sz="1200" dirty="0">
                <a:solidFill>
                  <a:srgbClr val="3A2B26"/>
                </a:solidFill>
                <a:latin typeface="Courier New" pitchFamily="34" charset="0"/>
                <a:ea typeface="Courier New" pitchFamily="34" charset="-122"/>
                <a:cs typeface="Courier New" pitchFamily="34" charset="-120"/>
              </a:rPr>
              <a:t>grid-template-columns: repeat(3, 1fr);</a:t>
            </a:r>
            <a:endParaRPr lang="en-US" sz="1200" dirty="0"/>
          </a:p>
          <a:p>
            <a:pPr indent="0" marL="0">
              <a:buNone/>
            </a:pPr>
            <a:r>
              <a:rPr lang="en-US" sz="1200" dirty="0">
                <a:solidFill>
                  <a:srgbClr val="3A2B26"/>
                </a:solidFill>
                <a:latin typeface="Courier New" pitchFamily="34" charset="0"/>
                <a:ea typeface="Courier New" pitchFamily="34" charset="-122"/>
                <a:cs typeface="Courier New" pitchFamily="34" charset="-120"/>
              </a:rPr>
              <a:t>gap: 20px;</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300" b="1" spc="100" kern="0" dirty="0">
                <a:solidFill>
                  <a:srgbClr val="B85042"/>
                </a:solidFill>
                <a:latin typeface="Calibri" pitchFamily="34" charset="0"/>
                <a:ea typeface="Calibri" pitchFamily="34" charset="-122"/>
                <a:cs typeface="Calibri" pitchFamily="34" charset="-120"/>
              </a:rPr>
              <a:t>PRACTICE 1 — FILL IN THE BLANK</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2700" b="1" dirty="0">
                <a:solidFill>
                  <a:srgbClr val="2D2D2D"/>
                </a:solidFill>
                <a:latin typeface="Cambria" pitchFamily="34" charset="0"/>
                <a:ea typeface="Cambria" pitchFamily="34" charset="-122"/>
                <a:cs typeface="Cambria" pitchFamily="34" charset="-120"/>
              </a:rPr>
              <a:t>Write Your First Selector</a:t>
            </a:r>
            <a:endParaRPr lang="en-US" sz="2700" dirty="0"/>
          </a:p>
        </p:txBody>
      </p:sp>
      <p:sp>
        <p:nvSpPr>
          <p:cNvPr id="4" name="Shape 2"/>
          <p:cNvSpPr/>
          <p:nvPr/>
        </p:nvSpPr>
        <p:spPr>
          <a:xfrm>
            <a:off x="548640" y="1828800"/>
            <a:ext cx="6675120" cy="2377440"/>
          </a:xfrm>
          <a:prstGeom prst="roundRect">
            <a:avLst>
              <a:gd name="adj" fmla="val 3846"/>
            </a:avLst>
          </a:prstGeom>
          <a:solidFill>
            <a:srgbClr val="2D2321"/>
          </a:solidFill>
          <a:ln/>
        </p:spPr>
      </p:sp>
      <p:sp>
        <p:nvSpPr>
          <p:cNvPr id="5" name="Shape 3"/>
          <p:cNvSpPr/>
          <p:nvPr/>
        </p:nvSpPr>
        <p:spPr>
          <a:xfrm>
            <a:off x="749808" y="1993392"/>
            <a:ext cx="128016" cy="128016"/>
          </a:xfrm>
          <a:prstGeom prst="ellipse">
            <a:avLst/>
          </a:prstGeom>
          <a:solidFill>
            <a:srgbClr val="E06C75"/>
          </a:solidFill>
          <a:ln/>
        </p:spPr>
      </p:sp>
      <p:sp>
        <p:nvSpPr>
          <p:cNvPr id="6" name="Shape 4"/>
          <p:cNvSpPr/>
          <p:nvPr/>
        </p:nvSpPr>
        <p:spPr>
          <a:xfrm>
            <a:off x="978408" y="1993392"/>
            <a:ext cx="128016" cy="128016"/>
          </a:xfrm>
          <a:prstGeom prst="ellipse">
            <a:avLst/>
          </a:prstGeom>
          <a:solidFill>
            <a:srgbClr val="E5C07B"/>
          </a:solidFill>
          <a:ln/>
        </p:spPr>
      </p:sp>
      <p:sp>
        <p:nvSpPr>
          <p:cNvPr id="7" name="Shape 5"/>
          <p:cNvSpPr/>
          <p:nvPr/>
        </p:nvSpPr>
        <p:spPr>
          <a:xfrm>
            <a:off x="1207008" y="1993392"/>
            <a:ext cx="128016" cy="128016"/>
          </a:xfrm>
          <a:prstGeom prst="ellipse">
            <a:avLst/>
          </a:prstGeom>
          <a:solidFill>
            <a:srgbClr val="98C379"/>
          </a:solidFill>
          <a:ln/>
        </p:spPr>
      </p:sp>
      <p:sp>
        <p:nvSpPr>
          <p:cNvPr id="8" name="Text 6"/>
          <p:cNvSpPr/>
          <p:nvPr/>
        </p:nvSpPr>
        <p:spPr>
          <a:xfrm>
            <a:off x="804672" y="2286000"/>
            <a:ext cx="6163056" cy="1783080"/>
          </a:xfrm>
          <a:prstGeom prst="rect">
            <a:avLst/>
          </a:prstGeom>
          <a:noFill/>
          <a:ln/>
        </p:spPr>
        <p:txBody>
          <a:bodyPr wrap="square" lIns="0" tIns="0" rIns="0" bIns="0" rtlCol="0" anchor="ctr"/>
          <a:lstStyle/>
          <a:p>
            <a:pPr indent="0" marL="0">
              <a:lnSpc>
                <a:spcPct val="122000"/>
              </a:lnSpc>
              <a:buNone/>
            </a:pPr>
            <a:r>
              <a:rPr lang="en-US" sz="1300" b="1" dirty="0">
                <a:solidFill>
                  <a:srgbClr val="F2C14E"/>
                </a:solidFill>
                <a:latin typeface="Courier New" pitchFamily="34" charset="0"/>
                <a:ea typeface="Courier New" pitchFamily="34" charset="-122"/>
                <a:cs typeface="Courier New" pitchFamily="34" charset="-120"/>
              </a:rPr>
              <a:t>______</a:t>
            </a:r>
            <a:pPr indent="0" marL="0">
              <a:lnSpc>
                <a:spcPct val="122000"/>
              </a:lnSpc>
              <a:buNone/>
            </a:pPr>
            <a:r>
              <a:rPr lang="en-US" sz="1300" dirty="0">
                <a:solidFill>
                  <a:srgbClr val="E7E8D1"/>
                </a:solidFill>
                <a:latin typeface="Courier New" pitchFamily="34" charset="0"/>
                <a:ea typeface="Courier New" pitchFamily="34" charset="-122"/>
                <a:cs typeface="Courier New" pitchFamily="34" charset="-120"/>
              </a:rPr>
              <a:t> {</a:t>
            </a:r>
            <a:endParaRPr lang="en-US" sz="1300" dirty="0"/>
          </a:p>
          <a:p>
            <a:pPr indent="0" marL="0">
              <a:lnSpc>
                <a:spcPct val="122000"/>
              </a:lnSpc>
              <a:buNone/>
            </a:pPr>
            <a:r>
              <a:rPr lang="en-US" sz="1300" dirty="0">
                <a:solidFill>
                  <a:srgbClr val="E7E8D1"/>
                </a:solidFill>
                <a:latin typeface="Courier New" pitchFamily="34" charset="0"/>
                <a:ea typeface="Courier New" pitchFamily="34" charset="-122"/>
                <a:cs typeface="Courier New" pitchFamily="34" charset="-120"/>
              </a:rPr>
              <a:t>  color: blue;</a:t>
            </a:r>
            <a:endParaRPr lang="en-US" sz="1300" dirty="0"/>
          </a:p>
          <a:p>
            <a:pPr indent="0" marL="0">
              <a:lnSpc>
                <a:spcPct val="122000"/>
              </a:lnSpc>
              <a:buNone/>
            </a:pPr>
            <a:r>
              <a:rPr lang="en-US" sz="1300" dirty="0">
                <a:solidFill>
                  <a:srgbClr val="E7E8D1"/>
                </a:solidFill>
                <a:latin typeface="Courier New" pitchFamily="34" charset="0"/>
                <a:ea typeface="Courier New" pitchFamily="34" charset="-122"/>
                <a:cs typeface="Courier New" pitchFamily="34" charset="-120"/>
              </a:rPr>
              <a:t>}</a:t>
            </a:r>
            <a:endParaRPr lang="en-US" sz="1300" dirty="0"/>
          </a:p>
          <a:p>
            <a:pPr indent="0" marL="0">
              <a:lnSpc>
                <a:spcPct val="122000"/>
              </a:lnSpc>
              <a:buNone/>
            </a:pPr>
            <a:endParaRPr lang="en-US" sz="1300" dirty="0"/>
          </a:p>
          <a:p>
            <a:pPr indent="0" marL="0">
              <a:lnSpc>
                <a:spcPct val="122000"/>
              </a:lnSpc>
              <a:buNone/>
            </a:pPr>
            <a:r>
              <a:rPr lang="en-US" sz="1300" dirty="0">
                <a:solidFill>
                  <a:srgbClr val="888888"/>
                </a:solidFill>
                <a:latin typeface="Courier New" pitchFamily="34" charset="0"/>
                <a:ea typeface="Courier New" pitchFamily="34" charset="-122"/>
                <a:cs typeface="Courier New" pitchFamily="34" charset="-120"/>
              </a:rPr>
              <a:t>/* This should style ONLY the element with id="hero-title" */</a:t>
            </a:r>
            <a:endParaRPr lang="en-US" sz="1300" dirty="0"/>
          </a:p>
        </p:txBody>
      </p:sp>
      <p:sp>
        <p:nvSpPr>
          <p:cNvPr id="9" name="Text 7"/>
          <p:cNvSpPr/>
          <p:nvPr/>
        </p:nvSpPr>
        <p:spPr>
          <a:xfrm>
            <a:off x="548640" y="4572000"/>
            <a:ext cx="6400800" cy="274320"/>
          </a:xfrm>
          <a:prstGeom prst="rect">
            <a:avLst/>
          </a:prstGeom>
          <a:noFill/>
          <a:ln/>
        </p:spPr>
        <p:txBody>
          <a:bodyPr wrap="square" lIns="0" tIns="0" rIns="0" bIns="0" rtlCol="0" anchor="ctr"/>
          <a:lstStyle/>
          <a:p>
            <a:pPr indent="0" marL="0">
              <a:buNone/>
            </a:pPr>
            <a:r>
              <a:rPr lang="en-US" sz="1100" b="1" spc="50" kern="0" dirty="0">
                <a:solidFill>
                  <a:srgbClr val="B85042"/>
                </a:solidFill>
                <a:latin typeface="Calibri" pitchFamily="34" charset="0"/>
                <a:ea typeface="Calibri" pitchFamily="34" charset="-122"/>
                <a:cs typeface="Calibri" pitchFamily="34" charset="-120"/>
              </a:rPr>
              <a:t>WORD BANK — pick the right word for each blank</a:t>
            </a:r>
            <a:endParaRPr lang="en-US" sz="1100" dirty="0"/>
          </a:p>
        </p:txBody>
      </p:sp>
      <p:sp>
        <p:nvSpPr>
          <p:cNvPr id="10" name="Shape 8"/>
          <p:cNvSpPr/>
          <p:nvPr/>
        </p:nvSpPr>
        <p:spPr>
          <a:xfrm>
            <a:off x="548640" y="4892040"/>
            <a:ext cx="1261872" cy="384048"/>
          </a:xfrm>
          <a:prstGeom prst="roundRect">
            <a:avLst>
              <a:gd name="adj" fmla="val 50000"/>
            </a:avLst>
          </a:prstGeom>
          <a:solidFill>
            <a:srgbClr val="E7E8D1"/>
          </a:solidFill>
          <a:ln w="12700">
            <a:solidFill>
              <a:srgbClr val="A7BEAE"/>
            </a:solidFill>
            <a:prstDash val="solid"/>
          </a:ln>
        </p:spPr>
      </p:sp>
      <p:sp>
        <p:nvSpPr>
          <p:cNvPr id="11" name="Text 9"/>
          <p:cNvSpPr/>
          <p:nvPr/>
        </p:nvSpPr>
        <p:spPr>
          <a:xfrm>
            <a:off x="548640" y="4892040"/>
            <a:ext cx="1261872" cy="384048"/>
          </a:xfrm>
          <a:prstGeom prst="rect">
            <a:avLst/>
          </a:prstGeom>
          <a:noFill/>
          <a:ln/>
        </p:spPr>
        <p:txBody>
          <a:bodyPr wrap="square" lIns="0" tIns="0" rIns="0" bIns="0" rtlCol="0" anchor="ctr"/>
          <a:lstStyle/>
          <a:p>
            <a:pPr algn="ctr" indent="0" marL="0">
              <a:buNone/>
            </a:pPr>
            <a:r>
              <a:rPr lang="en-US" sz="1150" b="1" dirty="0">
                <a:solidFill>
                  <a:srgbClr val="3A2B26"/>
                </a:solidFill>
                <a:latin typeface="Courier New" pitchFamily="34" charset="0"/>
                <a:ea typeface="Courier New" pitchFamily="34" charset="-122"/>
                <a:cs typeface="Courier New" pitchFamily="34" charset="-120"/>
              </a:rPr>
              <a:t>#hero-title</a:t>
            </a:r>
            <a:endParaRPr lang="en-US" sz="1150" dirty="0"/>
          </a:p>
        </p:txBody>
      </p:sp>
      <p:sp>
        <p:nvSpPr>
          <p:cNvPr id="12" name="Text 10"/>
          <p:cNvSpPr/>
          <p:nvPr/>
        </p:nvSpPr>
        <p:spPr>
          <a:xfrm>
            <a:off x="7452360" y="2103120"/>
            <a:ext cx="4206240" cy="2286000"/>
          </a:xfrm>
          <a:prstGeom prst="rect">
            <a:avLst/>
          </a:prstGeom>
          <a:noFill/>
          <a:ln/>
        </p:spPr>
        <p:txBody>
          <a:bodyPr wrap="square" lIns="0" tIns="0" rIns="0" bIns="0" rtlCol="0" anchor="ctr"/>
          <a:lstStyle/>
          <a:p>
            <a:pPr indent="0" marL="0">
              <a:buNone/>
            </a:pPr>
            <a:r>
              <a:rPr lang="en-US" sz="1350" i="1" dirty="0">
                <a:solidFill>
                  <a:srgbClr val="555555"/>
                </a:solidFill>
                <a:latin typeface="Calibri" pitchFamily="34" charset="0"/>
                <a:ea typeface="Calibri" pitchFamily="34" charset="-122"/>
                <a:cs typeface="Calibri" pitchFamily="34" charset="-120"/>
              </a:rPr>
              <a:t>Remember: dot ( . ) is for a class, hashtag ( # ) is for an id.</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300" b="1" spc="100" kern="0" dirty="0">
                <a:solidFill>
                  <a:srgbClr val="B85042"/>
                </a:solidFill>
                <a:latin typeface="Calibri" pitchFamily="34" charset="0"/>
                <a:ea typeface="Calibri" pitchFamily="34" charset="-122"/>
                <a:cs typeface="Calibri" pitchFamily="34" charset="-120"/>
              </a:rPr>
              <a:t>PRACTICE 2 — FILL IN THE BLANK</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2700" b="1" dirty="0">
                <a:solidFill>
                  <a:srgbClr val="2D2D2D"/>
                </a:solidFill>
                <a:latin typeface="Cambria" pitchFamily="34" charset="0"/>
                <a:ea typeface="Cambria" pitchFamily="34" charset="-122"/>
                <a:cs typeface="Cambria" pitchFamily="34" charset="-120"/>
              </a:rPr>
              <a:t>Flex the Header</a:t>
            </a:r>
            <a:endParaRPr lang="en-US" sz="2700" dirty="0"/>
          </a:p>
        </p:txBody>
      </p:sp>
      <p:sp>
        <p:nvSpPr>
          <p:cNvPr id="4" name="Shape 2"/>
          <p:cNvSpPr/>
          <p:nvPr/>
        </p:nvSpPr>
        <p:spPr>
          <a:xfrm>
            <a:off x="548640" y="1828800"/>
            <a:ext cx="6675120" cy="2743200"/>
          </a:xfrm>
          <a:prstGeom prst="roundRect">
            <a:avLst>
              <a:gd name="adj" fmla="val 3333"/>
            </a:avLst>
          </a:prstGeom>
          <a:solidFill>
            <a:srgbClr val="2D2321"/>
          </a:solidFill>
          <a:ln/>
        </p:spPr>
      </p:sp>
      <p:sp>
        <p:nvSpPr>
          <p:cNvPr id="5" name="Shape 3"/>
          <p:cNvSpPr/>
          <p:nvPr/>
        </p:nvSpPr>
        <p:spPr>
          <a:xfrm>
            <a:off x="749808" y="1993392"/>
            <a:ext cx="128016" cy="128016"/>
          </a:xfrm>
          <a:prstGeom prst="ellipse">
            <a:avLst/>
          </a:prstGeom>
          <a:solidFill>
            <a:srgbClr val="E06C75"/>
          </a:solidFill>
          <a:ln/>
        </p:spPr>
      </p:sp>
      <p:sp>
        <p:nvSpPr>
          <p:cNvPr id="6" name="Shape 4"/>
          <p:cNvSpPr/>
          <p:nvPr/>
        </p:nvSpPr>
        <p:spPr>
          <a:xfrm>
            <a:off x="978408" y="1993392"/>
            <a:ext cx="128016" cy="128016"/>
          </a:xfrm>
          <a:prstGeom prst="ellipse">
            <a:avLst/>
          </a:prstGeom>
          <a:solidFill>
            <a:srgbClr val="E5C07B"/>
          </a:solidFill>
          <a:ln/>
        </p:spPr>
      </p:sp>
      <p:sp>
        <p:nvSpPr>
          <p:cNvPr id="7" name="Shape 5"/>
          <p:cNvSpPr/>
          <p:nvPr/>
        </p:nvSpPr>
        <p:spPr>
          <a:xfrm>
            <a:off x="1207008" y="1993392"/>
            <a:ext cx="128016" cy="128016"/>
          </a:xfrm>
          <a:prstGeom prst="ellipse">
            <a:avLst/>
          </a:prstGeom>
          <a:solidFill>
            <a:srgbClr val="98C379"/>
          </a:solidFill>
          <a:ln/>
        </p:spPr>
      </p:sp>
      <p:sp>
        <p:nvSpPr>
          <p:cNvPr id="8" name="Text 6"/>
          <p:cNvSpPr/>
          <p:nvPr/>
        </p:nvSpPr>
        <p:spPr>
          <a:xfrm>
            <a:off x="804672" y="2286000"/>
            <a:ext cx="6163056" cy="2148840"/>
          </a:xfrm>
          <a:prstGeom prst="rect">
            <a:avLst/>
          </a:prstGeom>
          <a:noFill/>
          <a:ln/>
        </p:spPr>
        <p:txBody>
          <a:bodyPr wrap="square" lIns="0" tIns="0" rIns="0" bIns="0" rtlCol="0" anchor="ctr"/>
          <a:lstStyle/>
          <a:p>
            <a:pPr indent="0" marL="0">
              <a:lnSpc>
                <a:spcPct val="122000"/>
              </a:lnSpc>
              <a:buNone/>
            </a:pPr>
            <a:r>
              <a:rPr lang="en-US" sz="1300" dirty="0">
                <a:solidFill>
                  <a:srgbClr val="E7E8D1"/>
                </a:solidFill>
                <a:latin typeface="Courier New" pitchFamily="34" charset="0"/>
                <a:ea typeface="Courier New" pitchFamily="34" charset="-122"/>
                <a:cs typeface="Courier New" pitchFamily="34" charset="-120"/>
              </a:rPr>
              <a:t>.site-header {</a:t>
            </a:r>
            <a:endParaRPr lang="en-US" sz="1300" dirty="0"/>
          </a:p>
          <a:p>
            <a:pPr indent="0" marL="0">
              <a:lnSpc>
                <a:spcPct val="122000"/>
              </a:lnSpc>
              <a:buNone/>
            </a:pPr>
            <a:r>
              <a:rPr lang="en-US" sz="1300" dirty="0">
                <a:solidFill>
                  <a:srgbClr val="E7E8D1"/>
                </a:solidFill>
                <a:latin typeface="Courier New" pitchFamily="34" charset="0"/>
                <a:ea typeface="Courier New" pitchFamily="34" charset="-122"/>
                <a:cs typeface="Courier New" pitchFamily="34" charset="-120"/>
              </a:rPr>
              <a:t>  display: </a:t>
            </a:r>
            <a:pPr indent="0" marL="0">
              <a:lnSpc>
                <a:spcPct val="122000"/>
              </a:lnSpc>
              <a:buNone/>
            </a:pPr>
            <a:r>
              <a:rPr lang="en-US" sz="1300" b="1" dirty="0">
                <a:solidFill>
                  <a:srgbClr val="F2C14E"/>
                </a:solidFill>
                <a:latin typeface="Courier New" pitchFamily="34" charset="0"/>
                <a:ea typeface="Courier New" pitchFamily="34" charset="-122"/>
                <a:cs typeface="Courier New" pitchFamily="34" charset="-120"/>
              </a:rPr>
              <a:t>______</a:t>
            </a:r>
            <a:pPr indent="0" marL="0">
              <a:lnSpc>
                <a:spcPct val="122000"/>
              </a:lnSpc>
              <a:buNone/>
            </a:pPr>
            <a:r>
              <a:rPr lang="en-US" sz="1300" dirty="0">
                <a:solidFill>
                  <a:srgbClr val="E7E8D1"/>
                </a:solidFill>
                <a:latin typeface="Courier New" pitchFamily="34" charset="0"/>
                <a:ea typeface="Courier New" pitchFamily="34" charset="-122"/>
                <a:cs typeface="Courier New" pitchFamily="34" charset="-120"/>
              </a:rPr>
              <a:t>;</a:t>
            </a:r>
            <a:endParaRPr lang="en-US" sz="1300" dirty="0"/>
          </a:p>
          <a:p>
            <a:pPr indent="0" marL="0">
              <a:lnSpc>
                <a:spcPct val="122000"/>
              </a:lnSpc>
              <a:buNone/>
            </a:pPr>
            <a:r>
              <a:rPr lang="en-US" sz="1300" dirty="0">
                <a:solidFill>
                  <a:srgbClr val="E7E8D1"/>
                </a:solidFill>
                <a:latin typeface="Courier New" pitchFamily="34" charset="0"/>
                <a:ea typeface="Courier New" pitchFamily="34" charset="-122"/>
                <a:cs typeface="Courier New" pitchFamily="34" charset="-120"/>
              </a:rPr>
              <a:t>  justify-content: </a:t>
            </a:r>
            <a:pPr indent="0" marL="0">
              <a:lnSpc>
                <a:spcPct val="122000"/>
              </a:lnSpc>
              <a:buNone/>
            </a:pPr>
            <a:r>
              <a:rPr lang="en-US" sz="1300" b="1" dirty="0">
                <a:solidFill>
                  <a:srgbClr val="F2C14E"/>
                </a:solidFill>
                <a:latin typeface="Courier New" pitchFamily="34" charset="0"/>
                <a:ea typeface="Courier New" pitchFamily="34" charset="-122"/>
                <a:cs typeface="Courier New" pitchFamily="34" charset="-120"/>
              </a:rPr>
              <a:t>______</a:t>
            </a:r>
            <a:pPr indent="0" marL="0">
              <a:lnSpc>
                <a:spcPct val="122000"/>
              </a:lnSpc>
              <a:buNone/>
            </a:pPr>
            <a:r>
              <a:rPr lang="en-US" sz="1300" dirty="0">
                <a:solidFill>
                  <a:srgbClr val="E7E8D1"/>
                </a:solidFill>
                <a:latin typeface="Courier New" pitchFamily="34" charset="0"/>
                <a:ea typeface="Courier New" pitchFamily="34" charset="-122"/>
                <a:cs typeface="Courier New" pitchFamily="34" charset="-120"/>
              </a:rPr>
              <a:t>;</a:t>
            </a:r>
            <a:endParaRPr lang="en-US" sz="1300" dirty="0"/>
          </a:p>
          <a:p>
            <a:pPr indent="0" marL="0">
              <a:lnSpc>
                <a:spcPct val="122000"/>
              </a:lnSpc>
              <a:buNone/>
            </a:pPr>
            <a:r>
              <a:rPr lang="en-US" sz="1300" dirty="0">
                <a:solidFill>
                  <a:srgbClr val="E7E8D1"/>
                </a:solidFill>
                <a:latin typeface="Courier New" pitchFamily="34" charset="0"/>
                <a:ea typeface="Courier New" pitchFamily="34" charset="-122"/>
                <a:cs typeface="Courier New" pitchFamily="34" charset="-120"/>
              </a:rPr>
              <a:t>  align-items: </a:t>
            </a:r>
            <a:pPr indent="0" marL="0">
              <a:lnSpc>
                <a:spcPct val="122000"/>
              </a:lnSpc>
              <a:buNone/>
            </a:pPr>
            <a:r>
              <a:rPr lang="en-US" sz="1300" b="1" dirty="0">
                <a:solidFill>
                  <a:srgbClr val="F2C14E"/>
                </a:solidFill>
                <a:latin typeface="Courier New" pitchFamily="34" charset="0"/>
                <a:ea typeface="Courier New" pitchFamily="34" charset="-122"/>
                <a:cs typeface="Courier New" pitchFamily="34" charset="-120"/>
              </a:rPr>
              <a:t>______</a:t>
            </a:r>
            <a:pPr indent="0" marL="0">
              <a:lnSpc>
                <a:spcPct val="122000"/>
              </a:lnSpc>
              <a:buNone/>
            </a:pPr>
            <a:r>
              <a:rPr lang="en-US" sz="1300" dirty="0">
                <a:solidFill>
                  <a:srgbClr val="E7E8D1"/>
                </a:solidFill>
                <a:latin typeface="Courier New" pitchFamily="34" charset="0"/>
                <a:ea typeface="Courier New" pitchFamily="34" charset="-122"/>
                <a:cs typeface="Courier New" pitchFamily="34" charset="-120"/>
              </a:rPr>
              <a:t>;</a:t>
            </a:r>
            <a:endParaRPr lang="en-US" sz="1300" dirty="0"/>
          </a:p>
          <a:p>
            <a:pPr indent="0" marL="0">
              <a:lnSpc>
                <a:spcPct val="122000"/>
              </a:lnSpc>
              <a:buNone/>
            </a:pPr>
            <a:r>
              <a:rPr lang="en-US" sz="1300" dirty="0">
                <a:solidFill>
                  <a:srgbClr val="E7E8D1"/>
                </a:solidFill>
                <a:latin typeface="Courier New" pitchFamily="34" charset="0"/>
                <a:ea typeface="Courier New" pitchFamily="34" charset="-122"/>
                <a:cs typeface="Courier New" pitchFamily="34" charset="-120"/>
              </a:rPr>
              <a:t>}</a:t>
            </a:r>
            <a:endParaRPr lang="en-US" sz="1300" dirty="0"/>
          </a:p>
        </p:txBody>
      </p:sp>
      <p:sp>
        <p:nvSpPr>
          <p:cNvPr id="9" name="Text 7"/>
          <p:cNvSpPr/>
          <p:nvPr/>
        </p:nvSpPr>
        <p:spPr>
          <a:xfrm>
            <a:off x="548640" y="4754880"/>
            <a:ext cx="6400800" cy="274320"/>
          </a:xfrm>
          <a:prstGeom prst="rect">
            <a:avLst/>
          </a:prstGeom>
          <a:noFill/>
          <a:ln/>
        </p:spPr>
        <p:txBody>
          <a:bodyPr wrap="square" lIns="0" tIns="0" rIns="0" bIns="0" rtlCol="0" anchor="ctr"/>
          <a:lstStyle/>
          <a:p>
            <a:pPr indent="0" marL="0">
              <a:buNone/>
            </a:pPr>
            <a:r>
              <a:rPr lang="en-US" sz="1100" b="1" spc="50" kern="0" dirty="0">
                <a:solidFill>
                  <a:srgbClr val="B85042"/>
                </a:solidFill>
                <a:latin typeface="Calibri" pitchFamily="34" charset="0"/>
                <a:ea typeface="Calibri" pitchFamily="34" charset="-122"/>
                <a:cs typeface="Calibri" pitchFamily="34" charset="-120"/>
              </a:rPr>
              <a:t>WORD BANK — pick the right word for each blank</a:t>
            </a:r>
            <a:endParaRPr lang="en-US" sz="1100" dirty="0"/>
          </a:p>
        </p:txBody>
      </p:sp>
      <p:sp>
        <p:nvSpPr>
          <p:cNvPr id="10" name="Shape 8"/>
          <p:cNvSpPr/>
          <p:nvPr/>
        </p:nvSpPr>
        <p:spPr>
          <a:xfrm>
            <a:off x="548640" y="5074920"/>
            <a:ext cx="621792" cy="384048"/>
          </a:xfrm>
          <a:prstGeom prst="roundRect">
            <a:avLst>
              <a:gd name="adj" fmla="val 50000"/>
            </a:avLst>
          </a:prstGeom>
          <a:solidFill>
            <a:srgbClr val="E7E8D1"/>
          </a:solidFill>
          <a:ln w="12700">
            <a:solidFill>
              <a:srgbClr val="A7BEAE"/>
            </a:solidFill>
            <a:prstDash val="solid"/>
          </a:ln>
        </p:spPr>
      </p:sp>
      <p:sp>
        <p:nvSpPr>
          <p:cNvPr id="11" name="Text 9"/>
          <p:cNvSpPr/>
          <p:nvPr/>
        </p:nvSpPr>
        <p:spPr>
          <a:xfrm>
            <a:off x="548640" y="5074920"/>
            <a:ext cx="621792" cy="384048"/>
          </a:xfrm>
          <a:prstGeom prst="rect">
            <a:avLst/>
          </a:prstGeom>
          <a:noFill/>
          <a:ln/>
        </p:spPr>
        <p:txBody>
          <a:bodyPr wrap="square" lIns="0" tIns="0" rIns="0" bIns="0" rtlCol="0" anchor="ctr"/>
          <a:lstStyle/>
          <a:p>
            <a:pPr algn="ctr" indent="0" marL="0">
              <a:buNone/>
            </a:pPr>
            <a:r>
              <a:rPr lang="en-US" sz="1150" b="1" dirty="0">
                <a:solidFill>
                  <a:srgbClr val="3A2B26"/>
                </a:solidFill>
                <a:latin typeface="Courier New" pitchFamily="34" charset="0"/>
                <a:ea typeface="Courier New" pitchFamily="34" charset="-122"/>
                <a:cs typeface="Courier New" pitchFamily="34" charset="-120"/>
              </a:rPr>
              <a:t>flex</a:t>
            </a:r>
            <a:endParaRPr lang="en-US" sz="1150" dirty="0"/>
          </a:p>
        </p:txBody>
      </p:sp>
      <p:sp>
        <p:nvSpPr>
          <p:cNvPr id="12" name="Shape 10"/>
          <p:cNvSpPr/>
          <p:nvPr/>
        </p:nvSpPr>
        <p:spPr>
          <a:xfrm>
            <a:off x="1316736" y="5074920"/>
            <a:ext cx="1444752" cy="384048"/>
          </a:xfrm>
          <a:prstGeom prst="roundRect">
            <a:avLst>
              <a:gd name="adj" fmla="val 50000"/>
            </a:avLst>
          </a:prstGeom>
          <a:solidFill>
            <a:srgbClr val="E7E8D1"/>
          </a:solidFill>
          <a:ln w="12700">
            <a:solidFill>
              <a:srgbClr val="A7BEAE"/>
            </a:solidFill>
            <a:prstDash val="solid"/>
          </a:ln>
        </p:spPr>
      </p:sp>
      <p:sp>
        <p:nvSpPr>
          <p:cNvPr id="13" name="Text 11"/>
          <p:cNvSpPr/>
          <p:nvPr/>
        </p:nvSpPr>
        <p:spPr>
          <a:xfrm>
            <a:off x="1316736" y="5074920"/>
            <a:ext cx="1444752" cy="384048"/>
          </a:xfrm>
          <a:prstGeom prst="rect">
            <a:avLst/>
          </a:prstGeom>
          <a:noFill/>
          <a:ln/>
        </p:spPr>
        <p:txBody>
          <a:bodyPr wrap="square" lIns="0" tIns="0" rIns="0" bIns="0" rtlCol="0" anchor="ctr"/>
          <a:lstStyle/>
          <a:p>
            <a:pPr algn="ctr" indent="0" marL="0">
              <a:buNone/>
            </a:pPr>
            <a:r>
              <a:rPr lang="en-US" sz="1150" b="1" dirty="0">
                <a:solidFill>
                  <a:srgbClr val="3A2B26"/>
                </a:solidFill>
                <a:latin typeface="Courier New" pitchFamily="34" charset="0"/>
                <a:ea typeface="Courier New" pitchFamily="34" charset="-122"/>
                <a:cs typeface="Courier New" pitchFamily="34" charset="-120"/>
              </a:rPr>
              <a:t>space-between</a:t>
            </a:r>
            <a:endParaRPr lang="en-US" sz="1150" dirty="0"/>
          </a:p>
        </p:txBody>
      </p:sp>
      <p:sp>
        <p:nvSpPr>
          <p:cNvPr id="14" name="Shape 12"/>
          <p:cNvSpPr/>
          <p:nvPr/>
        </p:nvSpPr>
        <p:spPr>
          <a:xfrm>
            <a:off x="2907792" y="5074920"/>
            <a:ext cx="804672" cy="384048"/>
          </a:xfrm>
          <a:prstGeom prst="roundRect">
            <a:avLst>
              <a:gd name="adj" fmla="val 50000"/>
            </a:avLst>
          </a:prstGeom>
          <a:solidFill>
            <a:srgbClr val="E7E8D1"/>
          </a:solidFill>
          <a:ln w="12700">
            <a:solidFill>
              <a:srgbClr val="A7BEAE"/>
            </a:solidFill>
            <a:prstDash val="solid"/>
          </a:ln>
        </p:spPr>
      </p:sp>
      <p:sp>
        <p:nvSpPr>
          <p:cNvPr id="15" name="Text 13"/>
          <p:cNvSpPr/>
          <p:nvPr/>
        </p:nvSpPr>
        <p:spPr>
          <a:xfrm>
            <a:off x="2907792" y="5074920"/>
            <a:ext cx="804672" cy="384048"/>
          </a:xfrm>
          <a:prstGeom prst="rect">
            <a:avLst/>
          </a:prstGeom>
          <a:noFill/>
          <a:ln/>
        </p:spPr>
        <p:txBody>
          <a:bodyPr wrap="square" lIns="0" tIns="0" rIns="0" bIns="0" rtlCol="0" anchor="ctr"/>
          <a:lstStyle/>
          <a:p>
            <a:pPr algn="ctr" indent="0" marL="0">
              <a:buNone/>
            </a:pPr>
            <a:r>
              <a:rPr lang="en-US" sz="1150" b="1" dirty="0">
                <a:solidFill>
                  <a:srgbClr val="3A2B26"/>
                </a:solidFill>
                <a:latin typeface="Courier New" pitchFamily="34" charset="0"/>
                <a:ea typeface="Courier New" pitchFamily="34" charset="-122"/>
                <a:cs typeface="Courier New" pitchFamily="34" charset="-120"/>
              </a:rPr>
              <a:t>center</a:t>
            </a:r>
            <a:endParaRPr lang="en-US" sz="1150" dirty="0"/>
          </a:p>
        </p:txBody>
      </p:sp>
      <p:sp>
        <p:nvSpPr>
          <p:cNvPr id="16" name="Text 14"/>
          <p:cNvSpPr/>
          <p:nvPr/>
        </p:nvSpPr>
        <p:spPr>
          <a:xfrm>
            <a:off x="7452360" y="2103120"/>
            <a:ext cx="4206240" cy="2286000"/>
          </a:xfrm>
          <a:prstGeom prst="rect">
            <a:avLst/>
          </a:prstGeom>
          <a:noFill/>
          <a:ln/>
        </p:spPr>
        <p:txBody>
          <a:bodyPr wrap="square" lIns="0" tIns="0" rIns="0" bIns="0" rtlCol="0" anchor="ctr"/>
          <a:lstStyle/>
          <a:p>
            <a:pPr indent="0" marL="0">
              <a:buNone/>
            </a:pPr>
            <a:r>
              <a:rPr lang="en-US" sz="1350" i="1" dirty="0">
                <a:solidFill>
                  <a:srgbClr val="555555"/>
                </a:solidFill>
                <a:latin typeface="Calibri" pitchFamily="34" charset="0"/>
                <a:ea typeface="Calibri" pitchFamily="34" charset="-122"/>
                <a:cs typeface="Calibri" pitchFamily="34" charset="-120"/>
              </a:rPr>
              <a:t>Goal: logo on the left, menu links on the right, everything vertically centered.</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300" b="1" spc="100" kern="0" dirty="0">
                <a:solidFill>
                  <a:srgbClr val="B85042"/>
                </a:solidFill>
                <a:latin typeface="Calibri" pitchFamily="34" charset="0"/>
                <a:ea typeface="Calibri" pitchFamily="34" charset="-122"/>
                <a:cs typeface="Calibri" pitchFamily="34" charset="-120"/>
              </a:rPr>
              <a:t>PRACTICE 3 — FILL IN THE BLANK</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2700" b="1" dirty="0">
                <a:solidFill>
                  <a:srgbClr val="2D2D2D"/>
                </a:solidFill>
                <a:latin typeface="Cambria" pitchFamily="34" charset="0"/>
                <a:ea typeface="Cambria" pitchFamily="34" charset="-122"/>
                <a:cs typeface="Cambria" pitchFamily="34" charset="-120"/>
              </a:rPr>
              <a:t>Grid the Gallery</a:t>
            </a:r>
            <a:endParaRPr lang="en-US" sz="2700" dirty="0"/>
          </a:p>
        </p:txBody>
      </p:sp>
      <p:sp>
        <p:nvSpPr>
          <p:cNvPr id="4" name="Shape 2"/>
          <p:cNvSpPr/>
          <p:nvPr/>
        </p:nvSpPr>
        <p:spPr>
          <a:xfrm>
            <a:off x="548640" y="1828800"/>
            <a:ext cx="6675120" cy="2377440"/>
          </a:xfrm>
          <a:prstGeom prst="roundRect">
            <a:avLst>
              <a:gd name="adj" fmla="val 3846"/>
            </a:avLst>
          </a:prstGeom>
          <a:solidFill>
            <a:srgbClr val="2D2321"/>
          </a:solidFill>
          <a:ln/>
        </p:spPr>
      </p:sp>
      <p:sp>
        <p:nvSpPr>
          <p:cNvPr id="5" name="Shape 3"/>
          <p:cNvSpPr/>
          <p:nvPr/>
        </p:nvSpPr>
        <p:spPr>
          <a:xfrm>
            <a:off x="749808" y="1993392"/>
            <a:ext cx="128016" cy="128016"/>
          </a:xfrm>
          <a:prstGeom prst="ellipse">
            <a:avLst/>
          </a:prstGeom>
          <a:solidFill>
            <a:srgbClr val="E06C75"/>
          </a:solidFill>
          <a:ln/>
        </p:spPr>
      </p:sp>
      <p:sp>
        <p:nvSpPr>
          <p:cNvPr id="6" name="Shape 4"/>
          <p:cNvSpPr/>
          <p:nvPr/>
        </p:nvSpPr>
        <p:spPr>
          <a:xfrm>
            <a:off x="978408" y="1993392"/>
            <a:ext cx="128016" cy="128016"/>
          </a:xfrm>
          <a:prstGeom prst="ellipse">
            <a:avLst/>
          </a:prstGeom>
          <a:solidFill>
            <a:srgbClr val="E5C07B"/>
          </a:solidFill>
          <a:ln/>
        </p:spPr>
      </p:sp>
      <p:sp>
        <p:nvSpPr>
          <p:cNvPr id="7" name="Shape 5"/>
          <p:cNvSpPr/>
          <p:nvPr/>
        </p:nvSpPr>
        <p:spPr>
          <a:xfrm>
            <a:off x="1207008" y="1993392"/>
            <a:ext cx="128016" cy="128016"/>
          </a:xfrm>
          <a:prstGeom prst="ellipse">
            <a:avLst/>
          </a:prstGeom>
          <a:solidFill>
            <a:srgbClr val="98C379"/>
          </a:solidFill>
          <a:ln/>
        </p:spPr>
      </p:sp>
      <p:sp>
        <p:nvSpPr>
          <p:cNvPr id="8" name="Text 6"/>
          <p:cNvSpPr/>
          <p:nvPr/>
        </p:nvSpPr>
        <p:spPr>
          <a:xfrm>
            <a:off x="804672" y="2286000"/>
            <a:ext cx="6163056" cy="1783080"/>
          </a:xfrm>
          <a:prstGeom prst="rect">
            <a:avLst/>
          </a:prstGeom>
          <a:noFill/>
          <a:ln/>
        </p:spPr>
        <p:txBody>
          <a:bodyPr wrap="square" lIns="0" tIns="0" rIns="0" bIns="0" rtlCol="0" anchor="ctr"/>
          <a:lstStyle/>
          <a:p>
            <a:pPr indent="0" marL="0">
              <a:lnSpc>
                <a:spcPct val="122000"/>
              </a:lnSpc>
              <a:buNone/>
            </a:pPr>
            <a:r>
              <a:rPr lang="en-US" sz="1300" dirty="0">
                <a:solidFill>
                  <a:srgbClr val="E7E8D1"/>
                </a:solidFill>
                <a:latin typeface="Courier New" pitchFamily="34" charset="0"/>
                <a:ea typeface="Courier New" pitchFamily="34" charset="-122"/>
                <a:cs typeface="Courier New" pitchFamily="34" charset="-120"/>
              </a:rPr>
              <a:t>.gallery-grid {</a:t>
            </a:r>
            <a:endParaRPr lang="en-US" sz="1300" dirty="0"/>
          </a:p>
          <a:p>
            <a:pPr indent="0" marL="0">
              <a:lnSpc>
                <a:spcPct val="122000"/>
              </a:lnSpc>
              <a:buNone/>
            </a:pPr>
            <a:r>
              <a:rPr lang="en-US" sz="1300" dirty="0">
                <a:solidFill>
                  <a:srgbClr val="E7E8D1"/>
                </a:solidFill>
                <a:latin typeface="Courier New" pitchFamily="34" charset="0"/>
                <a:ea typeface="Courier New" pitchFamily="34" charset="-122"/>
                <a:cs typeface="Courier New" pitchFamily="34" charset="-120"/>
              </a:rPr>
              <a:t>  display: </a:t>
            </a:r>
            <a:pPr indent="0" marL="0">
              <a:lnSpc>
                <a:spcPct val="122000"/>
              </a:lnSpc>
              <a:buNone/>
            </a:pPr>
            <a:r>
              <a:rPr lang="en-US" sz="1300" b="1" dirty="0">
                <a:solidFill>
                  <a:srgbClr val="F2C14E"/>
                </a:solidFill>
                <a:latin typeface="Courier New" pitchFamily="34" charset="0"/>
                <a:ea typeface="Courier New" pitchFamily="34" charset="-122"/>
                <a:cs typeface="Courier New" pitchFamily="34" charset="-120"/>
              </a:rPr>
              <a:t>______</a:t>
            </a:r>
            <a:pPr indent="0" marL="0">
              <a:lnSpc>
                <a:spcPct val="122000"/>
              </a:lnSpc>
              <a:buNone/>
            </a:pPr>
            <a:r>
              <a:rPr lang="en-US" sz="1300" dirty="0">
                <a:solidFill>
                  <a:srgbClr val="E7E8D1"/>
                </a:solidFill>
                <a:latin typeface="Courier New" pitchFamily="34" charset="0"/>
                <a:ea typeface="Courier New" pitchFamily="34" charset="-122"/>
                <a:cs typeface="Courier New" pitchFamily="34" charset="-120"/>
              </a:rPr>
              <a:t>;</a:t>
            </a:r>
            <a:endParaRPr lang="en-US" sz="1300" dirty="0"/>
          </a:p>
          <a:p>
            <a:pPr indent="0" marL="0">
              <a:lnSpc>
                <a:spcPct val="122000"/>
              </a:lnSpc>
              <a:buNone/>
            </a:pPr>
            <a:r>
              <a:rPr lang="en-US" sz="1300" dirty="0">
                <a:solidFill>
                  <a:srgbClr val="E7E8D1"/>
                </a:solidFill>
                <a:latin typeface="Courier New" pitchFamily="34" charset="0"/>
                <a:ea typeface="Courier New" pitchFamily="34" charset="-122"/>
                <a:cs typeface="Courier New" pitchFamily="34" charset="-120"/>
              </a:rPr>
              <a:t>  grid-template-columns: </a:t>
            </a:r>
            <a:pPr indent="0" marL="0">
              <a:lnSpc>
                <a:spcPct val="122000"/>
              </a:lnSpc>
              <a:buNone/>
            </a:pPr>
            <a:r>
              <a:rPr lang="en-US" sz="1300" b="1" dirty="0">
                <a:solidFill>
                  <a:srgbClr val="F2C14E"/>
                </a:solidFill>
                <a:latin typeface="Courier New" pitchFamily="34" charset="0"/>
                <a:ea typeface="Courier New" pitchFamily="34" charset="-122"/>
                <a:cs typeface="Courier New" pitchFamily="34" charset="-120"/>
              </a:rPr>
              <a:t>______</a:t>
            </a:r>
            <a:pPr indent="0" marL="0">
              <a:lnSpc>
                <a:spcPct val="122000"/>
              </a:lnSpc>
              <a:buNone/>
            </a:pPr>
            <a:r>
              <a:rPr lang="en-US" sz="1300" dirty="0">
                <a:solidFill>
                  <a:srgbClr val="E7E8D1"/>
                </a:solidFill>
                <a:latin typeface="Courier New" pitchFamily="34" charset="0"/>
                <a:ea typeface="Courier New" pitchFamily="34" charset="-122"/>
                <a:cs typeface="Courier New" pitchFamily="34" charset="-120"/>
              </a:rPr>
              <a:t>;</a:t>
            </a:r>
            <a:endParaRPr lang="en-US" sz="1300" dirty="0"/>
          </a:p>
          <a:p>
            <a:pPr indent="0" marL="0">
              <a:lnSpc>
                <a:spcPct val="122000"/>
              </a:lnSpc>
              <a:buNone/>
            </a:pPr>
            <a:r>
              <a:rPr lang="en-US" sz="1300" dirty="0">
                <a:solidFill>
                  <a:srgbClr val="E7E8D1"/>
                </a:solidFill>
                <a:latin typeface="Courier New" pitchFamily="34" charset="0"/>
                <a:ea typeface="Courier New" pitchFamily="34" charset="-122"/>
                <a:cs typeface="Courier New" pitchFamily="34" charset="-120"/>
              </a:rPr>
              <a:t>  gap: 20px;</a:t>
            </a:r>
            <a:endParaRPr lang="en-US" sz="1300" dirty="0"/>
          </a:p>
          <a:p>
            <a:pPr indent="0" marL="0">
              <a:lnSpc>
                <a:spcPct val="122000"/>
              </a:lnSpc>
              <a:buNone/>
            </a:pPr>
            <a:r>
              <a:rPr lang="en-US" sz="1300" dirty="0">
                <a:solidFill>
                  <a:srgbClr val="E7E8D1"/>
                </a:solidFill>
                <a:latin typeface="Courier New" pitchFamily="34" charset="0"/>
                <a:ea typeface="Courier New" pitchFamily="34" charset="-122"/>
                <a:cs typeface="Courier New" pitchFamily="34" charset="-120"/>
              </a:rPr>
              <a:t>}</a:t>
            </a:r>
            <a:endParaRPr lang="en-US" sz="1300" dirty="0"/>
          </a:p>
        </p:txBody>
      </p:sp>
      <p:sp>
        <p:nvSpPr>
          <p:cNvPr id="9" name="Text 7"/>
          <p:cNvSpPr/>
          <p:nvPr/>
        </p:nvSpPr>
        <p:spPr>
          <a:xfrm>
            <a:off x="548640" y="4480560"/>
            <a:ext cx="6400800" cy="274320"/>
          </a:xfrm>
          <a:prstGeom prst="rect">
            <a:avLst/>
          </a:prstGeom>
          <a:noFill/>
          <a:ln/>
        </p:spPr>
        <p:txBody>
          <a:bodyPr wrap="square" lIns="0" tIns="0" rIns="0" bIns="0" rtlCol="0" anchor="ctr"/>
          <a:lstStyle/>
          <a:p>
            <a:pPr indent="0" marL="0">
              <a:buNone/>
            </a:pPr>
            <a:r>
              <a:rPr lang="en-US" sz="1100" b="1" spc="50" kern="0" dirty="0">
                <a:solidFill>
                  <a:srgbClr val="B85042"/>
                </a:solidFill>
                <a:latin typeface="Calibri" pitchFamily="34" charset="0"/>
                <a:ea typeface="Calibri" pitchFamily="34" charset="-122"/>
                <a:cs typeface="Calibri" pitchFamily="34" charset="-120"/>
              </a:rPr>
              <a:t>WORD BANK — pick the right word for each blank</a:t>
            </a:r>
            <a:endParaRPr lang="en-US" sz="1100" dirty="0"/>
          </a:p>
        </p:txBody>
      </p:sp>
      <p:sp>
        <p:nvSpPr>
          <p:cNvPr id="10" name="Shape 8"/>
          <p:cNvSpPr/>
          <p:nvPr/>
        </p:nvSpPr>
        <p:spPr>
          <a:xfrm>
            <a:off x="548640" y="4800600"/>
            <a:ext cx="621792" cy="384048"/>
          </a:xfrm>
          <a:prstGeom prst="roundRect">
            <a:avLst>
              <a:gd name="adj" fmla="val 50000"/>
            </a:avLst>
          </a:prstGeom>
          <a:solidFill>
            <a:srgbClr val="E7E8D1"/>
          </a:solidFill>
          <a:ln w="12700">
            <a:solidFill>
              <a:srgbClr val="A7BEAE"/>
            </a:solidFill>
            <a:prstDash val="solid"/>
          </a:ln>
        </p:spPr>
      </p:sp>
      <p:sp>
        <p:nvSpPr>
          <p:cNvPr id="11" name="Text 9"/>
          <p:cNvSpPr/>
          <p:nvPr/>
        </p:nvSpPr>
        <p:spPr>
          <a:xfrm>
            <a:off x="548640" y="4800600"/>
            <a:ext cx="621792" cy="384048"/>
          </a:xfrm>
          <a:prstGeom prst="rect">
            <a:avLst/>
          </a:prstGeom>
          <a:noFill/>
          <a:ln/>
        </p:spPr>
        <p:txBody>
          <a:bodyPr wrap="square" lIns="0" tIns="0" rIns="0" bIns="0" rtlCol="0" anchor="ctr"/>
          <a:lstStyle/>
          <a:p>
            <a:pPr algn="ctr" indent="0" marL="0">
              <a:buNone/>
            </a:pPr>
            <a:r>
              <a:rPr lang="en-US" sz="1150" b="1" dirty="0">
                <a:solidFill>
                  <a:srgbClr val="3A2B26"/>
                </a:solidFill>
                <a:latin typeface="Courier New" pitchFamily="34" charset="0"/>
                <a:ea typeface="Courier New" pitchFamily="34" charset="-122"/>
                <a:cs typeface="Courier New" pitchFamily="34" charset="-120"/>
              </a:rPr>
              <a:t>grid</a:t>
            </a:r>
            <a:endParaRPr lang="en-US" sz="1150" dirty="0"/>
          </a:p>
        </p:txBody>
      </p:sp>
      <p:sp>
        <p:nvSpPr>
          <p:cNvPr id="12" name="Shape 10"/>
          <p:cNvSpPr/>
          <p:nvPr/>
        </p:nvSpPr>
        <p:spPr>
          <a:xfrm>
            <a:off x="1316736" y="4800600"/>
            <a:ext cx="1536192" cy="384048"/>
          </a:xfrm>
          <a:prstGeom prst="roundRect">
            <a:avLst>
              <a:gd name="adj" fmla="val 50000"/>
            </a:avLst>
          </a:prstGeom>
          <a:solidFill>
            <a:srgbClr val="E7E8D1"/>
          </a:solidFill>
          <a:ln w="12700">
            <a:solidFill>
              <a:srgbClr val="A7BEAE"/>
            </a:solidFill>
            <a:prstDash val="solid"/>
          </a:ln>
        </p:spPr>
      </p:sp>
      <p:sp>
        <p:nvSpPr>
          <p:cNvPr id="13" name="Text 11"/>
          <p:cNvSpPr/>
          <p:nvPr/>
        </p:nvSpPr>
        <p:spPr>
          <a:xfrm>
            <a:off x="1316736" y="4800600"/>
            <a:ext cx="1536192" cy="384048"/>
          </a:xfrm>
          <a:prstGeom prst="rect">
            <a:avLst/>
          </a:prstGeom>
          <a:noFill/>
          <a:ln/>
        </p:spPr>
        <p:txBody>
          <a:bodyPr wrap="square" lIns="0" tIns="0" rIns="0" bIns="0" rtlCol="0" anchor="ctr"/>
          <a:lstStyle/>
          <a:p>
            <a:pPr algn="ctr" indent="0" marL="0">
              <a:buNone/>
            </a:pPr>
            <a:r>
              <a:rPr lang="en-US" sz="1150" b="1" dirty="0">
                <a:solidFill>
                  <a:srgbClr val="3A2B26"/>
                </a:solidFill>
                <a:latin typeface="Courier New" pitchFamily="34" charset="0"/>
                <a:ea typeface="Courier New" pitchFamily="34" charset="-122"/>
                <a:cs typeface="Courier New" pitchFamily="34" charset="-120"/>
              </a:rPr>
              <a:t>repeat(3, 1fr)</a:t>
            </a:r>
            <a:endParaRPr lang="en-US" sz="1150" dirty="0"/>
          </a:p>
        </p:txBody>
      </p:sp>
      <p:sp>
        <p:nvSpPr>
          <p:cNvPr id="14" name="Text 12"/>
          <p:cNvSpPr/>
          <p:nvPr/>
        </p:nvSpPr>
        <p:spPr>
          <a:xfrm>
            <a:off x="7452360" y="2103120"/>
            <a:ext cx="4206240" cy="2286000"/>
          </a:xfrm>
          <a:prstGeom prst="rect">
            <a:avLst/>
          </a:prstGeom>
          <a:noFill/>
          <a:ln/>
        </p:spPr>
        <p:txBody>
          <a:bodyPr wrap="square" lIns="0" tIns="0" rIns="0" bIns="0" rtlCol="0" anchor="ctr"/>
          <a:lstStyle/>
          <a:p>
            <a:pPr indent="0" marL="0">
              <a:buNone/>
            </a:pPr>
            <a:r>
              <a:rPr lang="en-US" sz="1350" i="1" dirty="0">
                <a:solidFill>
                  <a:srgbClr val="555555"/>
                </a:solidFill>
                <a:latin typeface="Calibri" pitchFamily="34" charset="0"/>
                <a:ea typeface="Calibri" pitchFamily="34" charset="-122"/>
                <a:cs typeface="Calibri" pitchFamily="34" charset="-120"/>
              </a:rPr>
              <a:t>This is the exact CSS you'll use for the real PAF/CGF gallery this week.</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300" b="1" spc="100" kern="0" dirty="0">
                <a:solidFill>
                  <a:srgbClr val="B85042"/>
                </a:solidFill>
                <a:latin typeface="Calibri" pitchFamily="34" charset="0"/>
                <a:ea typeface="Calibri" pitchFamily="34" charset="-122"/>
                <a:cs typeface="Calibri" pitchFamily="34" charset="-120"/>
              </a:rPr>
              <a:t>PRACTICE 4 — CHALLENGE</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2700" b="1" dirty="0">
                <a:solidFill>
                  <a:srgbClr val="2D2D2D"/>
                </a:solidFill>
                <a:latin typeface="Cambria" pitchFamily="34" charset="0"/>
                <a:ea typeface="Cambria" pitchFamily="34" charset="-122"/>
                <a:cs typeface="Cambria" pitchFamily="34" charset="-120"/>
              </a:rPr>
              <a:t>Make It 2 Columns Instead of 3</a:t>
            </a:r>
            <a:endParaRPr lang="en-US" sz="2700" dirty="0"/>
          </a:p>
        </p:txBody>
      </p:sp>
      <p:sp>
        <p:nvSpPr>
          <p:cNvPr id="4" name="Shape 2"/>
          <p:cNvSpPr/>
          <p:nvPr/>
        </p:nvSpPr>
        <p:spPr>
          <a:xfrm>
            <a:off x="548640" y="1828800"/>
            <a:ext cx="6675120" cy="2377440"/>
          </a:xfrm>
          <a:prstGeom prst="roundRect">
            <a:avLst>
              <a:gd name="adj" fmla="val 3846"/>
            </a:avLst>
          </a:prstGeom>
          <a:solidFill>
            <a:srgbClr val="2D2321"/>
          </a:solidFill>
          <a:ln/>
        </p:spPr>
      </p:sp>
      <p:sp>
        <p:nvSpPr>
          <p:cNvPr id="5" name="Shape 3"/>
          <p:cNvSpPr/>
          <p:nvPr/>
        </p:nvSpPr>
        <p:spPr>
          <a:xfrm>
            <a:off x="749808" y="1993392"/>
            <a:ext cx="128016" cy="128016"/>
          </a:xfrm>
          <a:prstGeom prst="ellipse">
            <a:avLst/>
          </a:prstGeom>
          <a:solidFill>
            <a:srgbClr val="E06C75"/>
          </a:solidFill>
          <a:ln/>
        </p:spPr>
      </p:sp>
      <p:sp>
        <p:nvSpPr>
          <p:cNvPr id="6" name="Shape 4"/>
          <p:cNvSpPr/>
          <p:nvPr/>
        </p:nvSpPr>
        <p:spPr>
          <a:xfrm>
            <a:off x="978408" y="1993392"/>
            <a:ext cx="128016" cy="128016"/>
          </a:xfrm>
          <a:prstGeom prst="ellipse">
            <a:avLst/>
          </a:prstGeom>
          <a:solidFill>
            <a:srgbClr val="E5C07B"/>
          </a:solidFill>
          <a:ln/>
        </p:spPr>
      </p:sp>
      <p:sp>
        <p:nvSpPr>
          <p:cNvPr id="7" name="Shape 5"/>
          <p:cNvSpPr/>
          <p:nvPr/>
        </p:nvSpPr>
        <p:spPr>
          <a:xfrm>
            <a:off x="1207008" y="1993392"/>
            <a:ext cx="128016" cy="128016"/>
          </a:xfrm>
          <a:prstGeom prst="ellipse">
            <a:avLst/>
          </a:prstGeom>
          <a:solidFill>
            <a:srgbClr val="98C379"/>
          </a:solidFill>
          <a:ln/>
        </p:spPr>
      </p:sp>
      <p:sp>
        <p:nvSpPr>
          <p:cNvPr id="8" name="Text 6"/>
          <p:cNvSpPr/>
          <p:nvPr/>
        </p:nvSpPr>
        <p:spPr>
          <a:xfrm>
            <a:off x="804672" y="2286000"/>
            <a:ext cx="6163056" cy="1783080"/>
          </a:xfrm>
          <a:prstGeom prst="rect">
            <a:avLst/>
          </a:prstGeom>
          <a:noFill/>
          <a:ln/>
        </p:spPr>
        <p:txBody>
          <a:bodyPr wrap="square" lIns="0" tIns="0" rIns="0" bIns="0" rtlCol="0" anchor="ctr"/>
          <a:lstStyle/>
          <a:p>
            <a:pPr indent="0" marL="0">
              <a:lnSpc>
                <a:spcPct val="122000"/>
              </a:lnSpc>
              <a:buNone/>
            </a:pPr>
            <a:r>
              <a:rPr lang="en-US" sz="1300" dirty="0">
                <a:solidFill>
                  <a:srgbClr val="E7E8D1"/>
                </a:solidFill>
                <a:latin typeface="Courier New" pitchFamily="34" charset="0"/>
                <a:ea typeface="Courier New" pitchFamily="34" charset="-122"/>
                <a:cs typeface="Courier New" pitchFamily="34" charset="-120"/>
              </a:rPr>
              <a:t>.gallery-grid {</a:t>
            </a:r>
            <a:endParaRPr lang="en-US" sz="1300" dirty="0"/>
          </a:p>
          <a:p>
            <a:pPr indent="0" marL="0">
              <a:lnSpc>
                <a:spcPct val="122000"/>
              </a:lnSpc>
              <a:buNone/>
            </a:pPr>
            <a:r>
              <a:rPr lang="en-US" sz="1300" dirty="0">
                <a:solidFill>
                  <a:srgbClr val="E7E8D1"/>
                </a:solidFill>
                <a:latin typeface="Courier New" pitchFamily="34" charset="0"/>
                <a:ea typeface="Courier New" pitchFamily="34" charset="-122"/>
                <a:cs typeface="Courier New" pitchFamily="34" charset="-120"/>
              </a:rPr>
              <a:t>  display: grid;</a:t>
            </a:r>
            <a:endParaRPr lang="en-US" sz="1300" dirty="0"/>
          </a:p>
          <a:p>
            <a:pPr indent="0" marL="0">
              <a:lnSpc>
                <a:spcPct val="122000"/>
              </a:lnSpc>
              <a:buNone/>
            </a:pPr>
            <a:r>
              <a:rPr lang="en-US" sz="1300" dirty="0">
                <a:solidFill>
                  <a:srgbClr val="E7E8D1"/>
                </a:solidFill>
                <a:latin typeface="Courier New" pitchFamily="34" charset="0"/>
                <a:ea typeface="Courier New" pitchFamily="34" charset="-122"/>
                <a:cs typeface="Courier New" pitchFamily="34" charset="-120"/>
              </a:rPr>
              <a:t>  grid-template-columns: </a:t>
            </a:r>
            <a:pPr indent="0" marL="0">
              <a:lnSpc>
                <a:spcPct val="122000"/>
              </a:lnSpc>
              <a:buNone/>
            </a:pPr>
            <a:r>
              <a:rPr lang="en-US" sz="1300" b="1" dirty="0">
                <a:solidFill>
                  <a:srgbClr val="F2C14E"/>
                </a:solidFill>
                <a:latin typeface="Courier New" pitchFamily="34" charset="0"/>
                <a:ea typeface="Courier New" pitchFamily="34" charset="-122"/>
                <a:cs typeface="Courier New" pitchFamily="34" charset="-120"/>
              </a:rPr>
              <a:t>______</a:t>
            </a:r>
            <a:pPr indent="0" marL="0">
              <a:lnSpc>
                <a:spcPct val="122000"/>
              </a:lnSpc>
              <a:buNone/>
            </a:pPr>
            <a:r>
              <a:rPr lang="en-US" sz="1300" dirty="0">
                <a:solidFill>
                  <a:srgbClr val="E7E8D1"/>
                </a:solidFill>
                <a:latin typeface="Courier New" pitchFamily="34" charset="0"/>
                <a:ea typeface="Courier New" pitchFamily="34" charset="-122"/>
                <a:cs typeface="Courier New" pitchFamily="34" charset="-120"/>
              </a:rPr>
              <a:t>;</a:t>
            </a:r>
            <a:endParaRPr lang="en-US" sz="1300" dirty="0"/>
          </a:p>
          <a:p>
            <a:pPr indent="0" marL="0">
              <a:lnSpc>
                <a:spcPct val="122000"/>
              </a:lnSpc>
              <a:buNone/>
            </a:pPr>
            <a:r>
              <a:rPr lang="en-US" sz="1300" dirty="0">
                <a:solidFill>
                  <a:srgbClr val="E7E8D1"/>
                </a:solidFill>
                <a:latin typeface="Courier New" pitchFamily="34" charset="0"/>
                <a:ea typeface="Courier New" pitchFamily="34" charset="-122"/>
                <a:cs typeface="Courier New" pitchFamily="34" charset="-120"/>
              </a:rPr>
              <a:t>  gap: 20px;</a:t>
            </a:r>
            <a:endParaRPr lang="en-US" sz="1300" dirty="0"/>
          </a:p>
          <a:p>
            <a:pPr indent="0" marL="0">
              <a:lnSpc>
                <a:spcPct val="122000"/>
              </a:lnSpc>
              <a:buNone/>
            </a:pPr>
            <a:r>
              <a:rPr lang="en-US" sz="1300" dirty="0">
                <a:solidFill>
                  <a:srgbClr val="E7E8D1"/>
                </a:solidFill>
                <a:latin typeface="Courier New" pitchFamily="34" charset="0"/>
                <a:ea typeface="Courier New" pitchFamily="34" charset="-122"/>
                <a:cs typeface="Courier New" pitchFamily="34" charset="-120"/>
              </a:rPr>
              <a:t>}</a:t>
            </a:r>
            <a:endParaRPr lang="en-US" sz="1300" dirty="0"/>
          </a:p>
        </p:txBody>
      </p:sp>
      <p:sp>
        <p:nvSpPr>
          <p:cNvPr id="9" name="Text 7"/>
          <p:cNvSpPr/>
          <p:nvPr/>
        </p:nvSpPr>
        <p:spPr>
          <a:xfrm>
            <a:off x="548640" y="4480560"/>
            <a:ext cx="6400800" cy="274320"/>
          </a:xfrm>
          <a:prstGeom prst="rect">
            <a:avLst/>
          </a:prstGeom>
          <a:noFill/>
          <a:ln/>
        </p:spPr>
        <p:txBody>
          <a:bodyPr wrap="square" lIns="0" tIns="0" rIns="0" bIns="0" rtlCol="0" anchor="ctr"/>
          <a:lstStyle/>
          <a:p>
            <a:pPr indent="0" marL="0">
              <a:buNone/>
            </a:pPr>
            <a:r>
              <a:rPr lang="en-US" sz="1100" b="1" spc="50" kern="0" dirty="0">
                <a:solidFill>
                  <a:srgbClr val="B85042"/>
                </a:solidFill>
                <a:latin typeface="Calibri" pitchFamily="34" charset="0"/>
                <a:ea typeface="Calibri" pitchFamily="34" charset="-122"/>
                <a:cs typeface="Calibri" pitchFamily="34" charset="-120"/>
              </a:rPr>
              <a:t>WORD BANK — pick the right word for each blank</a:t>
            </a:r>
            <a:endParaRPr lang="en-US" sz="1100" dirty="0"/>
          </a:p>
        </p:txBody>
      </p:sp>
      <p:sp>
        <p:nvSpPr>
          <p:cNvPr id="10" name="Shape 8"/>
          <p:cNvSpPr/>
          <p:nvPr/>
        </p:nvSpPr>
        <p:spPr>
          <a:xfrm>
            <a:off x="548640" y="4800600"/>
            <a:ext cx="1536192" cy="384048"/>
          </a:xfrm>
          <a:prstGeom prst="roundRect">
            <a:avLst>
              <a:gd name="adj" fmla="val 50000"/>
            </a:avLst>
          </a:prstGeom>
          <a:solidFill>
            <a:srgbClr val="E7E8D1"/>
          </a:solidFill>
          <a:ln w="12700">
            <a:solidFill>
              <a:srgbClr val="A7BEAE"/>
            </a:solidFill>
            <a:prstDash val="solid"/>
          </a:ln>
        </p:spPr>
      </p:sp>
      <p:sp>
        <p:nvSpPr>
          <p:cNvPr id="11" name="Text 9"/>
          <p:cNvSpPr/>
          <p:nvPr/>
        </p:nvSpPr>
        <p:spPr>
          <a:xfrm>
            <a:off x="548640" y="4800600"/>
            <a:ext cx="1536192" cy="384048"/>
          </a:xfrm>
          <a:prstGeom prst="rect">
            <a:avLst/>
          </a:prstGeom>
          <a:noFill/>
          <a:ln/>
        </p:spPr>
        <p:txBody>
          <a:bodyPr wrap="square" lIns="0" tIns="0" rIns="0" bIns="0" rtlCol="0" anchor="ctr"/>
          <a:lstStyle/>
          <a:p>
            <a:pPr algn="ctr" indent="0" marL="0">
              <a:buNone/>
            </a:pPr>
            <a:r>
              <a:rPr lang="en-US" sz="1150" b="1" dirty="0">
                <a:solidFill>
                  <a:srgbClr val="3A2B26"/>
                </a:solidFill>
                <a:latin typeface="Courier New" pitchFamily="34" charset="0"/>
                <a:ea typeface="Courier New" pitchFamily="34" charset="-122"/>
                <a:cs typeface="Courier New" pitchFamily="34" charset="-120"/>
              </a:rPr>
              <a:t>repeat(2, 1fr)</a:t>
            </a:r>
            <a:endParaRPr lang="en-US" sz="1150" dirty="0"/>
          </a:p>
        </p:txBody>
      </p:sp>
      <p:sp>
        <p:nvSpPr>
          <p:cNvPr id="12" name="Text 10"/>
          <p:cNvSpPr/>
          <p:nvPr/>
        </p:nvSpPr>
        <p:spPr>
          <a:xfrm>
            <a:off x="7452360" y="2103120"/>
            <a:ext cx="4206240" cy="2286000"/>
          </a:xfrm>
          <a:prstGeom prst="rect">
            <a:avLst/>
          </a:prstGeom>
          <a:noFill/>
          <a:ln/>
        </p:spPr>
        <p:txBody>
          <a:bodyPr wrap="square" lIns="0" tIns="0" rIns="0" bIns="0" rtlCol="0" anchor="ctr"/>
          <a:lstStyle/>
          <a:p>
            <a:pPr indent="0" marL="0">
              <a:buNone/>
            </a:pPr>
            <a:r>
              <a:rPr lang="en-US" sz="1350" i="1" dirty="0">
                <a:solidFill>
                  <a:srgbClr val="555555"/>
                </a:solidFill>
                <a:latin typeface="Calibri" pitchFamily="34" charset="0"/>
                <a:ea typeface="Calibri" pitchFamily="34" charset="-122"/>
                <a:cs typeface="Calibri" pitchFamily="34" charset="-120"/>
              </a:rPr>
              <a:t>Hint: only ONE number needs to change from Practice 3.</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300" b="1" spc="100" kern="0" dirty="0">
                <a:solidFill>
                  <a:srgbClr val="B85042"/>
                </a:solidFill>
                <a:latin typeface="Calibri" pitchFamily="34" charset="0"/>
                <a:ea typeface="Calibri" pitchFamily="34" charset="-122"/>
                <a:cs typeface="Calibri" pitchFamily="34" charset="-120"/>
              </a:rPr>
              <a:t>QUICK REFERENCE</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2700" b="1" dirty="0">
                <a:solidFill>
                  <a:srgbClr val="2D2D2D"/>
                </a:solidFill>
                <a:latin typeface="Cambria" pitchFamily="34" charset="0"/>
                <a:ea typeface="Cambria" pitchFamily="34" charset="-122"/>
                <a:cs typeface="Cambria" pitchFamily="34" charset="-120"/>
              </a:rPr>
              <a:t>Day 2 Cheat Sheet</a:t>
            </a:r>
            <a:endParaRPr lang="en-US" sz="2700" dirty="0"/>
          </a:p>
        </p:txBody>
      </p:sp>
      <p:sp>
        <p:nvSpPr>
          <p:cNvPr id="4" name="Shape 2"/>
          <p:cNvSpPr/>
          <p:nvPr/>
        </p:nvSpPr>
        <p:spPr>
          <a:xfrm>
            <a:off x="548640" y="1828800"/>
            <a:ext cx="5349240" cy="1874520"/>
          </a:xfrm>
          <a:prstGeom prst="roundRect">
            <a:avLst>
              <a:gd name="adj" fmla="val 4878"/>
            </a:avLst>
          </a:prstGeom>
          <a:solidFill>
            <a:srgbClr val="E7E8D1"/>
          </a:solidFill>
          <a:ln/>
        </p:spPr>
      </p:sp>
      <p:sp>
        <p:nvSpPr>
          <p:cNvPr id="5" name="Text 3"/>
          <p:cNvSpPr/>
          <p:nvPr/>
        </p:nvSpPr>
        <p:spPr>
          <a:xfrm>
            <a:off x="822960" y="1993392"/>
            <a:ext cx="4800600" cy="320040"/>
          </a:xfrm>
          <a:prstGeom prst="rect">
            <a:avLst/>
          </a:prstGeom>
          <a:noFill/>
          <a:ln/>
        </p:spPr>
        <p:txBody>
          <a:bodyPr wrap="square" lIns="0" tIns="0" rIns="0" bIns="0" rtlCol="0" anchor="ctr"/>
          <a:lstStyle/>
          <a:p>
            <a:pPr indent="0" marL="0">
              <a:buNone/>
            </a:pPr>
            <a:r>
              <a:rPr lang="en-US" sz="1500" b="1" dirty="0">
                <a:solidFill>
                  <a:srgbClr val="3A2B26"/>
                </a:solidFill>
                <a:latin typeface="Cambria" pitchFamily="34" charset="0"/>
                <a:ea typeface="Cambria" pitchFamily="34" charset="-122"/>
                <a:cs typeface="Cambria" pitchFamily="34" charset="-120"/>
              </a:rPr>
              <a:t>Selectors</a:t>
            </a:r>
            <a:endParaRPr lang="en-US" sz="1500" dirty="0"/>
          </a:p>
        </p:txBody>
      </p:sp>
      <p:sp>
        <p:nvSpPr>
          <p:cNvPr id="6" name="Text 4"/>
          <p:cNvSpPr/>
          <p:nvPr/>
        </p:nvSpPr>
        <p:spPr>
          <a:xfrm>
            <a:off x="822960" y="2377440"/>
            <a:ext cx="4800600" cy="1188720"/>
          </a:xfrm>
          <a:prstGeom prst="rect">
            <a:avLst/>
          </a:prstGeom>
          <a:noFill/>
          <a:ln/>
        </p:spPr>
        <p:txBody>
          <a:bodyPr wrap="square" lIns="0" tIns="0" rIns="0" bIns="0" rtlCol="0" anchor="ctr"/>
          <a:lstStyle/>
          <a:p>
            <a:pPr indent="0" marL="0">
              <a:lnSpc>
                <a:spcPct val="135000"/>
              </a:lnSpc>
              <a:buNone/>
            </a:pPr>
            <a:r>
              <a:rPr lang="en-US" sz="1200" dirty="0">
                <a:solidFill>
                  <a:srgbClr val="B85042"/>
                </a:solidFill>
                <a:latin typeface="Courier New" pitchFamily="34" charset="0"/>
                <a:ea typeface="Courier New" pitchFamily="34" charset="-122"/>
                <a:cs typeface="Courier New" pitchFamily="34" charset="-120"/>
              </a:rPr>
              <a:t>p { }  → every &lt;p&gt;</a:t>
            </a:r>
            <a:endParaRPr lang="en-US" sz="1200" dirty="0"/>
          </a:p>
          <a:p>
            <a:pPr indent="0" marL="0">
              <a:lnSpc>
                <a:spcPct val="135000"/>
              </a:lnSpc>
              <a:buNone/>
            </a:pPr>
            <a:r>
              <a:rPr lang="en-US" sz="1200" dirty="0">
                <a:solidFill>
                  <a:srgbClr val="B85042"/>
                </a:solidFill>
                <a:latin typeface="Courier New" pitchFamily="34" charset="0"/>
                <a:ea typeface="Courier New" pitchFamily="34" charset="-122"/>
                <a:cs typeface="Courier New" pitchFamily="34" charset="-120"/>
              </a:rPr>
              <a:t>.name { }  → class (reusable)</a:t>
            </a:r>
            <a:endParaRPr lang="en-US" sz="1200" dirty="0"/>
          </a:p>
          <a:p>
            <a:pPr indent="0" marL="0">
              <a:lnSpc>
                <a:spcPct val="135000"/>
              </a:lnSpc>
              <a:buNone/>
            </a:pPr>
            <a:r>
              <a:rPr lang="en-US" sz="1200" dirty="0">
                <a:solidFill>
                  <a:srgbClr val="B85042"/>
                </a:solidFill>
                <a:latin typeface="Courier New" pitchFamily="34" charset="0"/>
                <a:ea typeface="Courier New" pitchFamily="34" charset="-122"/>
                <a:cs typeface="Courier New" pitchFamily="34" charset="-120"/>
              </a:rPr>
              <a:t>#name { }  → id (just ONE)</a:t>
            </a:r>
            <a:endParaRPr lang="en-US" sz="1200" dirty="0"/>
          </a:p>
        </p:txBody>
      </p:sp>
      <p:sp>
        <p:nvSpPr>
          <p:cNvPr id="7" name="Shape 5"/>
          <p:cNvSpPr/>
          <p:nvPr/>
        </p:nvSpPr>
        <p:spPr>
          <a:xfrm>
            <a:off x="6080760" y="1828800"/>
            <a:ext cx="5349240" cy="1874520"/>
          </a:xfrm>
          <a:prstGeom prst="roundRect">
            <a:avLst>
              <a:gd name="adj" fmla="val 4878"/>
            </a:avLst>
          </a:prstGeom>
          <a:solidFill>
            <a:srgbClr val="F4EFE7"/>
          </a:solidFill>
          <a:ln/>
        </p:spPr>
      </p:sp>
      <p:sp>
        <p:nvSpPr>
          <p:cNvPr id="8" name="Text 6"/>
          <p:cNvSpPr/>
          <p:nvPr/>
        </p:nvSpPr>
        <p:spPr>
          <a:xfrm>
            <a:off x="6355080" y="1993392"/>
            <a:ext cx="4800600" cy="320040"/>
          </a:xfrm>
          <a:prstGeom prst="rect">
            <a:avLst/>
          </a:prstGeom>
          <a:noFill/>
          <a:ln/>
        </p:spPr>
        <p:txBody>
          <a:bodyPr wrap="square" lIns="0" tIns="0" rIns="0" bIns="0" rtlCol="0" anchor="ctr"/>
          <a:lstStyle/>
          <a:p>
            <a:pPr indent="0" marL="0">
              <a:buNone/>
            </a:pPr>
            <a:r>
              <a:rPr lang="en-US" sz="1500" b="1" dirty="0">
                <a:solidFill>
                  <a:srgbClr val="3A2B26"/>
                </a:solidFill>
                <a:latin typeface="Cambria" pitchFamily="34" charset="0"/>
                <a:ea typeface="Cambria" pitchFamily="34" charset="-122"/>
                <a:cs typeface="Cambria" pitchFamily="34" charset="-120"/>
              </a:rPr>
              <a:t>Units</a:t>
            </a:r>
            <a:endParaRPr lang="en-US" sz="1500" dirty="0"/>
          </a:p>
        </p:txBody>
      </p:sp>
      <p:sp>
        <p:nvSpPr>
          <p:cNvPr id="9" name="Text 7"/>
          <p:cNvSpPr/>
          <p:nvPr/>
        </p:nvSpPr>
        <p:spPr>
          <a:xfrm>
            <a:off x="6355080" y="2377440"/>
            <a:ext cx="4800600" cy="1188720"/>
          </a:xfrm>
          <a:prstGeom prst="rect">
            <a:avLst/>
          </a:prstGeom>
          <a:noFill/>
          <a:ln/>
        </p:spPr>
        <p:txBody>
          <a:bodyPr wrap="square" lIns="0" tIns="0" rIns="0" bIns="0" rtlCol="0" anchor="ctr"/>
          <a:lstStyle/>
          <a:p>
            <a:pPr indent="0" marL="0">
              <a:lnSpc>
                <a:spcPct val="135000"/>
              </a:lnSpc>
              <a:buNone/>
            </a:pPr>
            <a:r>
              <a:rPr lang="en-US" sz="1200" dirty="0">
                <a:solidFill>
                  <a:srgbClr val="B85042"/>
                </a:solidFill>
                <a:latin typeface="Courier New" pitchFamily="34" charset="0"/>
                <a:ea typeface="Courier New" pitchFamily="34" charset="-122"/>
                <a:cs typeface="Courier New" pitchFamily="34" charset="-120"/>
              </a:rPr>
              <a:t>px  → fixed size (default choice)</a:t>
            </a:r>
            <a:endParaRPr lang="en-US" sz="1200" dirty="0"/>
          </a:p>
          <a:p>
            <a:pPr indent="0" marL="0">
              <a:lnSpc>
                <a:spcPct val="135000"/>
              </a:lnSpc>
              <a:buNone/>
            </a:pPr>
            <a:r>
              <a:rPr lang="en-US" sz="1200" dirty="0">
                <a:solidFill>
                  <a:srgbClr val="B85042"/>
                </a:solidFill>
                <a:latin typeface="Courier New" pitchFamily="34" charset="0"/>
                <a:ea typeface="Courier New" pitchFamily="34" charset="-122"/>
                <a:cs typeface="Courier New" pitchFamily="34" charset="-120"/>
              </a:rPr>
              <a:t>%  → relative to parent</a:t>
            </a:r>
            <a:endParaRPr lang="en-US" sz="1200" dirty="0"/>
          </a:p>
          <a:p>
            <a:pPr indent="0" marL="0">
              <a:lnSpc>
                <a:spcPct val="135000"/>
              </a:lnSpc>
              <a:buNone/>
            </a:pPr>
            <a:r>
              <a:rPr lang="en-US" sz="1200" dirty="0">
                <a:solidFill>
                  <a:srgbClr val="B85042"/>
                </a:solidFill>
                <a:latin typeface="Courier New" pitchFamily="34" charset="0"/>
                <a:ea typeface="Courier New" pitchFamily="34" charset="-122"/>
                <a:cs typeface="Courier New" pitchFamily="34" charset="-120"/>
              </a:rPr>
              <a:t>em  → relative to font size</a:t>
            </a:r>
            <a:endParaRPr lang="en-US" sz="1200" dirty="0"/>
          </a:p>
        </p:txBody>
      </p:sp>
      <p:sp>
        <p:nvSpPr>
          <p:cNvPr id="10" name="Shape 8"/>
          <p:cNvSpPr/>
          <p:nvPr/>
        </p:nvSpPr>
        <p:spPr>
          <a:xfrm>
            <a:off x="548640" y="3886200"/>
            <a:ext cx="5349240" cy="1874520"/>
          </a:xfrm>
          <a:prstGeom prst="roundRect">
            <a:avLst>
              <a:gd name="adj" fmla="val 4878"/>
            </a:avLst>
          </a:prstGeom>
          <a:solidFill>
            <a:srgbClr val="E7E8D1"/>
          </a:solidFill>
          <a:ln/>
        </p:spPr>
      </p:sp>
      <p:sp>
        <p:nvSpPr>
          <p:cNvPr id="11" name="Text 9"/>
          <p:cNvSpPr/>
          <p:nvPr/>
        </p:nvSpPr>
        <p:spPr>
          <a:xfrm>
            <a:off x="822960" y="4050792"/>
            <a:ext cx="4800600" cy="320040"/>
          </a:xfrm>
          <a:prstGeom prst="rect">
            <a:avLst/>
          </a:prstGeom>
          <a:noFill/>
          <a:ln/>
        </p:spPr>
        <p:txBody>
          <a:bodyPr wrap="square" lIns="0" tIns="0" rIns="0" bIns="0" rtlCol="0" anchor="ctr"/>
          <a:lstStyle/>
          <a:p>
            <a:pPr indent="0" marL="0">
              <a:buNone/>
            </a:pPr>
            <a:r>
              <a:rPr lang="en-US" sz="1500" b="1" dirty="0">
                <a:solidFill>
                  <a:srgbClr val="3A2B26"/>
                </a:solidFill>
                <a:latin typeface="Cambria" pitchFamily="34" charset="0"/>
                <a:ea typeface="Cambria" pitchFamily="34" charset="-122"/>
                <a:cs typeface="Cambria" pitchFamily="34" charset="-120"/>
              </a:rPr>
              <a:t>Flexbox</a:t>
            </a:r>
            <a:endParaRPr lang="en-US" sz="1500" dirty="0"/>
          </a:p>
        </p:txBody>
      </p:sp>
      <p:sp>
        <p:nvSpPr>
          <p:cNvPr id="12" name="Text 10"/>
          <p:cNvSpPr/>
          <p:nvPr/>
        </p:nvSpPr>
        <p:spPr>
          <a:xfrm>
            <a:off x="822960" y="4434840"/>
            <a:ext cx="4800600" cy="1188720"/>
          </a:xfrm>
          <a:prstGeom prst="rect">
            <a:avLst/>
          </a:prstGeom>
          <a:noFill/>
          <a:ln/>
        </p:spPr>
        <p:txBody>
          <a:bodyPr wrap="square" lIns="0" tIns="0" rIns="0" bIns="0" rtlCol="0" anchor="ctr"/>
          <a:lstStyle/>
          <a:p>
            <a:pPr indent="0" marL="0">
              <a:lnSpc>
                <a:spcPct val="135000"/>
              </a:lnSpc>
              <a:buNone/>
            </a:pPr>
            <a:r>
              <a:rPr lang="en-US" sz="1200" dirty="0">
                <a:solidFill>
                  <a:srgbClr val="B85042"/>
                </a:solidFill>
                <a:latin typeface="Courier New" pitchFamily="34" charset="0"/>
                <a:ea typeface="Courier New" pitchFamily="34" charset="-122"/>
                <a:cs typeface="Courier New" pitchFamily="34" charset="-120"/>
              </a:rPr>
              <a:t>display: flex;</a:t>
            </a:r>
            <a:endParaRPr lang="en-US" sz="1200" dirty="0"/>
          </a:p>
          <a:p>
            <a:pPr indent="0" marL="0">
              <a:lnSpc>
                <a:spcPct val="135000"/>
              </a:lnSpc>
              <a:buNone/>
            </a:pPr>
            <a:r>
              <a:rPr lang="en-US" sz="1200" dirty="0">
                <a:solidFill>
                  <a:srgbClr val="B85042"/>
                </a:solidFill>
                <a:latin typeface="Courier New" pitchFamily="34" charset="0"/>
                <a:ea typeface="Courier New" pitchFamily="34" charset="-122"/>
                <a:cs typeface="Courier New" pitchFamily="34" charset="-120"/>
              </a:rPr>
              <a:t>justify-content: center / space-between</a:t>
            </a:r>
            <a:endParaRPr lang="en-US" sz="1200" dirty="0"/>
          </a:p>
          <a:p>
            <a:pPr indent="0" marL="0">
              <a:lnSpc>
                <a:spcPct val="135000"/>
              </a:lnSpc>
              <a:buNone/>
            </a:pPr>
            <a:r>
              <a:rPr lang="en-US" sz="1200" dirty="0">
                <a:solidFill>
                  <a:srgbClr val="B85042"/>
                </a:solidFill>
                <a:latin typeface="Courier New" pitchFamily="34" charset="0"/>
                <a:ea typeface="Courier New" pitchFamily="34" charset="-122"/>
                <a:cs typeface="Courier New" pitchFamily="34" charset="-120"/>
              </a:rPr>
              <a:t>align-items: center</a:t>
            </a:r>
            <a:endParaRPr lang="en-US" sz="1200" dirty="0"/>
          </a:p>
          <a:p>
            <a:pPr indent="0" marL="0">
              <a:lnSpc>
                <a:spcPct val="135000"/>
              </a:lnSpc>
              <a:buNone/>
            </a:pPr>
            <a:r>
              <a:rPr lang="en-US" sz="1200" dirty="0">
                <a:solidFill>
                  <a:srgbClr val="B85042"/>
                </a:solidFill>
                <a:latin typeface="Courier New" pitchFamily="34" charset="0"/>
                <a:ea typeface="Courier New" pitchFamily="34" charset="-122"/>
                <a:cs typeface="Courier New" pitchFamily="34" charset="-120"/>
              </a:rPr>
              <a:t>gap: 20px;</a:t>
            </a:r>
            <a:endParaRPr lang="en-US" sz="1200" dirty="0"/>
          </a:p>
        </p:txBody>
      </p:sp>
      <p:sp>
        <p:nvSpPr>
          <p:cNvPr id="13" name="Shape 11"/>
          <p:cNvSpPr/>
          <p:nvPr/>
        </p:nvSpPr>
        <p:spPr>
          <a:xfrm>
            <a:off x="6080760" y="3886200"/>
            <a:ext cx="5349240" cy="1874520"/>
          </a:xfrm>
          <a:prstGeom prst="roundRect">
            <a:avLst>
              <a:gd name="adj" fmla="val 4878"/>
            </a:avLst>
          </a:prstGeom>
          <a:solidFill>
            <a:srgbClr val="F4EFE7"/>
          </a:solidFill>
          <a:ln/>
        </p:spPr>
      </p:sp>
      <p:sp>
        <p:nvSpPr>
          <p:cNvPr id="14" name="Text 12"/>
          <p:cNvSpPr/>
          <p:nvPr/>
        </p:nvSpPr>
        <p:spPr>
          <a:xfrm>
            <a:off x="6355080" y="4050792"/>
            <a:ext cx="4800600" cy="320040"/>
          </a:xfrm>
          <a:prstGeom prst="rect">
            <a:avLst/>
          </a:prstGeom>
          <a:noFill/>
          <a:ln/>
        </p:spPr>
        <p:txBody>
          <a:bodyPr wrap="square" lIns="0" tIns="0" rIns="0" bIns="0" rtlCol="0" anchor="ctr"/>
          <a:lstStyle/>
          <a:p>
            <a:pPr indent="0" marL="0">
              <a:buNone/>
            </a:pPr>
            <a:r>
              <a:rPr lang="en-US" sz="1500" b="1" dirty="0">
                <a:solidFill>
                  <a:srgbClr val="3A2B26"/>
                </a:solidFill>
                <a:latin typeface="Cambria" pitchFamily="34" charset="0"/>
                <a:ea typeface="Cambria" pitchFamily="34" charset="-122"/>
                <a:cs typeface="Cambria" pitchFamily="34" charset="-120"/>
              </a:rPr>
              <a:t>Grid</a:t>
            </a:r>
            <a:endParaRPr lang="en-US" sz="1500" dirty="0"/>
          </a:p>
        </p:txBody>
      </p:sp>
      <p:sp>
        <p:nvSpPr>
          <p:cNvPr id="15" name="Text 13"/>
          <p:cNvSpPr/>
          <p:nvPr/>
        </p:nvSpPr>
        <p:spPr>
          <a:xfrm>
            <a:off x="6355080" y="4434840"/>
            <a:ext cx="4800600" cy="1188720"/>
          </a:xfrm>
          <a:prstGeom prst="rect">
            <a:avLst/>
          </a:prstGeom>
          <a:noFill/>
          <a:ln/>
        </p:spPr>
        <p:txBody>
          <a:bodyPr wrap="square" lIns="0" tIns="0" rIns="0" bIns="0" rtlCol="0" anchor="ctr"/>
          <a:lstStyle/>
          <a:p>
            <a:pPr indent="0" marL="0">
              <a:lnSpc>
                <a:spcPct val="135000"/>
              </a:lnSpc>
              <a:buNone/>
            </a:pPr>
            <a:r>
              <a:rPr lang="en-US" sz="1200" dirty="0">
                <a:solidFill>
                  <a:srgbClr val="B85042"/>
                </a:solidFill>
                <a:latin typeface="Courier New" pitchFamily="34" charset="0"/>
                <a:ea typeface="Courier New" pitchFamily="34" charset="-122"/>
                <a:cs typeface="Courier New" pitchFamily="34" charset="-120"/>
              </a:rPr>
              <a:t>display: grid;</a:t>
            </a:r>
            <a:endParaRPr lang="en-US" sz="1200" dirty="0"/>
          </a:p>
          <a:p>
            <a:pPr indent="0" marL="0">
              <a:lnSpc>
                <a:spcPct val="135000"/>
              </a:lnSpc>
              <a:buNone/>
            </a:pPr>
            <a:r>
              <a:rPr lang="en-US" sz="1200" dirty="0">
                <a:solidFill>
                  <a:srgbClr val="B85042"/>
                </a:solidFill>
                <a:latin typeface="Courier New" pitchFamily="34" charset="0"/>
                <a:ea typeface="Courier New" pitchFamily="34" charset="-122"/>
                <a:cs typeface="Courier New" pitchFamily="34" charset="-120"/>
              </a:rPr>
              <a:t>grid-template-columns: repeat(3, 1fr);</a:t>
            </a:r>
            <a:endParaRPr lang="en-US" sz="1200" dirty="0"/>
          </a:p>
          <a:p>
            <a:pPr indent="0" marL="0">
              <a:lnSpc>
                <a:spcPct val="135000"/>
              </a:lnSpc>
              <a:buNone/>
            </a:pPr>
            <a:r>
              <a:rPr lang="en-US" sz="1200" dirty="0">
                <a:solidFill>
                  <a:srgbClr val="B85042"/>
                </a:solidFill>
                <a:latin typeface="Courier New" pitchFamily="34" charset="0"/>
                <a:ea typeface="Courier New" pitchFamily="34" charset="-122"/>
                <a:cs typeface="Courier New" pitchFamily="34" charset="-120"/>
              </a:rPr>
              <a:t>gap: 20px;</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914400" y="-914400"/>
            <a:ext cx="3657600" cy="3657600"/>
          </a:xfrm>
          <a:prstGeom prst="ellipse">
            <a:avLst/>
          </a:prstGeom>
          <a:solidFill>
            <a:srgbClr val="FFFFFF">
              <a:alpha val="10000"/>
            </a:srgbClr>
          </a:solidFill>
          <a:ln/>
        </p:spPr>
      </p:sp>
      <p:sp>
        <p:nvSpPr>
          <p:cNvPr id="3" name="Text 1"/>
          <p:cNvSpPr/>
          <p:nvPr/>
        </p:nvSpPr>
        <p:spPr>
          <a:xfrm>
            <a:off x="548640" y="2651760"/>
            <a:ext cx="10058400" cy="1005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Your page has structure now!</a:t>
            </a:r>
            <a:endParaRPr lang="en-US" sz="3800" dirty="0"/>
          </a:p>
        </p:txBody>
      </p:sp>
      <p:sp>
        <p:nvSpPr>
          <p:cNvPr id="4" name="Text 2"/>
          <p:cNvSpPr/>
          <p:nvPr/>
        </p:nvSpPr>
        <p:spPr>
          <a:xfrm>
            <a:off x="548640" y="3657600"/>
            <a:ext cx="9601200" cy="548640"/>
          </a:xfrm>
          <a:prstGeom prst="rect">
            <a:avLst/>
          </a:prstGeom>
          <a:noFill/>
          <a:ln/>
        </p:spPr>
        <p:txBody>
          <a:bodyPr wrap="square" lIns="0" tIns="0" rIns="0" bIns="0" rtlCol="0" anchor="ctr"/>
          <a:lstStyle/>
          <a:p>
            <a:pPr indent="0" marL="0">
              <a:buNone/>
            </a:pPr>
            <a:r>
              <a:rPr lang="en-US" sz="1600" dirty="0">
                <a:solidFill>
                  <a:srgbClr val="E7E8D1"/>
                </a:solidFill>
                <a:latin typeface="Calibri" pitchFamily="34" charset="0"/>
                <a:ea typeface="Calibri" pitchFamily="34" charset="-122"/>
                <a:cs typeface="Calibri" pitchFamily="34" charset="-120"/>
              </a:rPr>
              <a:t>Tomorrow: color, fonts, and making it look finished.</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2026-08-10T21:29:34Z</dcterms:created>
  <dcterms:modified xsi:type="dcterms:W3CDTF">2026-08-10T21:29:34Z</dcterms:modified>
</cp:coreProperties>
</file>