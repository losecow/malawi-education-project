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Welcome back! Your page has good structure and good layout now. Today we add color, fonts, and small details. We also make sure it looks good on a phone. | TIMING: 0-10 recap | 10-25 color | 25-40 fonts | 40-55 visual polish + responsive design | 55-80 fill-in-the-blank practice x4 | 80-90 wrap-up, preview Day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Let's see where we are. Day 1 gave our page structure. Day 2 put that structure into a real layout. Today, Day 3, we add color and fonts. This is the last step before the page looks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Two properties matter most. background-color sets the color behind a box. color sets the color of the text inside it. CSS understands plain color names like seashell, firebrick, and steelblue - there are over 140 of them, so you can just use a word instead of a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To use a font that is not on every computer, we connect it from Google Fonts. First, pick a font on fonts.google.com. Then copy its link tag into your HTML head. Then use font-family in your CSS to apply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Two small properties make a big difference. border-radius rounds the corners of a box - try a value between 8 and 16 pixels for cards. box-shadow adds a soft shadow behind a box, so it looks like it is lifted off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Real photos rarely come in the perfect size, so we style them a little. width 100% makes an image fill its box. object-fit cover crops it neatly instead of stretching it. And border-radius rounds the corners to match the rest of your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Why does this matter? Many people only browse the web on a phone. A layout that looks great on a laptop can feel too tight on a small screen. Responsive design means our page adjusts to fit - wide screens get columns, narrow screens get one simple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A media query is CSS that only turns on below a certain screen width. This one says: if the screen is 600 pixels wide or narrower, make the gallery grid one column instead of three. Everything inside the curly braces only applies on small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One more small trick that makes a page feel alive. The colon-hover selector changes a style only while the mouse is on top of it - here, the button gets darker. Adding transition makes that change smooth and gradual instead of an instant jump.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Here is the same hero section, before and after today's CSS. Before: plain black text on white, no spacing. After: a background color, a centered heading, padding, and a styled button. Same HTML the whole time - only the CSS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Here's the gallery on a narrow phone screen. Without a media query, the three columns squeeze into a tiny space and become hard to read. With one media query rule, it switches to one column - much easier to read and tap.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Let's style the hero section. Pick a background color, add padding so it's not squeezed to the edges, and center the text. Any color works - make it your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Now let's style the gallery cards. Round the corners with border-radius, and add a soft shadow with box-shadow so they feel lifted off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Now let's add a media query. On a screen 600 pixels wide or narrower, switch the gallery to one column. Resize your browser window narrower to test this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Last font practice - connect a real font. Fill in the rel attribute for the link tag, and the font name in font-family. Pick any font you like from Google Fonts - Poppins is just an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One more practice - make your button react when the mouse hovers over it. Fill in the transition property, and the hover pseudo-class. This is pure CSS - no JavaScript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Here's today's cheat sheet - color, fonts, visual polish, and responsive design. Keep this open while you work on your practice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Amazing work today! Your page has real color, real fonts, and it works on a phone too. Tomorrow we make it interactive with JavaScript. See you then!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548640"/>
            <a:ext cx="1463040" cy="146304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PAF &amp; CGF YOUTH PROGRAM  ·  WEBSITE BASICS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90 MIN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Design</a:t>
            </a:r>
            <a:endParaRPr lang="en-US" sz="40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Color, Fonts &amp; Responsive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page look good, and make it work on a small phone screen too.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“Design” Add?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8745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Structure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212848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 gave the page its parts — header, section, footer.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9260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Layout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264408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put those parts in the right place — rows, columns, spacing.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9776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Design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315968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add color, fonts, and small details so it looks finished.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Colors Go in CSS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2743200"/>
          </a:xfrm>
          <a:prstGeom prst="roundRect">
            <a:avLst>
              <a:gd name="adj" fmla="val 3333"/>
            </a:avLst>
          </a:prstGeom>
          <a:solidFill>
            <a:srgbClr val="2D23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99339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9339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99339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86000"/>
            <a:ext cx="506577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{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seashell;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black;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{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firebrick;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E7E8D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0299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properties to know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450592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background-color — the color behind the box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— the color of the TEXT inside the box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475488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understands plain color names like seashell, firebrick, and steelblue — over 140 of them!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a Font with Google Fonts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2D23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99339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9339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99339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86000"/>
            <a:ext cx="5065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href=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98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"fonts.googleapis.com/..."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rel=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98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5577840" cy="1554480"/>
          </a:xfrm>
          <a:prstGeom prst="roundRect">
            <a:avLst>
              <a:gd name="adj" fmla="val 5882"/>
            </a:avLst>
          </a:prstGeom>
          <a:solidFill>
            <a:srgbClr val="2D232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49808" y="427939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" y="427939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7008" y="427939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572000"/>
            <a:ext cx="5065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98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'Poppins'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sans-serif;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182880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E7E8D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20299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steps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2450592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fonts.google.com and pick a font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its &lt;link&gt; tag into your HTML &lt;head&gt;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font-family in CSS to apply it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Polish — Rounded Corners &amp; Shadows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2377440"/>
          </a:xfrm>
          <a:prstGeom prst="roundRect">
            <a:avLst>
              <a:gd name="adj" fmla="val 3846"/>
            </a:avLst>
          </a:prstGeom>
          <a:solidFill>
            <a:srgbClr val="2D23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99339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9339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99339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86000"/>
            <a:ext cx="50657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12px;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2px 2px 8px gray;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A7BEA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55080" y="1828800"/>
            <a:ext cx="5257800" cy="384048"/>
          </a:xfrm>
          <a:prstGeom prst="roundRect">
            <a:avLst>
              <a:gd name="adj" fmla="val 23810"/>
            </a:avLst>
          </a:prstGeom>
          <a:solidFill>
            <a:srgbClr val="F4EFE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19672" y="1956816"/>
            <a:ext cx="118872" cy="118872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10"/>
          <p:cNvSpPr/>
          <p:nvPr/>
        </p:nvSpPr>
        <p:spPr>
          <a:xfrm>
            <a:off x="6720840" y="1956816"/>
            <a:ext cx="118872" cy="118872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22008" y="1956816"/>
            <a:ext cx="118872" cy="118872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9840" y="1883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01000" y="2606040"/>
            <a:ext cx="228600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4EFE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6817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details, big difference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1023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 rounds the corners of any box — try 8px to 16px for cards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box-shadow adds a soft shadow behind a box, so it looks like it's lifted off the page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Styling Images Nicely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2651760"/>
          </a:xfrm>
          <a:prstGeom prst="roundRect">
            <a:avLst>
              <a:gd name="adj" fmla="val 3448"/>
            </a:avLst>
          </a:prstGeom>
          <a:solidFill>
            <a:srgbClr val="2D23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99339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9339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99339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86000"/>
            <a:ext cx="50657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{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100%;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200px;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object-fit: cover;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12px;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2578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A7BEA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55080" y="1828800"/>
            <a:ext cx="5257800" cy="384048"/>
          </a:xfrm>
          <a:prstGeom prst="roundRect">
            <a:avLst>
              <a:gd name="adj" fmla="val 23810"/>
            </a:avLst>
          </a:prstGeom>
          <a:solidFill>
            <a:srgbClr val="F4EFE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19672" y="1956816"/>
            <a:ext cx="118872" cy="118872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10"/>
          <p:cNvSpPr/>
          <p:nvPr/>
        </p:nvSpPr>
        <p:spPr>
          <a:xfrm>
            <a:off x="6720840" y="1956816"/>
            <a:ext cx="118872" cy="118872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22008" y="1956816"/>
            <a:ext cx="118872" cy="118872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9840" y="1883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69480" y="2514600"/>
            <a:ext cx="3291840" cy="1828800"/>
          </a:xfrm>
          <a:prstGeom prst="roundRect">
            <a:avLst>
              <a:gd name="adj" fmla="val 7500"/>
            </a:avLst>
          </a:prstGeom>
          <a:solidFill>
            <a:srgbClr val="D9C9A3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269480" y="25146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8A6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4EFE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48646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properties for photos that fit their box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2852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width: 100% fills the card, object-fit: cover crops it neatly (no stretching), border-radius rounds it to match your cards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Responsive Design Matters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E7E8D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2029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everyone uses a big screen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 browse the web only on a phone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3-column layout can feel too tight on a small screen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means our page adjusts to fit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F4EFE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0" y="2029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450592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screen: 3 columns side by side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screen: 1 column, stacked, still easy to read and tap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HTML, same CSS file — just a few extra rules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Queries — CSS for Small Screens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2D23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99339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9339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99339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86000"/>
            <a:ext cx="103692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600px)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.gallery-grid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 1fr;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4EFE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47731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1937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screen is 600 pixels wide or narrower, use these rules instead”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Hover Effects &amp; Transitions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2651760"/>
          </a:xfrm>
          <a:prstGeom prst="roundRect">
            <a:avLst>
              <a:gd name="adj" fmla="val 3448"/>
            </a:avLst>
          </a:prstGeom>
          <a:solidFill>
            <a:srgbClr val="2D23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99339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9339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99339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86000"/>
            <a:ext cx="50657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{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firebrick;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0.2s;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button:hover {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darkred;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2578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A7BEA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55080" y="1828800"/>
            <a:ext cx="5257800" cy="384048"/>
          </a:xfrm>
          <a:prstGeom prst="roundRect">
            <a:avLst>
              <a:gd name="adj" fmla="val 23810"/>
            </a:avLst>
          </a:prstGeom>
          <a:solidFill>
            <a:srgbClr val="F4EFE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19672" y="1956816"/>
            <a:ext cx="118872" cy="118872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10"/>
          <p:cNvSpPr/>
          <p:nvPr/>
        </p:nvSpPr>
        <p:spPr>
          <a:xfrm>
            <a:off x="6720840" y="1956816"/>
            <a:ext cx="118872" cy="118872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22008" y="1956816"/>
            <a:ext cx="118872" cy="118872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9840" y="1883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3063240"/>
            <a:ext cx="1920240" cy="640080"/>
          </a:xfrm>
          <a:prstGeom prst="roundRect">
            <a:avLst>
              <a:gd name="adj" fmla="val 50000"/>
            </a:avLst>
          </a:prstGeom>
          <a:solidFill>
            <a:srgbClr val="B2222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32520" y="30632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281160" y="3063240"/>
            <a:ext cx="1920240" cy="64008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28116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Hover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4EFE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48646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properties, one small detail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52852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:hover changes the style only while the mouse is on top. transition makes the change smooth instead of instant.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Hero Section, Styled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74920" cy="3840480"/>
          </a:xfrm>
          <a:prstGeom prst="roundRect">
            <a:avLst>
              <a:gd name="adj" fmla="val 2381"/>
            </a:avLst>
          </a:prstGeom>
          <a:solidFill>
            <a:srgbClr val="F4EFE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2148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(Day 2)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I'm [Name]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black text, plain white background, no spacing.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074920" cy="3840480"/>
          </a:xfrm>
          <a:prstGeom prst="roundRect">
            <a:avLst>
              <a:gd name="adj" fmla="val 2381"/>
            </a:avLst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46520" y="31089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Hi, I'm [Name]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78140" y="40233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97814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me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Page, Narrow Screen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3108960" cy="4206240"/>
          </a:xfrm>
          <a:prstGeom prst="roundRect">
            <a:avLst>
              <a:gd name="adj" fmla="val 4412"/>
            </a:avLst>
          </a:prstGeom>
          <a:solidFill>
            <a:srgbClr val="F4EFE7"/>
          </a:solidFill>
          <a:ln w="12700">
            <a:solidFill>
              <a:srgbClr val="A7BE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media query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246888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A7BEAE"/>
          </a:solidFill>
          <a:ln/>
        </p:spPr>
      </p:sp>
      <p:sp>
        <p:nvSpPr>
          <p:cNvPr id="7" name="Shape 5"/>
          <p:cNvSpPr/>
          <p:nvPr/>
        </p:nvSpPr>
        <p:spPr>
          <a:xfrm>
            <a:off x="1737360" y="297180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A7BEAE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347472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4206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are squeezed too small to read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80960" y="1828800"/>
            <a:ext cx="3108960" cy="4206240"/>
          </a:xfrm>
          <a:prstGeom prst="roundRect">
            <a:avLst>
              <a:gd name="adj" fmla="val 4412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68096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media query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09560" y="2423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09560" y="30175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09560" y="36118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863840" y="4434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column, easy to read and tap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1 — FILL IN THE BLANK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the Hero Section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675120" cy="2651760"/>
          </a:xfrm>
          <a:prstGeom prst="roundRect">
            <a:avLst>
              <a:gd name="adj" fmla="val 3448"/>
            </a:avLst>
          </a:prstGeom>
          <a:solidFill>
            <a:srgbClr val="2D23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99339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9339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99339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86000"/>
            <a:ext cx="61630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</a:t>
            </a:r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</a:t>
            </a:r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</a:t>
            </a:r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 — pick the right word for each blank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98348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498348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seashell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0" y="4983480"/>
            <a:ext cx="1037844" cy="384048"/>
          </a:xfrm>
          <a:prstGeom prst="roundRect">
            <a:avLst>
              <a:gd name="adj" fmla="val 50000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645920" y="4983480"/>
            <a:ext cx="1037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80px 20px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30068" y="498348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0068" y="4983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52360" y="210312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color works here — this is just one example. Make it your own!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2 — FILL IN THE BLANK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the Gallery Cards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675120" cy="2651760"/>
          </a:xfrm>
          <a:prstGeom prst="roundRect">
            <a:avLst>
              <a:gd name="adj" fmla="val 3448"/>
            </a:avLst>
          </a:prstGeom>
          <a:solidFill>
            <a:srgbClr val="2D23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99339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9339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99339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86000"/>
            <a:ext cx="61630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white;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</a:t>
            </a:r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</a:t>
            </a:r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 — pick the right word for each blank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983480"/>
            <a:ext cx="603504" cy="384048"/>
          </a:xfrm>
          <a:prstGeom prst="roundRect">
            <a:avLst>
              <a:gd name="adj" fmla="val 50000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983480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98448" y="498348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98448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2px 2px 8px gray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52360" y="210312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box-shadow order: shadow-x, shadow-y, blur, then color.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3 — FILL IN THE BLANK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Responsive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675120" cy="3017520"/>
          </a:xfrm>
          <a:prstGeom prst="roundRect">
            <a:avLst>
              <a:gd name="adj" fmla="val 3030"/>
            </a:avLst>
          </a:prstGeom>
          <a:solidFill>
            <a:srgbClr val="2D23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99339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9339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99339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86000"/>
            <a:ext cx="616305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</a:t>
            </a:r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600px)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.gallery-grid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 </a:t>
            </a:r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 — pick the right word for each blank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349240"/>
            <a:ext cx="1037844" cy="384048"/>
          </a:xfrm>
          <a:prstGeom prst="roundRect">
            <a:avLst>
              <a:gd name="adj" fmla="val 50000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5349240"/>
            <a:ext cx="1037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2788" y="5349240"/>
            <a:ext cx="516636" cy="384048"/>
          </a:xfrm>
          <a:prstGeom prst="roundRect">
            <a:avLst>
              <a:gd name="adj" fmla="val 50000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2788" y="5349240"/>
            <a:ext cx="516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52360" y="210312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your browser window narrower to test this live.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4 — FILL IN THE BLANK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 Google Font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675120" cy="1828800"/>
          </a:xfrm>
          <a:prstGeom prst="roundRect">
            <a:avLst>
              <a:gd name="adj" fmla="val 5000"/>
            </a:avLst>
          </a:prstGeom>
          <a:solidFill>
            <a:srgbClr val="2D23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99339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9339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99339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86000"/>
            <a:ext cx="6163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href=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98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"fonts.googleapis.com/..."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rel=</a:t>
            </a:r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6675120" cy="1463040"/>
          </a:xfrm>
          <a:prstGeom prst="roundRect">
            <a:avLst>
              <a:gd name="adj" fmla="val 6250"/>
            </a:avLst>
          </a:prstGeom>
          <a:solidFill>
            <a:srgbClr val="2D232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49808" y="409651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" y="409651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7008" y="409651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389120"/>
            <a:ext cx="6163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</a:t>
            </a:r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sans-serif;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 — pick the right word for each blank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94360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59436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93392" y="5943600"/>
            <a:ext cx="1037844" cy="384048"/>
          </a:xfrm>
          <a:prstGeom prst="roundRect">
            <a:avLst>
              <a:gd name="adj" fmla="val 50000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993392" y="5943600"/>
            <a:ext cx="1037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'Poppins'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2360" y="210312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font you like from fonts.google.com — Poppins is just an example.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5 — FILL IN THE BLANK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Hover Effect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675120" cy="3017520"/>
          </a:xfrm>
          <a:prstGeom prst="roundRect">
            <a:avLst>
              <a:gd name="adj" fmla="val 3030"/>
            </a:avLst>
          </a:prstGeom>
          <a:solidFill>
            <a:srgbClr val="2D23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99339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9339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99339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86000"/>
            <a:ext cx="616305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firebrick;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0.2s;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button:</a:t>
            </a:r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darkred;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212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 — pick the right word for each blank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53212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5532120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19656" y="5532120"/>
            <a:ext cx="690372" cy="384048"/>
          </a:xfrm>
          <a:prstGeom prst="roundRect">
            <a:avLst>
              <a:gd name="adj" fmla="val 50000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9656" y="5532120"/>
            <a:ext cx="690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52360" y="210312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pure CSS — no JavaScript needed for a hover effect!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Cheat Sheet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7E8D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9933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background-color: seashell;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black;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plain color names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EFE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55080" y="19933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3774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'Poppins', sans-serif;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font-weight: bold;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line-height: 1.5;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7E8D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40507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Polish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12px;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box-shadow: 2px 2px 8px gray;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38862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EFE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55080" y="40507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44348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600px)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mobile rules here */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651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page looks finished!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making it respond when people click things, with JavaScript.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2026-08-12T08:16:37Z</dcterms:created>
  <dcterms:modified xsi:type="dcterms:W3CDTF">2026-08-12T08:16:37Z</dcterms:modified>
</cp:coreProperties>
</file>