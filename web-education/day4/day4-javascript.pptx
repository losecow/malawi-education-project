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back! Your page has structure, layout, and good design. Today we make it DO something - respond to clicks, open a menu, show a message. This is JavaScript. | TIMING: 0-10 recap | 10-30 selecting elements + events | 30-45 classList + scroll | 45-80 fill-in-the-blank practice x5 | 80-90 wrap-up, preview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see where we are. HTML and CSS build a page that sits still - it looks good, but it does not react to anything. Today, JavaScript lets the page respond when someone clicks or types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website with a menu that opens, a button that reacts, or a form that checks your input uses JavaScript. JavaScript does not build the page or style it by default - but it can change either one, after something happens, like a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make something react, we first need to select it. const btn equals saves it under a name so we can reuse it. getElementById finds the one element with that id. querySelectorAll finds every element with that class - just like the id and class selectors we used in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addEventListener has three parts. First, the element we selected. Then, the event we're waiting for, like click. Then, a function - the code that runs when that event happens. Here, clicking the button shows an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full loop. A user clicks something. JavaScript, which has been listening, notices. A function runs. And the page updates. This one pattern - listen, then react - powers almost every interactive feature you will ever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classList is how JavaScript talks to CSS. CSS already knows how to style .open. JavaScript just decides WHEN to add that class. add turns it on, remove turns it off, and toggle switches between the two - perfect for a menu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the same button, before and after JavaScript. Before, clicking does nothing at all. After adding one addEventListener, clicking shows a message. Same HTML and CSS the whole time - JavaScript is the only thing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very useful trick: console.log. It does not change the page - it just prints a message you can see. Press F12 to open DevTools, click Console, and if your message shows up when you click, you know that part of your code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related but different ideas. scroll is an event - it fires by itself whenever someone scrolls, so we can listen for it. scrollTo is an action - our own code moves the page. We'll use both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write our first working interaction. Select the hero button, listen for a click, and show an alert. Try filling in the three blanks.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let's make the mobile menu button actually work. When it's clicked, toggle the open class on the nav menu. This connects to the CSS we already wrote back on Day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one selects every card, and adds a click listener to each. When you click one, it first removes "selected" from all cards, then adds it to just the one you clicked - so only one card is ever highlighted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Last practice - a Read More button. Clicking it toggles a visible class on a hidden paragraph. This is a great small feature to add to your own About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Last one - a back to top button. We listen for the scroll event to show the button once someone scrolls down, and use scrollTo when it's clicked to jump back to the top. This uses everything from today: scroll, click, classList, and scrollTo.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Here's today's cheat sheet - selecting elements, listening for clicks, scroll and scrollTo, classList, and how to debug with console.log. Keep this open while you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Fantastic work today! Your page now responds to clicks - buttons work, menus open, cards highlight. Tomorrow is the big one: you'll use everything from this week to build your own page from scratch.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FFFFFF">
              <a:alpha val="10000"/>
            </a:srgbClr>
          </a:solidFill>
          <a:ln/>
        </p:spPr>
        <p:txBody>
          <a:bodyPr/>
          <a:p/>
        </p:txBody>
      </p:sp>
      <p:sp>
        <p:nvSpPr>
          <p:cNvPr id="3" name="Shape 1"/>
          <p:cNvSpPr/>
          <p:nvPr/>
        </p:nvSpPr>
        <p:spPr>
          <a:xfrm>
            <a:off x="548640" y="548640"/>
            <a:ext cx="1463040" cy="1463040"/>
          </a:xfrm>
          <a:prstGeom prst="ellipse">
            <a:avLst/>
          </a:prstGeom>
          <a:solidFill>
            <a:srgbClr val="FFFFFF">
              <a:alpha val="12000"/>
            </a:srgbClr>
          </a:solidFill>
          <a:ln/>
        </p:spPr>
        <p:txBody>
          <a:bodyPr/>
          <a:p/>
        </p:txBody>
      </p:sp>
      <p:sp>
        <p:nvSpPr>
          <p:cNvPr id="4" name="Text 2"/>
          <p:cNvSpPr/>
          <p:nvPr/>
        </p:nvSpPr>
        <p:spPr>
          <a:xfrm>
            <a:off x="548640" y="2286000"/>
            <a:ext cx="8229600" cy="365760"/>
          </a:xfrm>
          <a:prstGeom prst="rect">
            <a:avLst/>
          </a:prstGeom>
          <a:noFill/>
          <a:ln/>
        </p:spPr>
        <p:txBody>
          <a:bodyPr wrap="square" lIns="0" tIns="0" rIns="0" bIns="0" rtlCol="0" anchor="ctr"/>
          <a:lstStyle/>
          <a:p>
            <a:pPr indent="0" marL="0">
              <a:buNone/>
            </a:pPr>
            <a:r>
              <a:rPr lang="en-US" sz="1700" b="1" spc="100" kern="0" dirty="0">
                <a:solidFill>
                  <a:srgbClr val="E7E8D1"/>
                </a:solidFill>
                <a:latin typeface="Calibri" pitchFamily="34" charset="0"/>
                <a:ea typeface="Calibri" pitchFamily="34" charset="-122"/>
                <a:cs typeface="Calibri" pitchFamily="34" charset="-120"/>
              </a:rPr>
              <a:t>PAF &amp; CGF YOUTH PROGRAM  ·  WEBSITE BASICS</a:t>
            </a:r>
            <a:endParaRPr lang="en-US" sz="1300" dirty="0"/>
          </a:p>
        </p:txBody>
      </p:sp>
      <p:sp>
        <p:nvSpPr>
          <p:cNvPr id="5" name="Text 3"/>
          <p:cNvSpPr/>
          <p:nvPr/>
        </p:nvSpPr>
        <p:spPr>
          <a:xfrm>
            <a:off x="548640" y="2651760"/>
            <a:ext cx="3657600" cy="548640"/>
          </a:xfrm>
          <a:prstGeom prst="rect">
            <a:avLst/>
          </a:prstGeom>
          <a:noFill/>
          <a:ln/>
        </p:spPr>
        <p:txBody>
          <a:bodyPr wrap="square" lIns="0" tIns="0" rIns="0" bIns="0" rtlCol="0" anchor="ctr"/>
          <a:lstStyle/>
          <a:p>
            <a:pPr indent="0" marL="0">
              <a:buNone/>
            </a:pPr>
            <a:r>
              <a:rPr lang="en-US" sz="2300" b="1" dirty="0">
                <a:solidFill>
                  <a:srgbClr val="E7E8D1"/>
                </a:solidFill>
                <a:latin typeface="Cambria" pitchFamily="34" charset="0"/>
                <a:ea typeface="Cambria" pitchFamily="34" charset="-122"/>
                <a:cs typeface="Cambria" pitchFamily="34" charset="-120"/>
              </a:rPr>
              <a:t>DAY 4 · 90 MIN</a:t>
            </a:r>
            <a:endParaRPr lang="en-US" sz="2000" dirty="0"/>
          </a:p>
        </p:txBody>
      </p:sp>
      <p:sp>
        <p:nvSpPr>
          <p:cNvPr id="6" name="Text 4"/>
          <p:cNvSpPr/>
          <p:nvPr/>
        </p:nvSpPr>
        <p:spPr>
          <a:xfrm>
            <a:off x="548640" y="3108960"/>
            <a:ext cx="1051560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JavaScript</a:t>
            </a:r>
            <a:endParaRPr lang="en-US" sz="4000" dirty="0"/>
          </a:p>
          <a:p>
            <a:pPr indent="0" marL="0">
              <a:buNone/>
            </a:pPr>
            <a:r>
              <a:rPr lang="en-US" sz="4200" b="1" dirty="0">
                <a:solidFill>
                  <a:srgbClr val="FFFFFF"/>
                </a:solidFill>
                <a:latin typeface="Cambria" pitchFamily="34" charset="0"/>
                <a:ea typeface="Cambria" pitchFamily="34" charset="-122"/>
                <a:cs typeface="Cambria" pitchFamily="34" charset="-120"/>
              </a:rPr>
              <a:t>Make It Interactive</a:t>
            </a:r>
            <a:endParaRPr lang="en-US" sz="4000" dirty="0"/>
          </a:p>
        </p:txBody>
      </p:sp>
      <p:sp>
        <p:nvSpPr>
          <p:cNvPr id="7" name="Text 5"/>
          <p:cNvSpPr/>
          <p:nvPr/>
        </p:nvSpPr>
        <p:spPr>
          <a:xfrm>
            <a:off x="548640" y="4343400"/>
            <a:ext cx="9601200" cy="731520"/>
          </a:xfrm>
          <a:prstGeom prst="rect">
            <a:avLst/>
          </a:prstGeom>
          <a:noFill/>
          <a:ln/>
        </p:spPr>
        <p:txBody>
          <a:bodyPr wrap="square" lIns="0" tIns="0" rIns="0" bIns="0" rtlCol="0" anchor="ctr"/>
          <a:lstStyle/>
          <a:p>
            <a:pPr indent="0" marL="0">
              <a:buNone/>
            </a:pPr>
            <a:r>
              <a:rPr lang="en-US" sz="2000" dirty="0">
                <a:solidFill>
                  <a:srgbClr val="E7E8D1"/>
                </a:solidFill>
                <a:latin typeface="Calibri" pitchFamily="34" charset="0"/>
                <a:ea typeface="Calibri" pitchFamily="34" charset="-122"/>
                <a:cs typeface="Calibri" pitchFamily="34" charset="-120"/>
              </a:rPr>
              <a:t>Make your page respond when someone clicks something.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What Does JavaScript Add?</a:t>
            </a:r>
            <a:endParaRPr lang="en-US" sz="2700" dirty="0"/>
          </a:p>
        </p:txBody>
      </p:sp>
      <p:sp>
        <p:nvSpPr>
          <p:cNvPr id="4" name="Shape 2"/>
          <p:cNvSpPr/>
          <p:nvPr/>
        </p:nvSpPr>
        <p:spPr>
          <a:xfrm>
            <a:off x="548640" y="1920240"/>
            <a:ext cx="548640" cy="548640"/>
          </a:xfrm>
          <a:prstGeom prst="ellipse">
            <a:avLst/>
          </a:prstGeom>
          <a:solidFill>
            <a:srgbClr val="A7BEAE"/>
          </a:solidFill>
          <a:ln/>
        </p:spPr>
      </p:sp>
      <p:sp>
        <p:nvSpPr>
          <p:cNvPr id="5" name="Text 3"/>
          <p:cNvSpPr/>
          <p:nvPr/>
        </p:nvSpPr>
        <p:spPr>
          <a:xfrm>
            <a:off x="548640" y="192024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280160" y="187452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Day 1-2: Structure + Layout</a:t>
            </a:r>
            <a:endParaRPr lang="en-US" sz="1500" dirty="0"/>
          </a:p>
        </p:txBody>
      </p:sp>
      <p:sp>
        <p:nvSpPr>
          <p:cNvPr id="7" name="Text 5"/>
          <p:cNvSpPr/>
          <p:nvPr/>
        </p:nvSpPr>
        <p:spPr>
          <a:xfrm>
            <a:off x="1280160" y="221284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HTML and CSS built a page that sits still and looks right.</a:t>
            </a:r>
            <a:endParaRPr lang="en-US" sz="1200" dirty="0"/>
          </a:p>
        </p:txBody>
      </p:sp>
      <p:sp>
        <p:nvSpPr>
          <p:cNvPr id="8" name="Shape 6"/>
          <p:cNvSpPr/>
          <p:nvPr/>
        </p:nvSpPr>
        <p:spPr>
          <a:xfrm>
            <a:off x="548640" y="2971800"/>
            <a:ext cx="548640" cy="548640"/>
          </a:xfrm>
          <a:prstGeom prst="ellipse">
            <a:avLst/>
          </a:prstGeom>
          <a:solidFill>
            <a:srgbClr val="A7BEAE"/>
          </a:solidFill>
          <a:ln/>
        </p:spPr>
      </p:sp>
      <p:sp>
        <p:nvSpPr>
          <p:cNvPr id="9" name="Text 7"/>
          <p:cNvSpPr/>
          <p:nvPr/>
        </p:nvSpPr>
        <p:spPr>
          <a:xfrm>
            <a:off x="548640" y="297180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280160" y="292608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Day 3: Design</a:t>
            </a:r>
            <a:endParaRPr lang="en-US" sz="1500" dirty="0"/>
          </a:p>
        </p:txBody>
      </p:sp>
      <p:sp>
        <p:nvSpPr>
          <p:cNvPr id="11" name="Text 9"/>
          <p:cNvSpPr/>
          <p:nvPr/>
        </p:nvSpPr>
        <p:spPr>
          <a:xfrm>
            <a:off x="1280160" y="326440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Color and fonts made it look finished.</a:t>
            </a:r>
            <a:endParaRPr lang="en-US" sz="1200" dirty="0"/>
          </a:p>
        </p:txBody>
      </p:sp>
      <p:sp>
        <p:nvSpPr>
          <p:cNvPr id="12" name="Shape 10"/>
          <p:cNvSpPr/>
          <p:nvPr/>
        </p:nvSpPr>
        <p:spPr>
          <a:xfrm>
            <a:off x="548640" y="4023360"/>
            <a:ext cx="548640" cy="548640"/>
          </a:xfrm>
          <a:prstGeom prst="ellipse">
            <a:avLst/>
          </a:prstGeom>
          <a:solidFill>
            <a:srgbClr val="A7BEAE"/>
          </a:solidFill>
          <a:ln/>
        </p:spPr>
      </p:sp>
      <p:sp>
        <p:nvSpPr>
          <p:cNvPr id="13" name="Text 11"/>
          <p:cNvSpPr/>
          <p:nvPr/>
        </p:nvSpPr>
        <p:spPr>
          <a:xfrm>
            <a:off x="548640" y="4023360"/>
            <a:ext cx="548640"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280160" y="3977640"/>
            <a:ext cx="10149840" cy="365760"/>
          </a:xfrm>
          <a:prstGeom prst="rect">
            <a:avLst/>
          </a:prstGeom>
          <a:noFill/>
          <a:ln/>
        </p:spPr>
        <p:txBody>
          <a:bodyPr wrap="square" lIns="0" tIns="0" rIns="0" bIns="0" rtlCol="0" anchor="ctr"/>
          <a:lstStyle/>
          <a:p>
            <a:pPr indent="0" marL="0">
              <a:buNone/>
            </a:pPr>
            <a:r>
              <a:rPr lang="en-US" sz="1900" b="1" dirty="0">
                <a:solidFill>
                  <a:srgbClr val="2D2D2D"/>
                </a:solidFill>
                <a:latin typeface="Calibri" pitchFamily="34" charset="0"/>
                <a:ea typeface="Calibri" pitchFamily="34" charset="-122"/>
                <a:cs typeface="Calibri" pitchFamily="34" charset="-120"/>
              </a:rPr>
              <a:t>Day 4: Interaction</a:t>
            </a:r>
            <a:endParaRPr lang="en-US" sz="1500" dirty="0"/>
          </a:p>
        </p:txBody>
      </p:sp>
      <p:sp>
        <p:nvSpPr>
          <p:cNvPr id="15" name="Text 13"/>
          <p:cNvSpPr/>
          <p:nvPr/>
        </p:nvSpPr>
        <p:spPr>
          <a:xfrm>
            <a:off x="1280160" y="4315968"/>
            <a:ext cx="10149840" cy="594360"/>
          </a:xfrm>
          <a:prstGeom prst="rect">
            <a:avLst/>
          </a:prstGeom>
          <a:noFill/>
          <a:ln/>
        </p:spPr>
        <p:txBody>
          <a:bodyPr wrap="square" lIns="0" tIns="0" rIns="0" bIns="0" rtlCol="0" anchor="ctr"/>
          <a:lstStyle/>
          <a:p>
            <a:pPr indent="0" marL="0">
              <a:buNone/>
            </a:pPr>
            <a:r>
              <a:rPr lang="en-US" sz="1700" dirty="0">
                <a:solidFill>
                  <a:srgbClr val="555555"/>
                </a:solidFill>
                <a:latin typeface="Calibri" pitchFamily="34" charset="0"/>
                <a:ea typeface="Calibri" pitchFamily="34" charset="-122"/>
                <a:cs typeface="Calibri" pitchFamily="34" charset="-120"/>
              </a:rPr>
              <a:t>Now the page can respond — click a button, open a menu, show new content.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CONTEXT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Where &amp; When Do We Use JavaScript?</a:t>
            </a:r>
            <a:endParaRPr lang="en-US" sz="2700" dirty="0"/>
          </a:p>
        </p:txBody>
      </p:sp>
      <p:sp>
        <p:nvSpPr>
          <p:cNvPr id="4" name="Shape 2"/>
          <p:cNvSpPr/>
          <p:nvPr/>
        </p:nvSpPr>
        <p:spPr>
          <a:xfrm>
            <a:off x="548640" y="1828800"/>
            <a:ext cx="5303520" cy="4023360"/>
          </a:xfrm>
          <a:prstGeom prst="roundRect">
            <a:avLst>
              <a:gd name="adj" fmla="val 2273"/>
            </a:avLst>
          </a:prstGeom>
          <a:solidFill>
            <a:srgbClr val="E7E8D1"/>
          </a:solidFill>
          <a:ln/>
        </p:spPr>
        <p:txBody>
          <a:bodyPr/>
          <a:p/>
        </p:txBody>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Every interactive website uses it</a:t>
            </a:r>
            <a:endParaRPr lang="en-US" sz="1500" dirty="0"/>
          </a:p>
        </p:txBody>
      </p:sp>
      <p:sp>
        <p:nvSpPr>
          <p:cNvPr id="6" name="Text 4"/>
          <p:cNvSpPr/>
          <p:nvPr/>
        </p:nvSpPr>
        <p:spPr>
          <a:xfrm>
            <a:off x="822960" y="2450592"/>
            <a:ext cx="475488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menu that opens when you tap it</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“like” button that changes color</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 form that checks your answer before submitting</a:t>
            </a:r>
            <a:endParaRPr lang="en-US" sz="1200" dirty="0"/>
          </a:p>
        </p:txBody>
      </p:sp>
      <p:sp>
        <p:nvSpPr>
          <p:cNvPr id="7" name="Shape 5"/>
          <p:cNvSpPr/>
          <p:nvPr/>
        </p:nvSpPr>
        <p:spPr>
          <a:xfrm>
            <a:off x="6126480" y="1828800"/>
            <a:ext cx="5486400" cy="4023360"/>
          </a:xfrm>
          <a:prstGeom prst="roundRect">
            <a:avLst>
              <a:gd name="adj" fmla="val 2273"/>
            </a:avLst>
          </a:prstGeom>
          <a:solidFill>
            <a:srgbClr val="F4EFE7"/>
          </a:solidFill>
          <a:ln/>
        </p:spPr>
        <p:txBody>
          <a:bodyPr/>
          <a:p/>
        </p:txBody>
      </p:sp>
      <p:sp>
        <p:nvSpPr>
          <p:cNvPr id="8" name="Text 6"/>
          <p:cNvSpPr/>
          <p:nvPr/>
        </p:nvSpPr>
        <p:spPr>
          <a:xfrm>
            <a:off x="6400800" y="2029968"/>
            <a:ext cx="49377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What JS can't do</a:t>
            </a:r>
            <a:endParaRPr lang="en-US" sz="1500" dirty="0"/>
          </a:p>
        </p:txBody>
      </p:sp>
      <p:sp>
        <p:nvSpPr>
          <p:cNvPr id="9" name="Text 7"/>
          <p:cNvSpPr/>
          <p:nvPr/>
        </p:nvSpPr>
        <p:spPr>
          <a:xfrm>
            <a:off x="6400800" y="2450592"/>
            <a:ext cx="4937760" cy="320040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It can't change what a page IS (that's HTML)</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It can't change how a page LOOKS by default (that's CSS)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It CAN change both of those, but only after something happens — like a click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Selecting an Element on the Page</a:t>
            </a:r>
            <a:endParaRPr lang="en-US" sz="2700" dirty="0"/>
          </a:p>
        </p:txBody>
      </p:sp>
      <p:sp>
        <p:nvSpPr>
          <p:cNvPr id="4" name="Shape 2"/>
          <p:cNvSpPr/>
          <p:nvPr/>
        </p:nvSpPr>
        <p:spPr>
          <a:xfrm>
            <a:off x="548640" y="1828800"/>
            <a:ext cx="5577840" cy="2377440"/>
          </a:xfrm>
          <a:prstGeom prst="roundRect">
            <a:avLst>
              <a:gd name="adj" fmla="val 3846"/>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783080"/>
          </a:xfrm>
          <a:prstGeom prst="rect">
            <a:avLst/>
          </a:prstGeom>
          <a:noFill/>
          <a:ln/>
        </p:spPr>
        <p:txBody>
          <a:bodyPr wrap="square" lIns="0" tIns="0" rIns="0" bIns="0" rtlCol="0" anchor="ctr"/>
          <a:lstStyle/>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const btn = document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.getElementById(</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"hello-btn"</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const cards = document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.querySelectorAll(</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".card"</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355080" y="1828800"/>
            <a:ext cx="5257800" cy="3840480"/>
          </a:xfrm>
          <a:prstGeom prst="roundRect">
            <a:avLst>
              <a:gd name="adj" fmla="val 2381"/>
            </a:avLst>
          </a:prstGeom>
          <a:solidFill>
            <a:srgbClr val="E7E8D1"/>
          </a:solidFill>
          <a:ln/>
        </p:spPr>
        <p:txBody>
          <a:bodyPr/>
          <a:p/>
        </p:txBody>
      </p:sp>
      <p:sp>
        <p:nvSpPr>
          <p:cNvPr id="10" name="Text 8"/>
          <p:cNvSpPr/>
          <p:nvPr/>
        </p:nvSpPr>
        <p:spPr>
          <a:xfrm>
            <a:off x="6629400" y="2029968"/>
            <a:ext cx="47091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Two ways to find an element</a:t>
            </a:r>
            <a:endParaRPr lang="en-US" sz="1500" dirty="0"/>
          </a:p>
        </p:txBody>
      </p:sp>
      <p:sp>
        <p:nvSpPr>
          <p:cNvPr id="11" name="Text 9"/>
          <p:cNvSpPr/>
          <p:nvPr/>
        </p:nvSpPr>
        <p:spPr>
          <a:xfrm>
            <a:off x="6629400" y="2450592"/>
            <a:ext cx="4709160" cy="301752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const btn = ... saves the element under a name, so we can use it again</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getElementById("name") — finds the ONE element with that id</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querySelectorAll(".name") — finds EVERY element with that class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Listening for an Event</a:t>
            </a:r>
            <a:endParaRPr lang="en-US" sz="2700" dirty="0"/>
          </a:p>
        </p:txBody>
      </p:sp>
      <p:sp>
        <p:nvSpPr>
          <p:cNvPr id="4" name="Shape 2"/>
          <p:cNvSpPr/>
          <p:nvPr/>
        </p:nvSpPr>
        <p:spPr>
          <a:xfrm>
            <a:off x="548640" y="1828800"/>
            <a:ext cx="5577840" cy="2651760"/>
          </a:xfrm>
          <a:prstGeom prst="roundRect">
            <a:avLst>
              <a:gd name="adj" fmla="val 3448"/>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2057400"/>
          </a:xfrm>
          <a:prstGeom prst="rect">
            <a:avLst/>
          </a:prstGeom>
          <a:noFill/>
          <a:ln/>
        </p:spPr>
        <p:txBody>
          <a:bodyPr wrap="square" lIns="0" tIns="0" rIns="0" bIns="0" rtlCol="0" anchor="ctr"/>
          <a:lstStyle/>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btn.addEventListener(</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function ()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alert(</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"Hello!"</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355080" y="1828800"/>
            <a:ext cx="5257800" cy="3840480"/>
          </a:xfrm>
          <a:prstGeom prst="roundRect">
            <a:avLst>
              <a:gd name="adj" fmla="val 2381"/>
            </a:avLst>
          </a:prstGeom>
          <a:solidFill>
            <a:srgbClr val="E7E8D1"/>
          </a:solidFill>
          <a:ln/>
        </p:spPr>
        <p:txBody>
          <a:bodyPr/>
          <a:p/>
        </p:txBody>
      </p:sp>
      <p:sp>
        <p:nvSpPr>
          <p:cNvPr id="10" name="Text 8"/>
          <p:cNvSpPr/>
          <p:nvPr/>
        </p:nvSpPr>
        <p:spPr>
          <a:xfrm>
            <a:off x="6629400" y="2029968"/>
            <a:ext cx="47091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3 parts</a:t>
            </a:r>
            <a:endParaRPr lang="en-US" sz="1500" dirty="0"/>
          </a:p>
        </p:txBody>
      </p:sp>
      <p:sp>
        <p:nvSpPr>
          <p:cNvPr id="11" name="Text 9"/>
          <p:cNvSpPr/>
          <p:nvPr/>
        </p:nvSpPr>
        <p:spPr>
          <a:xfrm>
            <a:off x="6629400" y="2450592"/>
            <a:ext cx="4709160" cy="301752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element — btn (what we selected)</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event — "click" (what we're waiting for)</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The function — the code that runs when it happens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The Click-to-Change Loop</a:t>
            </a:r>
            <a:endParaRPr lang="en-US" sz="2700" dirty="0"/>
          </a:p>
        </p:txBody>
      </p:sp>
      <p:sp>
        <p:nvSpPr>
          <p:cNvPr id="4" name="Shape 2"/>
          <p:cNvSpPr/>
          <p:nvPr/>
        </p:nvSpPr>
        <p:spPr>
          <a:xfrm>
            <a:off x="548640" y="2103120"/>
            <a:ext cx="2286000" cy="1371600"/>
          </a:xfrm>
          <a:prstGeom prst="roundRect">
            <a:avLst>
              <a:gd name="adj" fmla="val 6667"/>
            </a:avLst>
          </a:prstGeom>
          <a:solidFill>
            <a:srgbClr val="E7E8D1"/>
          </a:solidFill>
          <a:ln/>
        </p:spPr>
        <p:txBody>
          <a:bodyPr/>
          <a:p/>
        </p:txBody>
      </p:sp>
      <p:sp>
        <p:nvSpPr>
          <p:cNvPr id="5" name="Text 3"/>
          <p:cNvSpPr/>
          <p:nvPr/>
        </p:nvSpPr>
        <p:spPr>
          <a:xfrm>
            <a:off x="685800" y="2103120"/>
            <a:ext cx="2011680" cy="1371600"/>
          </a:xfrm>
          <a:prstGeom prst="rect">
            <a:avLst/>
          </a:prstGeom>
          <a:noFill/>
          <a:ln/>
        </p:spPr>
        <p:txBody>
          <a:bodyPr wrap="square" lIns="0" tIns="0" rIns="0" bIns="0" rtlCol="0" anchor="ctr"/>
          <a:lstStyle/>
          <a:p>
            <a:pPr algn="ctr" indent="0" marL="0">
              <a:buNone/>
            </a:pPr>
            <a:r>
              <a:rPr lang="en-US" sz="1700" b="1" dirty="0">
                <a:solidFill>
                  <a:srgbClr val="3A2B26"/>
                </a:solidFill>
                <a:latin typeface="Calibri" pitchFamily="34" charset="0"/>
                <a:ea typeface="Calibri" pitchFamily="34" charset="-122"/>
                <a:cs typeface="Calibri" pitchFamily="34" charset="-120"/>
              </a:rPr>
              <a:t>1. User clicks</a:t>
            </a:r>
            <a:endParaRPr lang="en-US" sz="1300" dirty="0"/>
          </a:p>
          <a:p>
            <a:pPr algn="ctr" indent="0" marL="0">
              <a:buNone/>
            </a:pPr>
            <a:r>
              <a:rPr lang="en-US" sz="1700" b="1" dirty="0">
                <a:solidFill>
                  <a:srgbClr val="3A2B26"/>
                </a:solidFill>
                <a:latin typeface="Calibri" pitchFamily="34" charset="0"/>
                <a:ea typeface="Calibri" pitchFamily="34" charset="-122"/>
                <a:cs typeface="Calibri" pitchFamily="34" charset="-120"/>
              </a:rPr>
              <a:t>a button</a:t>
            </a:r>
            <a:endParaRPr lang="en-US" sz="1300" dirty="0"/>
          </a:p>
        </p:txBody>
      </p:sp>
      <p:sp>
        <p:nvSpPr>
          <p:cNvPr id="6" name="Text 4"/>
          <p:cNvSpPr/>
          <p:nvPr/>
        </p:nvSpPr>
        <p:spPr>
          <a:xfrm>
            <a:off x="28346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291840" y="2103120"/>
            <a:ext cx="2286000" cy="1371600"/>
          </a:xfrm>
          <a:prstGeom prst="roundRect">
            <a:avLst>
              <a:gd name="adj" fmla="val 6667"/>
            </a:avLst>
          </a:prstGeom>
          <a:solidFill>
            <a:srgbClr val="F4EFE7"/>
          </a:solidFill>
          <a:ln/>
        </p:spPr>
        <p:txBody>
          <a:bodyPr/>
          <a:p/>
        </p:txBody>
      </p:sp>
      <p:sp>
        <p:nvSpPr>
          <p:cNvPr id="8" name="Text 6"/>
          <p:cNvSpPr/>
          <p:nvPr/>
        </p:nvSpPr>
        <p:spPr>
          <a:xfrm>
            <a:off x="3429000" y="2103120"/>
            <a:ext cx="2011680" cy="1371600"/>
          </a:xfrm>
          <a:prstGeom prst="rect">
            <a:avLst/>
          </a:prstGeom>
          <a:noFill/>
          <a:ln/>
        </p:spPr>
        <p:txBody>
          <a:bodyPr wrap="square" lIns="0" tIns="0" rIns="0" bIns="0" rtlCol="0" anchor="ctr"/>
          <a:lstStyle/>
          <a:p>
            <a:pPr algn="ctr" indent="0" marL="0">
              <a:buNone/>
            </a:pPr>
            <a:r>
              <a:rPr lang="en-US" sz="1700" b="1" dirty="0">
                <a:solidFill>
                  <a:srgbClr val="3A2B26"/>
                </a:solidFill>
                <a:latin typeface="Calibri" pitchFamily="34" charset="0"/>
                <a:ea typeface="Calibri" pitchFamily="34" charset="-122"/>
                <a:cs typeface="Calibri" pitchFamily="34" charset="-120"/>
              </a:rPr>
              <a:t>2. JS "listens"</a:t>
            </a:r>
            <a:endParaRPr lang="en-US" sz="1300" dirty="0"/>
          </a:p>
          <a:p>
            <a:pPr algn="ctr" indent="0" marL="0">
              <a:buNone/>
            </a:pPr>
            <a:r>
              <a:rPr lang="en-US" sz="1700" b="1" dirty="0">
                <a:solidFill>
                  <a:srgbClr val="3A2B26"/>
                </a:solidFill>
                <a:latin typeface="Calibri" pitchFamily="34" charset="0"/>
                <a:ea typeface="Calibri" pitchFamily="34" charset="-122"/>
                <a:cs typeface="Calibri" pitchFamily="34" charset="-120"/>
              </a:rPr>
              <a:t>for the click</a:t>
            </a:r>
            <a:endParaRPr lang="en-US" sz="1300" dirty="0"/>
          </a:p>
        </p:txBody>
      </p:sp>
      <p:sp>
        <p:nvSpPr>
          <p:cNvPr id="9" name="Text 7"/>
          <p:cNvSpPr/>
          <p:nvPr/>
        </p:nvSpPr>
        <p:spPr>
          <a:xfrm>
            <a:off x="55778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6035040" y="2103120"/>
            <a:ext cx="2286000" cy="1371600"/>
          </a:xfrm>
          <a:prstGeom prst="roundRect">
            <a:avLst>
              <a:gd name="adj" fmla="val 6667"/>
            </a:avLst>
          </a:prstGeom>
          <a:solidFill>
            <a:srgbClr val="E7E8D1"/>
          </a:solidFill>
          <a:ln/>
        </p:spPr>
        <p:txBody>
          <a:bodyPr/>
          <a:p/>
        </p:txBody>
      </p:sp>
      <p:sp>
        <p:nvSpPr>
          <p:cNvPr id="11" name="Text 9"/>
          <p:cNvSpPr/>
          <p:nvPr/>
        </p:nvSpPr>
        <p:spPr>
          <a:xfrm>
            <a:off x="6172200" y="2103120"/>
            <a:ext cx="2011680" cy="1371600"/>
          </a:xfrm>
          <a:prstGeom prst="rect">
            <a:avLst/>
          </a:prstGeom>
          <a:noFill/>
          <a:ln/>
        </p:spPr>
        <p:txBody>
          <a:bodyPr wrap="square" lIns="0" tIns="0" rIns="0" bIns="0" rtlCol="0" anchor="ctr"/>
          <a:lstStyle/>
          <a:p>
            <a:pPr algn="ctr" indent="0" marL="0">
              <a:buNone/>
            </a:pPr>
            <a:r>
              <a:rPr lang="en-US" sz="1700" b="1" dirty="0">
                <a:solidFill>
                  <a:srgbClr val="3A2B26"/>
                </a:solidFill>
                <a:latin typeface="Calibri" pitchFamily="34" charset="0"/>
                <a:ea typeface="Calibri" pitchFamily="34" charset="-122"/>
                <a:cs typeface="Calibri" pitchFamily="34" charset="-120"/>
              </a:rPr>
              <a:t>3. A function</a:t>
            </a:r>
            <a:endParaRPr lang="en-US" sz="1300" dirty="0"/>
          </a:p>
          <a:p>
            <a:pPr algn="ctr" indent="0" marL="0">
              <a:buNone/>
            </a:pPr>
            <a:r>
              <a:rPr lang="en-US" sz="1700" b="1" dirty="0">
                <a:solidFill>
                  <a:srgbClr val="3A2B26"/>
                </a:solidFill>
                <a:latin typeface="Calibri" pitchFamily="34" charset="0"/>
                <a:ea typeface="Calibri" pitchFamily="34" charset="-122"/>
                <a:cs typeface="Calibri" pitchFamily="34" charset="-120"/>
              </a:rPr>
              <a:t>runs</a:t>
            </a:r>
            <a:endParaRPr lang="en-US" sz="1300" dirty="0"/>
          </a:p>
        </p:txBody>
      </p:sp>
      <p:sp>
        <p:nvSpPr>
          <p:cNvPr id="12" name="Text 10"/>
          <p:cNvSpPr/>
          <p:nvPr/>
        </p:nvSpPr>
        <p:spPr>
          <a:xfrm>
            <a:off x="8321040" y="2103120"/>
            <a:ext cx="457200" cy="1371600"/>
          </a:xfrm>
          <a:prstGeom prst="rect">
            <a:avLst/>
          </a:prstGeom>
          <a:noFill/>
          <a:ln/>
        </p:spPr>
        <p:txBody>
          <a:bodyPr wrap="square" lIns="0" tIns="0" rIns="0" bIns="0" rtlCol="0" anchor="ctr"/>
          <a:lstStyle/>
          <a:p>
            <a:pPr algn="ctr" indent="0" marL="0">
              <a:buNone/>
            </a:pPr>
            <a:r>
              <a:rPr lang="en-US" sz="2200" b="1" dirty="0">
                <a:solidFill>
                  <a:srgbClr val="B85042"/>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8778240" y="2103120"/>
            <a:ext cx="2286000" cy="1371600"/>
          </a:xfrm>
          <a:prstGeom prst="roundRect">
            <a:avLst>
              <a:gd name="adj" fmla="val 6667"/>
            </a:avLst>
          </a:prstGeom>
          <a:solidFill>
            <a:srgbClr val="F4EFE7"/>
          </a:solidFill>
          <a:ln/>
        </p:spPr>
        <p:txBody>
          <a:bodyPr/>
          <a:p/>
        </p:txBody>
      </p:sp>
      <p:sp>
        <p:nvSpPr>
          <p:cNvPr id="14" name="Text 12"/>
          <p:cNvSpPr/>
          <p:nvPr/>
        </p:nvSpPr>
        <p:spPr>
          <a:xfrm>
            <a:off x="8915400" y="2103120"/>
            <a:ext cx="2011680" cy="1371600"/>
          </a:xfrm>
          <a:prstGeom prst="rect">
            <a:avLst/>
          </a:prstGeom>
          <a:noFill/>
          <a:ln/>
        </p:spPr>
        <p:txBody>
          <a:bodyPr wrap="square" lIns="0" tIns="0" rIns="0" bIns="0" rtlCol="0" anchor="ctr"/>
          <a:lstStyle/>
          <a:p>
            <a:pPr algn="ctr" indent="0" marL="0">
              <a:buNone/>
            </a:pPr>
            <a:r>
              <a:rPr lang="en-US" sz="1700" b="1" dirty="0">
                <a:solidFill>
                  <a:srgbClr val="3A2B26"/>
                </a:solidFill>
                <a:latin typeface="Calibri" pitchFamily="34" charset="0"/>
                <a:ea typeface="Calibri" pitchFamily="34" charset="-122"/>
                <a:cs typeface="Calibri" pitchFamily="34" charset="-120"/>
              </a:rPr>
              <a:t>4. The page</a:t>
            </a:r>
            <a:endParaRPr lang="en-US" sz="1300" dirty="0"/>
          </a:p>
          <a:p>
            <a:pPr algn="ctr" indent="0" marL="0">
              <a:buNone/>
            </a:pPr>
            <a:r>
              <a:rPr lang="en-US" sz="1700" b="1" dirty="0">
                <a:solidFill>
                  <a:srgbClr val="3A2B26"/>
                </a:solidFill>
                <a:latin typeface="Calibri" pitchFamily="34" charset="0"/>
                <a:ea typeface="Calibri" pitchFamily="34" charset="-122"/>
                <a:cs typeface="Calibri" pitchFamily="34" charset="-120"/>
              </a:rPr>
              <a:t>updates</a:t>
            </a:r>
            <a:endParaRPr lang="en-US" sz="1300" dirty="0"/>
          </a:p>
        </p:txBody>
      </p:sp>
      <p:sp>
        <p:nvSpPr>
          <p:cNvPr id="15" name="Text 13"/>
          <p:cNvSpPr/>
          <p:nvPr/>
        </p:nvSpPr>
        <p:spPr>
          <a:xfrm>
            <a:off x="548640" y="3931920"/>
            <a:ext cx="10515600" cy="548640"/>
          </a:xfrm>
          <a:prstGeom prst="rect">
            <a:avLst/>
          </a:prstGeom>
          <a:noFill/>
          <a:ln/>
        </p:spPr>
        <p:txBody>
          <a:bodyPr wrap="square" lIns="0" tIns="0" rIns="0" bIns="0"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This one pattern powers almost every interactive feature you will ever build.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classList — Turning a Style On and Off</a:t>
            </a:r>
            <a:endParaRPr lang="en-US" sz="2700" dirty="0"/>
          </a:p>
        </p:txBody>
      </p:sp>
      <p:sp>
        <p:nvSpPr>
          <p:cNvPr id="4" name="Shape 2"/>
          <p:cNvSpPr/>
          <p:nvPr/>
        </p:nvSpPr>
        <p:spPr>
          <a:xfrm>
            <a:off x="548640" y="1828800"/>
            <a:ext cx="5303520" cy="3931920"/>
          </a:xfrm>
          <a:prstGeom prst="roundRect">
            <a:avLst>
              <a:gd name="adj" fmla="val 2326"/>
            </a:avLst>
          </a:prstGeom>
          <a:solidFill>
            <a:srgbClr val="E7E8D1"/>
          </a:solidFill>
          <a:ln/>
        </p:spPr>
        <p:txBody>
          <a:bodyPr/>
          <a:p/>
        </p:txBody>
      </p:sp>
      <p:sp>
        <p:nvSpPr>
          <p:cNvPr id="5" name="Text 3"/>
          <p:cNvSpPr/>
          <p:nvPr/>
        </p:nvSpPr>
        <p:spPr>
          <a:xfrm>
            <a:off x="822960" y="2029968"/>
            <a:ext cx="475488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Three useful methods</a:t>
            </a:r>
            <a:endParaRPr lang="en-US" sz="1500" dirty="0"/>
          </a:p>
        </p:txBody>
      </p:sp>
      <p:sp>
        <p:nvSpPr>
          <p:cNvPr id="6" name="Text 4"/>
          <p:cNvSpPr/>
          <p:nvPr/>
        </p:nvSpPr>
        <p:spPr>
          <a:xfrm>
            <a:off x="822960" y="2450592"/>
            <a:ext cx="4754880" cy="310896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classList.add("open") — turns a class on</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classList.remove("open") — turns a class off</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classList.toggle("open") — switches it on, then off, then on...</a:t>
            </a:r>
            <a:endParaRPr lang="en-US" sz="1200" dirty="0"/>
          </a:p>
        </p:txBody>
      </p:sp>
      <p:sp>
        <p:nvSpPr>
          <p:cNvPr id="7" name="Shape 5"/>
          <p:cNvSpPr/>
          <p:nvPr/>
        </p:nvSpPr>
        <p:spPr>
          <a:xfrm>
            <a:off x="6126480" y="1828800"/>
            <a:ext cx="5486400" cy="3931920"/>
          </a:xfrm>
          <a:prstGeom prst="roundRect">
            <a:avLst>
              <a:gd name="adj" fmla="val 2326"/>
            </a:avLst>
          </a:prstGeom>
          <a:solidFill>
            <a:srgbClr val="2D2321"/>
          </a:solidFill>
          <a:ln/>
        </p:spPr>
        <p:txBody>
          <a:bodyPr/>
          <a:p/>
        </p:txBody>
      </p:sp>
      <p:sp>
        <p:nvSpPr>
          <p:cNvPr id="8" name="Shape 6"/>
          <p:cNvSpPr/>
          <p:nvPr/>
        </p:nvSpPr>
        <p:spPr>
          <a:xfrm>
            <a:off x="6327648" y="1993392"/>
            <a:ext cx="128016" cy="128016"/>
          </a:xfrm>
          <a:prstGeom prst="ellipse">
            <a:avLst/>
          </a:prstGeom>
          <a:solidFill>
            <a:srgbClr val="E06C75"/>
          </a:solidFill>
          <a:ln/>
        </p:spPr>
      </p:sp>
      <p:sp>
        <p:nvSpPr>
          <p:cNvPr id="9" name="Shape 7"/>
          <p:cNvSpPr/>
          <p:nvPr/>
        </p:nvSpPr>
        <p:spPr>
          <a:xfrm>
            <a:off x="6556248" y="1993392"/>
            <a:ext cx="128016" cy="128016"/>
          </a:xfrm>
          <a:prstGeom prst="ellipse">
            <a:avLst/>
          </a:prstGeom>
          <a:solidFill>
            <a:srgbClr val="E5C07B"/>
          </a:solidFill>
          <a:ln/>
        </p:spPr>
      </p:sp>
      <p:sp>
        <p:nvSpPr>
          <p:cNvPr id="10" name="Shape 8"/>
          <p:cNvSpPr/>
          <p:nvPr/>
        </p:nvSpPr>
        <p:spPr>
          <a:xfrm>
            <a:off x="6784848" y="1993392"/>
            <a:ext cx="128016" cy="128016"/>
          </a:xfrm>
          <a:prstGeom prst="ellipse">
            <a:avLst/>
          </a:prstGeom>
          <a:solidFill>
            <a:srgbClr val="98C379"/>
          </a:solidFill>
          <a:ln/>
        </p:spPr>
      </p:sp>
      <p:sp>
        <p:nvSpPr>
          <p:cNvPr id="11" name="Text 9"/>
          <p:cNvSpPr/>
          <p:nvPr/>
        </p:nvSpPr>
        <p:spPr>
          <a:xfrm>
            <a:off x="6382512" y="2286000"/>
            <a:ext cx="4974336" cy="3337560"/>
          </a:xfrm>
          <a:prstGeom prst="rect">
            <a:avLst/>
          </a:prstGeom>
          <a:noFill/>
          <a:ln/>
        </p:spPr>
        <p:txBody>
          <a:bodyPr wrap="square" lIns="0" tIns="0" rIns="0" bIns="0" rtlCol="0" anchor="ctr"/>
          <a:lstStyle/>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.nav-menu.open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display: flex;</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menuBtn.addEventListener(</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function ()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navMenu.classList.toggle(</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"open"</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BEFORE / AFTER</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A Button, Before and After JS</a:t>
            </a:r>
            <a:endParaRPr lang="en-US" sz="2700" dirty="0"/>
          </a:p>
        </p:txBody>
      </p:sp>
      <p:sp>
        <p:nvSpPr>
          <p:cNvPr id="4" name="Shape 2"/>
          <p:cNvSpPr/>
          <p:nvPr/>
        </p:nvSpPr>
        <p:spPr>
          <a:xfrm>
            <a:off x="548640" y="1920240"/>
            <a:ext cx="5074920" cy="3840480"/>
          </a:xfrm>
          <a:prstGeom prst="roundRect">
            <a:avLst>
              <a:gd name="adj" fmla="val 2381"/>
            </a:avLst>
          </a:prstGeom>
          <a:solidFill>
            <a:srgbClr val="F4EFE7"/>
          </a:solidFill>
          <a:ln/>
        </p:spPr>
        <p:txBody>
          <a:bodyPr/>
          <a:p/>
        </p:txBody>
      </p:sp>
      <p:sp>
        <p:nvSpPr>
          <p:cNvPr id="5" name="Text 3"/>
          <p:cNvSpPr/>
          <p:nvPr/>
        </p:nvSpPr>
        <p:spPr>
          <a:xfrm>
            <a:off x="822960" y="2148840"/>
            <a:ext cx="4526280" cy="365760"/>
          </a:xfrm>
          <a:prstGeom prst="rect">
            <a:avLst/>
          </a:prstGeom>
          <a:noFill/>
          <a:ln/>
        </p:spPr>
        <p:txBody>
          <a:bodyPr wrap="square" lIns="0" tIns="0" rIns="0" bIns="0" rtlCol="0" anchor="ctr"/>
          <a:lstStyle/>
          <a:p>
            <a:pPr indent="0" marL="0">
              <a:buNone/>
            </a:pPr>
            <a:r>
              <a:rPr lang="en-US" sz="2000" b="1" dirty="0">
                <a:solidFill>
                  <a:srgbClr val="3A2B26"/>
                </a:solidFill>
                <a:latin typeface="Cambria" pitchFamily="34" charset="0"/>
                <a:ea typeface="Cambria" pitchFamily="34" charset="-122"/>
                <a:cs typeface="Cambria" pitchFamily="34" charset="-120"/>
              </a:rPr>
              <a:t>Before</a:t>
            </a:r>
            <a:endParaRPr lang="en-US" sz="1600" dirty="0"/>
          </a:p>
        </p:txBody>
      </p:sp>
      <p:sp>
        <p:nvSpPr>
          <p:cNvPr id="6" name="Shape 4"/>
          <p:cNvSpPr/>
          <p:nvPr/>
        </p:nvSpPr>
        <p:spPr>
          <a:xfrm>
            <a:off x="822960" y="3108960"/>
            <a:ext cx="1463040" cy="502920"/>
          </a:xfrm>
          <a:prstGeom prst="roundRect">
            <a:avLst>
              <a:gd name="adj" fmla="val 50909"/>
            </a:avLst>
          </a:prstGeom>
          <a:solidFill>
            <a:srgbClr val="B85042"/>
          </a:solidFill>
          <a:ln/>
        </p:spPr>
        <p:txBody>
          <a:bodyPr/>
          <a:p/>
        </p:txBody>
      </p:sp>
      <p:sp>
        <p:nvSpPr>
          <p:cNvPr id="7" name="Text 5"/>
          <p:cNvSpPr/>
          <p:nvPr/>
        </p:nvSpPr>
        <p:spPr>
          <a:xfrm>
            <a:off x="822960" y="3108960"/>
            <a:ext cx="146304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Click me</a:t>
            </a:r>
            <a:endParaRPr lang="en-US" sz="1200" dirty="0"/>
          </a:p>
        </p:txBody>
      </p:sp>
      <p:sp>
        <p:nvSpPr>
          <p:cNvPr id="8" name="Text 6"/>
          <p:cNvSpPr/>
          <p:nvPr/>
        </p:nvSpPr>
        <p:spPr>
          <a:xfrm>
            <a:off x="822960" y="3840480"/>
            <a:ext cx="4526280" cy="457200"/>
          </a:xfrm>
          <a:prstGeom prst="rect">
            <a:avLst/>
          </a:prstGeom>
          <a:noFill/>
          <a:ln/>
        </p:spPr>
        <p:txBody>
          <a:bodyPr wrap="square" lIns="0" tIns="0" rIns="0" bIns="0" rtlCol="0" anchor="ctr"/>
          <a:lstStyle/>
          <a:p>
            <a:pPr indent="0" marL="0">
              <a:buNone/>
            </a:pPr>
            <a:r>
              <a:rPr lang="en-US" sz="1700" i="1" dirty="0">
                <a:solidFill>
                  <a:srgbClr val="888888"/>
                </a:solidFill>
                <a:latin typeface="Calibri" pitchFamily="34" charset="0"/>
                <a:ea typeface="Calibri" pitchFamily="34" charset="-122"/>
                <a:cs typeface="Calibri" pitchFamily="34" charset="-120"/>
              </a:rPr>
              <a:t>Clicking it... does nothing.</a:t>
            </a:r>
            <a:endParaRPr lang="en-US" sz="1200" dirty="0"/>
          </a:p>
        </p:txBody>
      </p:sp>
      <p:sp>
        <p:nvSpPr>
          <p:cNvPr id="9" name="Shape 7"/>
          <p:cNvSpPr/>
          <p:nvPr/>
        </p:nvSpPr>
        <p:spPr>
          <a:xfrm>
            <a:off x="6172200" y="1920240"/>
            <a:ext cx="5074920" cy="3840480"/>
          </a:xfrm>
          <a:prstGeom prst="roundRect">
            <a:avLst>
              <a:gd name="adj" fmla="val 2381"/>
            </a:avLst>
          </a:prstGeom>
          <a:solidFill>
            <a:srgbClr val="E7E8D1"/>
          </a:solidFill>
          <a:ln/>
        </p:spPr>
        <p:txBody>
          <a:bodyPr/>
          <a:p/>
        </p:txBody>
      </p:sp>
      <p:sp>
        <p:nvSpPr>
          <p:cNvPr id="10" name="Text 8"/>
          <p:cNvSpPr/>
          <p:nvPr/>
        </p:nvSpPr>
        <p:spPr>
          <a:xfrm>
            <a:off x="6446520" y="2148840"/>
            <a:ext cx="4526280" cy="365760"/>
          </a:xfrm>
          <a:prstGeom prst="rect">
            <a:avLst/>
          </a:prstGeom>
          <a:noFill/>
          <a:ln/>
        </p:spPr>
        <p:txBody>
          <a:bodyPr wrap="square" lIns="0" tIns="0" rIns="0" bIns="0" rtlCol="0" anchor="ctr"/>
          <a:lstStyle/>
          <a:p>
            <a:pPr indent="0" marL="0">
              <a:buNone/>
            </a:pPr>
            <a:r>
              <a:rPr lang="en-US" sz="2000" b="1" dirty="0">
                <a:solidFill>
                  <a:srgbClr val="3A2B26"/>
                </a:solidFill>
                <a:latin typeface="Cambria" pitchFamily="34" charset="0"/>
                <a:ea typeface="Cambria" pitchFamily="34" charset="-122"/>
                <a:cs typeface="Cambria" pitchFamily="34" charset="-120"/>
              </a:rPr>
              <a:t>After</a:t>
            </a:r>
            <a:endParaRPr lang="en-US" sz="1600" dirty="0"/>
          </a:p>
        </p:txBody>
      </p:sp>
      <p:sp>
        <p:nvSpPr>
          <p:cNvPr id="11" name="Shape 9"/>
          <p:cNvSpPr/>
          <p:nvPr/>
        </p:nvSpPr>
        <p:spPr>
          <a:xfrm>
            <a:off x="6446520" y="3108960"/>
            <a:ext cx="1463040" cy="502920"/>
          </a:xfrm>
          <a:prstGeom prst="roundRect">
            <a:avLst>
              <a:gd name="adj" fmla="val 50909"/>
            </a:avLst>
          </a:prstGeom>
          <a:solidFill>
            <a:srgbClr val="B85042"/>
          </a:solidFill>
          <a:ln/>
        </p:spPr>
        <p:txBody>
          <a:bodyPr/>
          <a:p/>
        </p:txBody>
      </p:sp>
      <p:sp>
        <p:nvSpPr>
          <p:cNvPr id="12" name="Text 10"/>
          <p:cNvSpPr/>
          <p:nvPr/>
        </p:nvSpPr>
        <p:spPr>
          <a:xfrm>
            <a:off x="6446520" y="3108960"/>
            <a:ext cx="146304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Click me</a:t>
            </a:r>
            <a:endParaRPr lang="en-US" sz="1200" dirty="0"/>
          </a:p>
        </p:txBody>
      </p:sp>
      <p:sp>
        <p:nvSpPr>
          <p:cNvPr id="13" name="Shape 11"/>
          <p:cNvSpPr/>
          <p:nvPr/>
        </p:nvSpPr>
        <p:spPr>
          <a:xfrm>
            <a:off x="6446520" y="3840480"/>
            <a:ext cx="3474720" cy="822960"/>
          </a:xfrm>
          <a:prstGeom prst="roundRect">
            <a:avLst>
              <a:gd name="adj" fmla="val 11111"/>
            </a:avLst>
          </a:prstGeom>
          <a:solidFill>
            <a:srgbClr val="FFFFFF"/>
          </a:solidFill>
          <a:ln w="12700">
            <a:solidFill>
              <a:srgbClr val="A7BEAE"/>
            </a:solidFill>
            <a:prstDash val="solid"/>
          </a:ln>
        </p:spPr>
        <p:txBody>
          <a:bodyPr/>
          <a:p/>
        </p:txBody>
      </p:sp>
      <p:sp>
        <p:nvSpPr>
          <p:cNvPr id="14" name="Text 12"/>
          <p:cNvSpPr/>
          <p:nvPr/>
        </p:nvSpPr>
        <p:spPr>
          <a:xfrm>
            <a:off x="6629400" y="3840480"/>
            <a:ext cx="3108960" cy="822960"/>
          </a:xfrm>
          <a:prstGeom prst="rect">
            <a:avLst/>
          </a:prstGeom>
          <a:noFill/>
          <a:ln/>
        </p:spPr>
        <p:txBody>
          <a:bodyPr wrap="square" lIns="0" tIns="0" rIns="0" bIns="0" rtlCol="0" anchor="ctr"/>
          <a:lstStyle/>
          <a:p>
            <a:pPr indent="0" marL="0">
              <a:buNone/>
            </a:pPr>
            <a:r>
              <a:rPr lang="en-US" sz="1700" b="1" dirty="0">
                <a:solidFill>
                  <a:srgbClr val="3A2B26"/>
                </a:solidFill>
                <a:latin typeface="Calibri" pitchFamily="34" charset="0"/>
                <a:ea typeface="Calibri" pitchFamily="34" charset="-122"/>
                <a:cs typeface="Calibri" pitchFamily="34" charset="-120"/>
              </a:rPr>
              <a:t>⚠ Hello!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USEFUL SKILL</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Debugging with console.log</a:t>
            </a:r>
            <a:endParaRPr lang="en-US" sz="2700" dirty="0"/>
          </a:p>
        </p:txBody>
      </p:sp>
      <p:sp>
        <p:nvSpPr>
          <p:cNvPr id="4" name="Shape 2"/>
          <p:cNvSpPr/>
          <p:nvPr/>
        </p:nvSpPr>
        <p:spPr>
          <a:xfrm>
            <a:off x="548640" y="1828800"/>
            <a:ext cx="5577840" cy="2103120"/>
          </a:xfrm>
          <a:prstGeom prst="roundRect">
            <a:avLst>
              <a:gd name="adj" fmla="val 4348"/>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1508760"/>
          </a:xfrm>
          <a:prstGeom prst="rect">
            <a:avLst/>
          </a:prstGeom>
          <a:noFill/>
          <a:ln/>
        </p:spPr>
        <p:txBody>
          <a:bodyPr wrap="square" lIns="0" tIns="0" rIns="0" bIns="0" rtlCol="0" anchor="ctr"/>
          <a:lstStyle/>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btn.addEventListener(</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function ()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console.log(</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"button was clicked"</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6355080" y="1828800"/>
            <a:ext cx="5257800" cy="3840480"/>
          </a:xfrm>
          <a:prstGeom prst="roundRect">
            <a:avLst>
              <a:gd name="adj" fmla="val 2381"/>
            </a:avLst>
          </a:prstGeom>
          <a:solidFill>
            <a:srgbClr val="E7E8D1"/>
          </a:solidFill>
          <a:ln/>
        </p:spPr>
        <p:txBody>
          <a:bodyPr/>
          <a:p/>
        </p:txBody>
      </p:sp>
      <p:sp>
        <p:nvSpPr>
          <p:cNvPr id="10" name="Text 8"/>
          <p:cNvSpPr/>
          <p:nvPr/>
        </p:nvSpPr>
        <p:spPr>
          <a:xfrm>
            <a:off x="6629400" y="2029968"/>
            <a:ext cx="47091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When something doesn't work</a:t>
            </a:r>
            <a:endParaRPr lang="en-US" sz="1500" dirty="0"/>
          </a:p>
        </p:txBody>
      </p:sp>
      <p:sp>
        <p:nvSpPr>
          <p:cNvPr id="11" name="Text 9"/>
          <p:cNvSpPr/>
          <p:nvPr/>
        </p:nvSpPr>
        <p:spPr>
          <a:xfrm>
            <a:off x="6629400" y="2450592"/>
            <a:ext cx="4709160" cy="301752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Add console.log("...") anywhere in your code</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Open DevTools in your browser (press F12)</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Click the “Console” tab to see your messages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If you don't see the message, that code never ran!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Scroll Events &amp; scrollTo</a:t>
            </a:r>
            <a:endParaRPr lang="en-US" sz="2700" dirty="0"/>
          </a:p>
        </p:txBody>
      </p:sp>
      <p:sp>
        <p:nvSpPr>
          <p:cNvPr id="4" name="Shape 2"/>
          <p:cNvSpPr/>
          <p:nvPr/>
        </p:nvSpPr>
        <p:spPr>
          <a:xfrm>
            <a:off x="548640" y="1828800"/>
            <a:ext cx="5577840" cy="2743200"/>
          </a:xfrm>
          <a:prstGeom prst="roundRect">
            <a:avLst>
              <a:gd name="adj" fmla="val 3333"/>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5065776" cy="2148840"/>
          </a:xfrm>
          <a:prstGeom prst="rect">
            <a:avLst/>
          </a:prstGeom>
          <a:noFill/>
          <a:ln/>
        </p:spPr>
        <p:txBody>
          <a:bodyPr wrap="square" lIns="0" tIns="0" rIns="0" bIns="0" rtlCol="0" anchor="ctr"/>
          <a:lstStyle/>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window.addEventListener(</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"scroll"</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function ()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console.log(</a:t>
            </a:r>
            <a:pPr indent="0" marL="0">
              <a:lnSpc>
                <a:spcPct val="122000"/>
              </a:lnSpc>
              <a:buNone/>
            </a:pPr>
            <a:r>
              <a:rPr lang="en-US" sz="1400" dirty="0">
                <a:solidFill>
                  <a:srgbClr val="D98C6B"/>
                </a:solidFill>
                <a:latin typeface="Courier New" pitchFamily="34" charset="0"/>
                <a:ea typeface="Courier New" pitchFamily="34" charset="-122"/>
                <a:cs typeface="Courier New" pitchFamily="34" charset="-120"/>
              </a:rPr>
              <a:t>"scrolling!"</a:t>
            </a:r>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  }</a:t>
            </a: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a:t>
            </a:r>
            <a:endParaRPr lang="en-US" sz="1200" dirty="0"/>
          </a:p>
          <a:p>
            <a:pPr indent="0" marL="0">
              <a:lnSpc>
                <a:spcPct val="122000"/>
              </a:lnSpc>
              <a:buNone/>
            </a:pPr>
            <a:endParaRPr lang="en-US" sz="1200" dirty="0"/>
          </a:p>
          <a:p>
            <a:pPr indent="0" marL="0">
              <a:lnSpc>
                <a:spcPct val="122000"/>
              </a:lnSpc>
              <a:buNone/>
            </a:pPr>
            <a:r>
              <a:rPr lang="en-US" sz="1400" dirty="0">
                <a:solidFill>
                  <a:srgbClr val="E7E8D1"/>
                </a:solidFill>
                <a:latin typeface="Courier New" pitchFamily="34" charset="0"/>
                <a:ea typeface="Courier New" pitchFamily="34" charset="-122"/>
                <a:cs typeface="Courier New" pitchFamily="34" charset="-120"/>
              </a:rPr>
              <a:t>window.scrollTo({ top: 0 });</a:t>
            </a:r>
            <a:endParaRPr lang="en-US" sz="1200" dirty="0"/>
          </a:p>
        </p:txBody>
      </p:sp>
      <p:sp>
        <p:nvSpPr>
          <p:cNvPr id="9" name="Shape 7"/>
          <p:cNvSpPr/>
          <p:nvPr/>
        </p:nvSpPr>
        <p:spPr>
          <a:xfrm>
            <a:off x="6355080" y="1828800"/>
            <a:ext cx="5257800" cy="3840480"/>
          </a:xfrm>
          <a:prstGeom prst="roundRect">
            <a:avLst>
              <a:gd name="adj" fmla="val 2381"/>
            </a:avLst>
          </a:prstGeom>
          <a:solidFill>
            <a:srgbClr val="E7E8D1"/>
          </a:solidFill>
          <a:ln/>
        </p:spPr>
        <p:txBody>
          <a:bodyPr/>
          <a:p/>
        </p:txBody>
      </p:sp>
      <p:sp>
        <p:nvSpPr>
          <p:cNvPr id="10" name="Text 8"/>
          <p:cNvSpPr/>
          <p:nvPr/>
        </p:nvSpPr>
        <p:spPr>
          <a:xfrm>
            <a:off x="6629400" y="2029968"/>
            <a:ext cx="4709160" cy="365760"/>
          </a:xfrm>
          <a:prstGeom prst="rect">
            <a:avLst/>
          </a:prstGeom>
          <a:noFill/>
          <a:ln/>
        </p:spPr>
        <p:txBody>
          <a:bodyPr wrap="square" lIns="0" tIns="0" rIns="0" bIns="0" rtlCol="0" anchor="ctr"/>
          <a:lstStyle/>
          <a:p>
            <a:pPr indent="0" marL="0">
              <a:buNone/>
            </a:pPr>
            <a:r>
              <a:rPr lang="en-US" sz="1900" b="1" dirty="0">
                <a:solidFill>
                  <a:srgbClr val="3A2B26"/>
                </a:solidFill>
                <a:latin typeface="Cambria" pitchFamily="34" charset="0"/>
                <a:ea typeface="Cambria" pitchFamily="34" charset="-122"/>
                <a:cs typeface="Cambria" pitchFamily="34" charset="-120"/>
              </a:rPr>
              <a:t>Two different things</a:t>
            </a:r>
            <a:endParaRPr lang="en-US" sz="1500" dirty="0"/>
          </a:p>
        </p:txBody>
      </p:sp>
      <p:sp>
        <p:nvSpPr>
          <p:cNvPr id="11" name="Text 9"/>
          <p:cNvSpPr/>
          <p:nvPr/>
        </p:nvSpPr>
        <p:spPr>
          <a:xfrm>
            <a:off x="6629400" y="2450592"/>
            <a:ext cx="4709160" cy="3017520"/>
          </a:xfrm>
          <a:prstGeom prst="rect">
            <a:avLst/>
          </a:prstGeom>
          <a:noFill/>
          <a:ln/>
        </p:spPr>
        <p:txBody>
          <a:bodyPr wrap="square" lIns="0" tIns="0" rIns="0" bIns="0" rtlCol="0" anchor="ctr"/>
          <a:lstStyle/>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scroll is an EVENT — it fires by itself whenever someone scrolls</a:t>
            </a:r>
            <a:endParaRPr lang="en-US" sz="1200" dirty="0"/>
          </a:p>
          <a:p>
            <a:pPr marL="342900" indent="-342900">
              <a:spcAft>
                <a:spcPts val="700"/>
              </a:spcAft>
              <a:buSzPct val="100000"/>
              <a:buChar char="•"/>
            </a:pPr>
            <a:r>
              <a:rPr lang="en-US" sz="1700" dirty="0">
                <a:solidFill>
                  <a:srgbClr val="3A2B26"/>
                </a:solidFill>
                <a:latin typeface="Calibri" pitchFamily="34" charset="0"/>
                <a:ea typeface="Calibri" pitchFamily="34" charset="-122"/>
                <a:cs typeface="Calibri" pitchFamily="34" charset="-120"/>
              </a:rPr>
              <a:t>scrollTo is an ACTION — our code moves the page ourselves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PRACTICE 1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Button Click → Alert</a:t>
            </a:r>
            <a:endParaRPr lang="en-US" sz="2700" dirty="0"/>
          </a:p>
        </p:txBody>
      </p:sp>
      <p:sp>
        <p:nvSpPr>
          <p:cNvPr id="4" name="Shape 2"/>
          <p:cNvSpPr/>
          <p:nvPr/>
        </p:nvSpPr>
        <p:spPr>
          <a:xfrm>
            <a:off x="548640" y="1828800"/>
            <a:ext cx="6675120" cy="3017520"/>
          </a:xfrm>
          <a:prstGeom prst="roundRect">
            <a:avLst>
              <a:gd name="adj" fmla="val 3030"/>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423160"/>
          </a:xfrm>
          <a:prstGeom prst="rect">
            <a:avLst/>
          </a:prstGeom>
          <a:noFill/>
          <a:ln/>
        </p:spPr>
        <p:txBody>
          <a:bodyPr wrap="square" lIns="0" tIns="0" rIns="0" bIns="0" rtlCol="0" anchor="ctr"/>
          <a:lstStyle/>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helloBtn = document.</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"hello-btn"</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helloBtn.addEventListener(</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"Hello!"</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5029200"/>
            <a:ext cx="6400800" cy="274320"/>
          </a:xfrm>
          <a:prstGeom prst="rect">
            <a:avLst/>
          </a:prstGeom>
          <a:noFill/>
          <a:ln/>
        </p:spPr>
        <p:txBody>
          <a:bodyPr wrap="square" lIns="0" tIns="0" rIns="0" bIns="0" rtlCol="0" anchor="ctr"/>
          <a:lstStyle/>
          <a:p>
            <a:pPr indent="0" marL="0">
              <a:buNone/>
            </a:pPr>
            <a:r>
              <a:rPr lang="en-US" sz="16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349240"/>
            <a:ext cx="1472184" cy="384048"/>
          </a:xfrm>
          <a:prstGeom prst="roundRect">
            <a:avLst>
              <a:gd name="adj" fmla="val 50000"/>
            </a:avLst>
          </a:prstGeom>
          <a:solidFill>
            <a:srgbClr val="E7E8D1"/>
          </a:solidFill>
          <a:ln w="12700">
            <a:solidFill>
              <a:srgbClr val="A7BEAE"/>
            </a:solidFill>
            <a:prstDash val="solid"/>
          </a:ln>
        </p:spPr>
        <p:txBody>
          <a:bodyPr/>
          <a:p/>
        </p:txBody>
      </p:sp>
      <p:sp>
        <p:nvSpPr>
          <p:cNvPr id="11" name="Text 9"/>
          <p:cNvSpPr/>
          <p:nvPr/>
        </p:nvSpPr>
        <p:spPr>
          <a:xfrm>
            <a:off x="548640" y="5349240"/>
            <a:ext cx="1472184" cy="384048"/>
          </a:xfrm>
          <a:prstGeom prst="rect">
            <a:avLst/>
          </a:prstGeom>
          <a:noFill/>
          <a:ln/>
        </p:spPr>
        <p:txBody>
          <a:bodyPr wrap="square" lIns="0" tIns="0" rIns="0" bIns="0" rtlCol="0" anchor="ctr"/>
          <a:lstStyle/>
          <a:p>
            <a:pPr algn="ctr" indent="0" marL="0">
              <a:buNone/>
            </a:pPr>
            <a:r>
              <a:rPr lang="en-US" sz="1300" b="1" dirty="0">
                <a:solidFill>
                  <a:srgbClr val="3A2B26"/>
                </a:solidFill>
                <a:latin typeface="Courier New" pitchFamily="34" charset="0"/>
                <a:ea typeface="Courier New" pitchFamily="34" charset="-122"/>
                <a:cs typeface="Courier New" pitchFamily="34" charset="-120"/>
              </a:rPr>
              <a:t>getElementById</a:t>
            </a:r>
            <a:endParaRPr lang="en-US" sz="1100" dirty="0"/>
          </a:p>
        </p:txBody>
      </p:sp>
      <p:sp>
        <p:nvSpPr>
          <p:cNvPr id="12" name="Shape 10"/>
          <p:cNvSpPr/>
          <p:nvPr/>
        </p:nvSpPr>
        <p:spPr>
          <a:xfrm>
            <a:off x="2167128" y="5349240"/>
            <a:ext cx="864108"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2167128" y="5349240"/>
            <a:ext cx="864108"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"click"</a:t>
            </a:r>
            <a:endParaRPr lang="en-US" sz="1100" dirty="0"/>
          </a:p>
        </p:txBody>
      </p:sp>
      <p:sp>
        <p:nvSpPr>
          <p:cNvPr id="14" name="Shape 12"/>
          <p:cNvSpPr/>
          <p:nvPr/>
        </p:nvSpPr>
        <p:spPr>
          <a:xfrm>
            <a:off x="3177540" y="5349240"/>
            <a:ext cx="690372" cy="384048"/>
          </a:xfrm>
          <a:prstGeom prst="roundRect">
            <a:avLst>
              <a:gd name="adj" fmla="val 50000"/>
            </a:avLst>
          </a:prstGeom>
          <a:solidFill>
            <a:srgbClr val="E7E8D1"/>
          </a:solidFill>
          <a:ln w="12700">
            <a:solidFill>
              <a:srgbClr val="A7BEAE"/>
            </a:solidFill>
            <a:prstDash val="solid"/>
          </a:ln>
        </p:spPr>
      </p:sp>
      <p:sp>
        <p:nvSpPr>
          <p:cNvPr id="15" name="Text 13"/>
          <p:cNvSpPr/>
          <p:nvPr/>
        </p:nvSpPr>
        <p:spPr>
          <a:xfrm>
            <a:off x="3177540" y="5349240"/>
            <a:ext cx="690372"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alert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PRACTICE 2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Mobile Menu Toggle</a:t>
            </a:r>
            <a:endParaRPr lang="en-US" sz="2700" dirty="0"/>
          </a:p>
        </p:txBody>
      </p:sp>
      <p:sp>
        <p:nvSpPr>
          <p:cNvPr id="4" name="Shape 2"/>
          <p:cNvSpPr/>
          <p:nvPr/>
        </p:nvSpPr>
        <p:spPr>
          <a:xfrm>
            <a:off x="548640" y="1828800"/>
            <a:ext cx="6675120" cy="2743200"/>
          </a:xfrm>
          <a:prstGeom prst="roundRect">
            <a:avLst>
              <a:gd name="adj" fmla="val 3333"/>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148840"/>
          </a:xfrm>
          <a:prstGeom prst="rect">
            <a:avLst/>
          </a:prstGeom>
          <a:noFill/>
          <a:ln/>
        </p:spPr>
        <p:txBody>
          <a:bodyPr wrap="square" lIns="0" tIns="0" rIns="0" bIns="0" rtlCol="0" anchor="ctr"/>
          <a:lstStyle/>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menuBtn = document.getElementById(</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"menu-toggle"</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navMenu = document.getElementById(</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"nav-menu"</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menuBtn.addEventListener(</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navMenu.</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.toggle(</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4754880"/>
            <a:ext cx="6400800" cy="274320"/>
          </a:xfrm>
          <a:prstGeom prst="rect">
            <a:avLst/>
          </a:prstGeom>
          <a:noFill/>
          <a:ln/>
        </p:spPr>
        <p:txBody>
          <a:bodyPr wrap="square" lIns="0" tIns="0" rIns="0" bIns="0" rtlCol="0" anchor="ctr"/>
          <a:lstStyle/>
          <a:p>
            <a:pPr indent="0" marL="0">
              <a:buNone/>
            </a:pPr>
            <a:r>
              <a:rPr lang="en-US" sz="16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074920"/>
            <a:ext cx="1037844" cy="384048"/>
          </a:xfrm>
          <a:prstGeom prst="roundRect">
            <a:avLst>
              <a:gd name="adj" fmla="val 50000"/>
            </a:avLst>
          </a:prstGeom>
          <a:solidFill>
            <a:srgbClr val="E7E8D1"/>
          </a:solidFill>
          <a:ln w="12700">
            <a:solidFill>
              <a:srgbClr val="A7BEAE"/>
            </a:solidFill>
            <a:prstDash val="solid"/>
          </a:ln>
        </p:spPr>
        <p:txBody>
          <a:bodyPr/>
          <a:p/>
        </p:txBody>
      </p:sp>
      <p:sp>
        <p:nvSpPr>
          <p:cNvPr id="11" name="Text 9"/>
          <p:cNvSpPr/>
          <p:nvPr/>
        </p:nvSpPr>
        <p:spPr>
          <a:xfrm>
            <a:off x="548640" y="5074920"/>
            <a:ext cx="1037844" cy="384048"/>
          </a:xfrm>
          <a:prstGeom prst="rect">
            <a:avLst/>
          </a:prstGeom>
          <a:noFill/>
          <a:ln/>
        </p:spPr>
        <p:txBody>
          <a:bodyPr wrap="square" lIns="0" tIns="0" rIns="0" bIns="0" rtlCol="0" anchor="ctr"/>
          <a:lstStyle/>
          <a:p>
            <a:pPr algn="ctr" indent="0" marL="0">
              <a:buNone/>
            </a:pPr>
            <a:r>
              <a:rPr lang="en-US" sz="1300" b="1" dirty="0">
                <a:solidFill>
                  <a:srgbClr val="3A2B26"/>
                </a:solidFill>
                <a:latin typeface="Courier New" pitchFamily="34" charset="0"/>
                <a:ea typeface="Courier New" pitchFamily="34" charset="-122"/>
                <a:cs typeface="Courier New" pitchFamily="34" charset="-120"/>
              </a:rPr>
              <a:t>classList</a:t>
            </a:r>
            <a:endParaRPr lang="en-US" sz="1100" dirty="0"/>
          </a:p>
        </p:txBody>
      </p:sp>
      <p:sp>
        <p:nvSpPr>
          <p:cNvPr id="12" name="Shape 10"/>
          <p:cNvSpPr/>
          <p:nvPr/>
        </p:nvSpPr>
        <p:spPr>
          <a:xfrm>
            <a:off x="1732788" y="5074920"/>
            <a:ext cx="777240"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732788" y="5074920"/>
            <a:ext cx="777240"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"open"</a:t>
            </a:r>
            <a:endParaRPr lang="en-US" sz="1100" dirty="0"/>
          </a:p>
        </p:txBody>
      </p:sp>
      <p:sp>
        <p:nvSpPr>
          <p:cNvPr id="14" name="Text 12"/>
          <p:cNvSpPr/>
          <p:nvPr/>
        </p:nvSpPr>
        <p:spPr>
          <a:xfrm>
            <a:off x="7452360" y="2103120"/>
            <a:ext cx="4206240" cy="2286000"/>
          </a:xfrm>
          <a:prstGeom prst="rect">
            <a:avLst/>
          </a:prstGeom>
          <a:noFill/>
          <a:ln/>
        </p:spPr>
        <p:txBody>
          <a:bodyPr wrap="square" lIns="0" tIns="0" rIns="0" bIns="0" rtlCol="0" anchor="ctr"/>
          <a:lstStyle/>
          <a:p>
            <a:pPr indent="0" marL="0">
              <a:buNone/>
            </a:pPr>
            <a:r>
              <a:rPr lang="en-US" sz="1750" i="1" dirty="0">
                <a:solidFill>
                  <a:srgbClr val="555555"/>
                </a:solidFill>
                <a:latin typeface="Calibri" pitchFamily="34" charset="0"/>
                <a:ea typeface="Calibri" pitchFamily="34" charset="-122"/>
                <a:cs typeface="Calibri" pitchFamily="34" charset="-120"/>
              </a:rPr>
              <a:t>This makes the mobile menu from Day 2 actually work on a small screen.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PRACTICE 3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Highlight a Clicked Gallery Card</a:t>
            </a:r>
            <a:endParaRPr lang="en-US" sz="2700" dirty="0"/>
          </a:p>
        </p:txBody>
      </p:sp>
      <p:sp>
        <p:nvSpPr>
          <p:cNvPr id="4" name="Shape 2"/>
          <p:cNvSpPr/>
          <p:nvPr/>
        </p:nvSpPr>
        <p:spPr>
          <a:xfrm>
            <a:off x="548640" y="1554480"/>
            <a:ext cx="6675120" cy="4114800"/>
          </a:xfrm>
          <a:prstGeom prst="roundRect">
            <a:avLst>
              <a:gd name="adj" fmla="val 2222"/>
            </a:avLst>
          </a:prstGeom>
          <a:solidFill>
            <a:srgbClr val="2D2321"/>
          </a:solidFill>
          <a:ln/>
        </p:spPr>
        <p:txBody>
          <a:bodyPr/>
          <a:p/>
        </p:txBody>
      </p:sp>
      <p:sp>
        <p:nvSpPr>
          <p:cNvPr id="5" name="Shape 3"/>
          <p:cNvSpPr/>
          <p:nvPr/>
        </p:nvSpPr>
        <p:spPr>
          <a:xfrm>
            <a:off x="749808" y="1719072"/>
            <a:ext cx="128016" cy="128016"/>
          </a:xfrm>
          <a:prstGeom prst="ellipse">
            <a:avLst/>
          </a:prstGeom>
          <a:solidFill>
            <a:srgbClr val="E06C75"/>
          </a:solidFill>
          <a:ln/>
        </p:spPr>
      </p:sp>
      <p:sp>
        <p:nvSpPr>
          <p:cNvPr id="6" name="Shape 4"/>
          <p:cNvSpPr/>
          <p:nvPr/>
        </p:nvSpPr>
        <p:spPr>
          <a:xfrm>
            <a:off x="978408" y="1719072"/>
            <a:ext cx="128016" cy="128016"/>
          </a:xfrm>
          <a:prstGeom prst="ellipse">
            <a:avLst/>
          </a:prstGeom>
          <a:solidFill>
            <a:srgbClr val="E5C07B"/>
          </a:solidFill>
          <a:ln/>
        </p:spPr>
      </p:sp>
      <p:sp>
        <p:nvSpPr>
          <p:cNvPr id="7" name="Shape 5"/>
          <p:cNvSpPr/>
          <p:nvPr/>
        </p:nvSpPr>
        <p:spPr>
          <a:xfrm>
            <a:off x="1207008" y="1719072"/>
            <a:ext cx="128016" cy="128016"/>
          </a:xfrm>
          <a:prstGeom prst="ellipse">
            <a:avLst/>
          </a:prstGeom>
          <a:solidFill>
            <a:srgbClr val="98C379"/>
          </a:solidFill>
          <a:ln/>
        </p:spPr>
      </p:sp>
      <p:sp>
        <p:nvSpPr>
          <p:cNvPr id="8" name="Text 6"/>
          <p:cNvSpPr/>
          <p:nvPr/>
        </p:nvSpPr>
        <p:spPr>
          <a:xfrm>
            <a:off x="804672" y="2011680"/>
            <a:ext cx="6163056" cy="3520440"/>
          </a:xfrm>
          <a:prstGeom prst="rect">
            <a:avLst/>
          </a:prstGeom>
          <a:noFill/>
          <a:ln/>
        </p:spPr>
        <p:txBody>
          <a:bodyPr wrap="square" lIns="0" tIns="0" rIns="0" bIns="0" rtlCol="0" anchor="ctr"/>
          <a:lstStyle/>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cards = document.</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".card"</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cards.forEach(function (card)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card.addEventListener(</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cards.forEach(function (c)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c.classList.remove(</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"selected"</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card.classList.</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"selected"</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5806440"/>
            <a:ext cx="6400800" cy="274320"/>
          </a:xfrm>
          <a:prstGeom prst="rect">
            <a:avLst/>
          </a:prstGeom>
          <a:noFill/>
          <a:ln/>
        </p:spPr>
        <p:txBody>
          <a:bodyPr wrap="square" lIns="0" tIns="0" rIns="0" bIns="0" rtlCol="0" anchor="ctr"/>
          <a:lstStyle/>
          <a:p>
            <a:pPr indent="0" marL="0">
              <a:buNone/>
            </a:pPr>
            <a:r>
              <a:rPr lang="en-US" sz="16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6126480"/>
            <a:ext cx="1645920" cy="384048"/>
          </a:xfrm>
          <a:prstGeom prst="roundRect">
            <a:avLst>
              <a:gd name="adj" fmla="val 50000"/>
            </a:avLst>
          </a:prstGeom>
          <a:solidFill>
            <a:srgbClr val="E7E8D1"/>
          </a:solidFill>
          <a:ln w="12700">
            <a:solidFill>
              <a:srgbClr val="A7BEAE"/>
            </a:solidFill>
            <a:prstDash val="solid"/>
          </a:ln>
        </p:spPr>
        <p:txBody>
          <a:bodyPr/>
          <a:p/>
        </p:txBody>
      </p:sp>
      <p:sp>
        <p:nvSpPr>
          <p:cNvPr id="11" name="Text 9"/>
          <p:cNvSpPr/>
          <p:nvPr/>
        </p:nvSpPr>
        <p:spPr>
          <a:xfrm>
            <a:off x="548640" y="6126480"/>
            <a:ext cx="1645920" cy="384048"/>
          </a:xfrm>
          <a:prstGeom prst="rect">
            <a:avLst/>
          </a:prstGeom>
          <a:noFill/>
          <a:ln/>
        </p:spPr>
        <p:txBody>
          <a:bodyPr wrap="square" lIns="0" tIns="0" rIns="0" bIns="0" rtlCol="0" anchor="ctr"/>
          <a:lstStyle/>
          <a:p>
            <a:pPr algn="ctr" indent="0" marL="0">
              <a:buNone/>
            </a:pPr>
            <a:r>
              <a:rPr lang="en-US" sz="1300" b="1" dirty="0">
                <a:solidFill>
                  <a:srgbClr val="3A2B26"/>
                </a:solidFill>
                <a:latin typeface="Courier New" pitchFamily="34" charset="0"/>
                <a:ea typeface="Courier New" pitchFamily="34" charset="-122"/>
                <a:cs typeface="Courier New" pitchFamily="34" charset="-120"/>
              </a:rPr>
              <a:t>querySelectorAll</a:t>
            </a:r>
            <a:endParaRPr lang="en-US" sz="1100" dirty="0"/>
          </a:p>
        </p:txBody>
      </p:sp>
      <p:sp>
        <p:nvSpPr>
          <p:cNvPr id="12" name="Shape 10"/>
          <p:cNvSpPr/>
          <p:nvPr/>
        </p:nvSpPr>
        <p:spPr>
          <a:xfrm>
            <a:off x="2340864" y="6126480"/>
            <a:ext cx="516636"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2340864" y="6126480"/>
            <a:ext cx="516636"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add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PRACTICE 4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Show or Hide Extra Text</a:t>
            </a:r>
            <a:endParaRPr lang="en-US" sz="2700" dirty="0"/>
          </a:p>
        </p:txBody>
      </p:sp>
      <p:sp>
        <p:nvSpPr>
          <p:cNvPr id="4" name="Shape 2"/>
          <p:cNvSpPr/>
          <p:nvPr/>
        </p:nvSpPr>
        <p:spPr>
          <a:xfrm>
            <a:off x="548640" y="1828800"/>
            <a:ext cx="6675120" cy="2743200"/>
          </a:xfrm>
          <a:prstGeom prst="roundRect">
            <a:avLst>
              <a:gd name="adj" fmla="val 3333"/>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148840"/>
          </a:xfrm>
          <a:prstGeom prst="rect">
            <a:avLst/>
          </a:prstGeom>
          <a:noFill/>
          <a:ln/>
        </p:spPr>
        <p:txBody>
          <a:bodyPr wrap="square" lIns="0" tIns="0" rIns="0" bIns="0" rtlCol="0" anchor="ctr"/>
          <a:lstStyle/>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moreBtn = document.getElementById(</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"more-btn"</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const extraText = document.getElementById(</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"extra-text"</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moreBtn.addEventListener(</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extraText.classList.</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"visible"</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4754880"/>
            <a:ext cx="6400800" cy="274320"/>
          </a:xfrm>
          <a:prstGeom prst="rect">
            <a:avLst/>
          </a:prstGeom>
          <a:noFill/>
          <a:ln/>
        </p:spPr>
        <p:txBody>
          <a:bodyPr wrap="square" lIns="0" tIns="0" rIns="0" bIns="0" rtlCol="0" anchor="ctr"/>
          <a:lstStyle/>
          <a:p>
            <a:pPr indent="0" marL="0">
              <a:buNone/>
            </a:pPr>
            <a:r>
              <a:rPr lang="en-US" sz="16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074920"/>
            <a:ext cx="864108" cy="384048"/>
          </a:xfrm>
          <a:prstGeom prst="roundRect">
            <a:avLst>
              <a:gd name="adj" fmla="val 50000"/>
            </a:avLst>
          </a:prstGeom>
          <a:solidFill>
            <a:srgbClr val="E7E8D1"/>
          </a:solidFill>
          <a:ln w="12700">
            <a:solidFill>
              <a:srgbClr val="A7BEAE"/>
            </a:solidFill>
            <a:prstDash val="solid"/>
          </a:ln>
        </p:spPr>
      </p:sp>
      <p:sp>
        <p:nvSpPr>
          <p:cNvPr id="11" name="Text 9"/>
          <p:cNvSpPr/>
          <p:nvPr/>
        </p:nvSpPr>
        <p:spPr>
          <a:xfrm>
            <a:off x="548640" y="5074920"/>
            <a:ext cx="864108"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"click"</a:t>
            </a:r>
            <a:endParaRPr lang="en-US" sz="1100" dirty="0"/>
          </a:p>
        </p:txBody>
      </p:sp>
      <p:sp>
        <p:nvSpPr>
          <p:cNvPr id="12" name="Shape 10"/>
          <p:cNvSpPr/>
          <p:nvPr/>
        </p:nvSpPr>
        <p:spPr>
          <a:xfrm>
            <a:off x="1559052" y="5074920"/>
            <a:ext cx="777240" cy="384048"/>
          </a:xfrm>
          <a:prstGeom prst="roundRect">
            <a:avLst>
              <a:gd name="adj" fmla="val 50000"/>
            </a:avLst>
          </a:prstGeom>
          <a:solidFill>
            <a:srgbClr val="E7E8D1"/>
          </a:solidFill>
          <a:ln w="12700">
            <a:solidFill>
              <a:srgbClr val="A7BEAE"/>
            </a:solidFill>
            <a:prstDash val="solid"/>
          </a:ln>
        </p:spPr>
      </p:sp>
      <p:sp>
        <p:nvSpPr>
          <p:cNvPr id="13" name="Text 11"/>
          <p:cNvSpPr/>
          <p:nvPr/>
        </p:nvSpPr>
        <p:spPr>
          <a:xfrm>
            <a:off x="1559052" y="5074920"/>
            <a:ext cx="777240" cy="384048"/>
          </a:xfrm>
          <a:prstGeom prst="rect">
            <a:avLst/>
          </a:prstGeom>
          <a:noFill/>
          <a:ln/>
        </p:spPr>
        <p:txBody>
          <a:bodyPr wrap="square" lIns="0" tIns="0" rIns="0" bIns="0" rtlCol="0" anchor="ctr"/>
          <a:lstStyle/>
          <a:p>
            <a:pPr algn="ctr" indent="0" marL="0">
              <a:buNone/>
            </a:pPr>
            <a:r>
              <a:rPr lang="en-US" sz="1100" b="1" dirty="0">
                <a:solidFill>
                  <a:srgbClr val="3A2B26"/>
                </a:solidFill>
                <a:latin typeface="Courier New" pitchFamily="34" charset="0"/>
                <a:ea typeface="Courier New" pitchFamily="34" charset="-122"/>
                <a:cs typeface="Courier New" pitchFamily="34" charset="-120"/>
              </a:rPr>
              <a:t>toggle</a:t>
            </a:r>
            <a:endParaRPr lang="en-US" sz="1100" dirty="0"/>
          </a:p>
        </p:txBody>
      </p:sp>
      <p:sp>
        <p:nvSpPr>
          <p:cNvPr id="14" name="Text 12"/>
          <p:cNvSpPr/>
          <p:nvPr/>
        </p:nvSpPr>
        <p:spPr>
          <a:xfrm>
            <a:off x="7452360" y="2103120"/>
            <a:ext cx="4206240" cy="2286000"/>
          </a:xfrm>
          <a:prstGeom prst="rect">
            <a:avLst/>
          </a:prstGeom>
          <a:noFill/>
          <a:ln/>
        </p:spPr>
        <p:txBody>
          <a:bodyPr wrap="square" lIns="0" tIns="0" rIns="0" bIns="0" rtlCol="0" anchor="ctr"/>
          <a:lstStyle/>
          <a:p>
            <a:pPr indent="0" marL="0">
              <a:buNone/>
            </a:pPr>
            <a:r>
              <a:rPr lang="en-US" sz="1750" i="1" dirty="0">
                <a:solidFill>
                  <a:srgbClr val="555555"/>
                </a:solidFill>
                <a:latin typeface="Calibri" pitchFamily="34" charset="0"/>
                <a:ea typeface="Calibri" pitchFamily="34" charset="-122"/>
                <a:cs typeface="Calibri" pitchFamily="34" charset="-120"/>
              </a:rPr>
              <a:t>Great for a “Read more” link on your About section.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PRACTICE 5 — FILL IN THE BLANK</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A “Back to Top” Button</a:t>
            </a:r>
            <a:endParaRPr lang="en-US" sz="2700" dirty="0"/>
          </a:p>
        </p:txBody>
      </p:sp>
      <p:sp>
        <p:nvSpPr>
          <p:cNvPr id="4" name="Shape 2"/>
          <p:cNvSpPr/>
          <p:nvPr/>
        </p:nvSpPr>
        <p:spPr>
          <a:xfrm>
            <a:off x="548640" y="1828800"/>
            <a:ext cx="6675120" cy="3017520"/>
          </a:xfrm>
          <a:prstGeom prst="roundRect">
            <a:avLst>
              <a:gd name="adj" fmla="val 3030"/>
            </a:avLst>
          </a:prstGeom>
          <a:solidFill>
            <a:srgbClr val="2D2321"/>
          </a:solidFill>
          <a:ln/>
        </p:spPr>
        <p:txBody>
          <a:bodyPr/>
          <a:p/>
        </p:txBody>
      </p:sp>
      <p:sp>
        <p:nvSpPr>
          <p:cNvPr id="5" name="Shape 3"/>
          <p:cNvSpPr/>
          <p:nvPr/>
        </p:nvSpPr>
        <p:spPr>
          <a:xfrm>
            <a:off x="749808" y="1993392"/>
            <a:ext cx="128016" cy="128016"/>
          </a:xfrm>
          <a:prstGeom prst="ellipse">
            <a:avLst/>
          </a:prstGeom>
          <a:solidFill>
            <a:srgbClr val="E06C75"/>
          </a:solidFill>
          <a:ln/>
        </p:spPr>
      </p:sp>
      <p:sp>
        <p:nvSpPr>
          <p:cNvPr id="6" name="Shape 4"/>
          <p:cNvSpPr/>
          <p:nvPr/>
        </p:nvSpPr>
        <p:spPr>
          <a:xfrm>
            <a:off x="978408" y="1993392"/>
            <a:ext cx="128016" cy="128016"/>
          </a:xfrm>
          <a:prstGeom prst="ellipse">
            <a:avLst/>
          </a:prstGeom>
          <a:solidFill>
            <a:srgbClr val="E5C07B"/>
          </a:solidFill>
          <a:ln/>
        </p:spPr>
      </p:sp>
      <p:sp>
        <p:nvSpPr>
          <p:cNvPr id="7" name="Shape 5"/>
          <p:cNvSpPr/>
          <p:nvPr/>
        </p:nvSpPr>
        <p:spPr>
          <a:xfrm>
            <a:off x="1207008" y="1993392"/>
            <a:ext cx="128016" cy="128016"/>
          </a:xfrm>
          <a:prstGeom prst="ellipse">
            <a:avLst/>
          </a:prstGeom>
          <a:solidFill>
            <a:srgbClr val="98C379"/>
          </a:solidFill>
          <a:ln/>
        </p:spPr>
      </p:sp>
      <p:sp>
        <p:nvSpPr>
          <p:cNvPr id="8" name="Text 6"/>
          <p:cNvSpPr/>
          <p:nvPr/>
        </p:nvSpPr>
        <p:spPr>
          <a:xfrm>
            <a:off x="804672" y="2286000"/>
            <a:ext cx="6163056" cy="2423160"/>
          </a:xfrm>
          <a:prstGeom prst="rect">
            <a:avLst/>
          </a:prstGeom>
          <a:noFill/>
          <a:ln/>
        </p:spPr>
        <p:txBody>
          <a:bodyPr wrap="square" lIns="0" tIns="0" rIns="0" bIns="0" rtlCol="0" anchor="ctr"/>
          <a:lstStyle/>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window.addEventListener(</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if (window.scrollY &gt; 300)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topBtn.classList.add(</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"visible"</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a:p>
            <a:pPr indent="0" marL="0">
              <a:lnSpc>
                <a:spcPct val="122000"/>
              </a:lnSpc>
              <a:buNone/>
            </a:pP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topBtn.addEventListener(</a:t>
            </a:r>
            <a:pPr indent="0" marL="0">
              <a:lnSpc>
                <a:spcPct val="122000"/>
              </a:lnSpc>
              <a:buNone/>
            </a:pPr>
            <a:r>
              <a:rPr lang="en-US" sz="1500" dirty="0">
                <a:solidFill>
                  <a:srgbClr val="D98C6B"/>
                </a:solidFill>
                <a:latin typeface="Courier New" pitchFamily="34" charset="0"/>
                <a:ea typeface="Courier New" pitchFamily="34" charset="-122"/>
                <a:cs typeface="Courier New" pitchFamily="34" charset="-120"/>
              </a:rPr>
              <a:t>"click"</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function ()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window.</a:t>
            </a:r>
            <a:pPr indent="0" marL="0">
              <a:lnSpc>
                <a:spcPct val="122000"/>
              </a:lnSpc>
              <a:buNone/>
            </a:pPr>
            <a:r>
              <a:rPr lang="en-US" sz="1500" b="1" dirty="0">
                <a:solidFill>
                  <a:srgbClr val="F2C14E"/>
                </a:solidFill>
                <a:latin typeface="Courier New" pitchFamily="34" charset="0"/>
                <a:ea typeface="Courier New" pitchFamily="34" charset="-122"/>
                <a:cs typeface="Courier New" pitchFamily="34" charset="-120"/>
              </a:rPr>
              <a:t>______</a:t>
            </a:r>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 top: 0 });</a:t>
            </a:r>
            <a:endParaRPr lang="en-US" sz="1300" dirty="0"/>
          </a:p>
          <a:p>
            <a:pPr indent="0" marL="0">
              <a:lnSpc>
                <a:spcPct val="122000"/>
              </a:lnSpc>
              <a:buNone/>
            </a:pPr>
            <a:r>
              <a:rPr lang="en-US" sz="1500" dirty="0">
                <a:solidFill>
                  <a:srgbClr val="E7E8D1"/>
                </a:solidFill>
                <a:latin typeface="Courier New" pitchFamily="34" charset="0"/>
                <a:ea typeface="Courier New" pitchFamily="34" charset="-122"/>
                <a:cs typeface="Courier New" pitchFamily="34" charset="-120"/>
              </a:rPr>
              <a:t>});</a:t>
            </a:r>
            <a:endParaRPr lang="en-US" sz="1300" dirty="0"/>
          </a:p>
        </p:txBody>
      </p:sp>
      <p:sp>
        <p:nvSpPr>
          <p:cNvPr id="9" name="Text 7"/>
          <p:cNvSpPr/>
          <p:nvPr/>
        </p:nvSpPr>
        <p:spPr>
          <a:xfrm>
            <a:off x="548640" y="5029200"/>
            <a:ext cx="6400800" cy="274320"/>
          </a:xfrm>
          <a:prstGeom prst="rect">
            <a:avLst/>
          </a:prstGeom>
          <a:noFill/>
          <a:ln/>
        </p:spPr>
        <p:txBody>
          <a:bodyPr wrap="square" lIns="0" tIns="0" rIns="0" bIns="0" rtlCol="0" anchor="ctr"/>
          <a:lstStyle/>
          <a:p>
            <a:pPr indent="0" marL="0">
              <a:buNone/>
            </a:pPr>
            <a:r>
              <a:rPr lang="en-US" sz="1600" b="1" spc="50" kern="0" dirty="0">
                <a:solidFill>
                  <a:srgbClr val="B85042"/>
                </a:solidFill>
                <a:latin typeface="Calibri" pitchFamily="34" charset="0"/>
                <a:ea typeface="Calibri" pitchFamily="34" charset="-122"/>
                <a:cs typeface="Calibri" pitchFamily="34" charset="-120"/>
              </a:rPr>
              <a:t>WORD BANK — pick the right word for each blank</a:t>
            </a:r>
            <a:endParaRPr lang="en-US" sz="1100" dirty="0"/>
          </a:p>
        </p:txBody>
      </p:sp>
      <p:sp>
        <p:nvSpPr>
          <p:cNvPr id="10" name="Shape 8"/>
          <p:cNvSpPr/>
          <p:nvPr/>
        </p:nvSpPr>
        <p:spPr>
          <a:xfrm>
            <a:off x="548640" y="5349240"/>
            <a:ext cx="950976" cy="384048"/>
          </a:xfrm>
          <a:prstGeom prst="roundRect">
            <a:avLst>
              <a:gd name="adj" fmla="val 50000"/>
            </a:avLst>
          </a:prstGeom>
          <a:solidFill>
            <a:srgbClr val="E7E8D1"/>
          </a:solidFill>
          <a:ln w="12700">
            <a:solidFill>
              <a:srgbClr val="A7BEAE"/>
            </a:solidFill>
            <a:prstDash val="solid"/>
          </a:ln>
        </p:spPr>
        <p:txBody>
          <a:bodyPr/>
          <a:p/>
        </p:txBody>
      </p:sp>
      <p:sp>
        <p:nvSpPr>
          <p:cNvPr id="11" name="Text 9"/>
          <p:cNvSpPr/>
          <p:nvPr/>
        </p:nvSpPr>
        <p:spPr>
          <a:xfrm>
            <a:off x="548640" y="5349240"/>
            <a:ext cx="950976" cy="384048"/>
          </a:xfrm>
          <a:prstGeom prst="rect">
            <a:avLst/>
          </a:prstGeom>
          <a:noFill/>
          <a:ln/>
        </p:spPr>
        <p:txBody>
          <a:bodyPr wrap="square" lIns="0" tIns="0" rIns="0" bIns="0" rtlCol="0" anchor="ctr"/>
          <a:lstStyle/>
          <a:p>
            <a:pPr algn="ctr" indent="0" marL="0">
              <a:buNone/>
            </a:pPr>
            <a:r>
              <a:rPr lang="en-US" sz="1300" b="1" dirty="0">
                <a:solidFill>
                  <a:srgbClr val="3A2B26"/>
                </a:solidFill>
                <a:latin typeface="Courier New" pitchFamily="34" charset="0"/>
                <a:ea typeface="Courier New" pitchFamily="34" charset="-122"/>
                <a:cs typeface="Courier New" pitchFamily="34" charset="-120"/>
              </a:rPr>
              <a:t>"scroll"</a:t>
            </a:r>
            <a:endParaRPr lang="en-US" sz="1100" dirty="0"/>
          </a:p>
        </p:txBody>
      </p:sp>
      <p:sp>
        <p:nvSpPr>
          <p:cNvPr id="12" name="Shape 10"/>
          <p:cNvSpPr/>
          <p:nvPr/>
        </p:nvSpPr>
        <p:spPr>
          <a:xfrm>
            <a:off x="1645920" y="5349240"/>
            <a:ext cx="950976" cy="384048"/>
          </a:xfrm>
          <a:prstGeom prst="roundRect">
            <a:avLst>
              <a:gd name="adj" fmla="val 50000"/>
            </a:avLst>
          </a:prstGeom>
          <a:solidFill>
            <a:srgbClr val="E7E8D1"/>
          </a:solidFill>
          <a:ln w="12700">
            <a:solidFill>
              <a:srgbClr val="A7BEAE"/>
            </a:solidFill>
            <a:prstDash val="solid"/>
          </a:ln>
        </p:spPr>
        <p:txBody>
          <a:bodyPr/>
          <a:p/>
        </p:txBody>
      </p:sp>
      <p:sp>
        <p:nvSpPr>
          <p:cNvPr id="13" name="Text 11"/>
          <p:cNvSpPr/>
          <p:nvPr/>
        </p:nvSpPr>
        <p:spPr>
          <a:xfrm>
            <a:off x="1645920" y="5349240"/>
            <a:ext cx="950976" cy="384048"/>
          </a:xfrm>
          <a:prstGeom prst="rect">
            <a:avLst/>
          </a:prstGeom>
          <a:noFill/>
          <a:ln/>
        </p:spPr>
        <p:txBody>
          <a:bodyPr wrap="square" lIns="0" tIns="0" rIns="0" bIns="0" rtlCol="0" anchor="ctr"/>
          <a:lstStyle/>
          <a:p>
            <a:pPr algn="ctr" indent="0" marL="0">
              <a:buNone/>
            </a:pPr>
            <a:r>
              <a:rPr lang="en-US" sz="1300" b="1" dirty="0">
                <a:solidFill>
                  <a:srgbClr val="3A2B26"/>
                </a:solidFill>
                <a:latin typeface="Courier New" pitchFamily="34" charset="0"/>
                <a:ea typeface="Courier New" pitchFamily="34" charset="-122"/>
                <a:cs typeface="Courier New" pitchFamily="34" charset="-120"/>
              </a:rPr>
              <a:t>scrollTo</a:t>
            </a:r>
            <a:endParaRPr lang="en-US" sz="1100" dirty="0"/>
          </a:p>
        </p:txBody>
      </p:sp>
      <p:sp>
        <p:nvSpPr>
          <p:cNvPr id="14" name="Text 12"/>
          <p:cNvSpPr/>
          <p:nvPr/>
        </p:nvSpPr>
        <p:spPr>
          <a:xfrm>
            <a:off x="7452360" y="2103120"/>
            <a:ext cx="4206240" cy="2743200"/>
          </a:xfrm>
          <a:prstGeom prst="rect">
            <a:avLst/>
          </a:prstGeom>
          <a:noFill/>
          <a:ln/>
        </p:spPr>
        <p:txBody>
          <a:bodyPr wrap="square" lIns="0" tIns="0" rIns="0" bIns="0" rtlCol="0" anchor="ctr"/>
          <a:lstStyle/>
          <a:p>
            <a:pPr indent="0" marL="0">
              <a:buNone/>
            </a:pPr>
            <a:r>
              <a:rPr lang="en-US" sz="1750" i="1" dirty="0">
                <a:solidFill>
                  <a:srgbClr val="555555"/>
                </a:solidFill>
                <a:latin typeface="Calibri" pitchFamily="34" charset="0"/>
                <a:ea typeface="Calibri" pitchFamily="34" charset="-122"/>
                <a:cs typeface="Calibri" pitchFamily="34" charset="-120"/>
              </a:rPr>
              <a:t>A button that appears once you scroll down, and jumps you back to the top when clicked.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lIns="0" tIns="0" rIns="0" bIns="0" rtlCol="0" anchor="ctr"/>
          <a:lstStyle/>
          <a:p>
            <a:pPr indent="0" marL="0">
              <a:buNone/>
            </a:pPr>
            <a:r>
              <a:rPr lang="en-US" sz="1700" b="1" spc="100" kern="0" dirty="0">
                <a:solidFill>
                  <a:srgbClr val="B85042"/>
                </a:solidFill>
                <a:latin typeface="Calibri" pitchFamily="34" charset="0"/>
                <a:ea typeface="Calibri" pitchFamily="34" charset="-122"/>
                <a:cs typeface="Calibri" pitchFamily="34" charset="-120"/>
              </a:rPr>
              <a:t>QUICK REFERENCE</a:t>
            </a:r>
            <a:endParaRPr lang="en-US" sz="1300" dirty="0"/>
          </a:p>
        </p:txBody>
      </p:sp>
      <p:sp>
        <p:nvSpPr>
          <p:cNvPr id="3" name="Text 1"/>
          <p:cNvSpPr/>
          <p:nvPr/>
        </p:nvSpPr>
        <p:spPr>
          <a:xfrm>
            <a:off x="548640" y="658368"/>
            <a:ext cx="10881360" cy="685800"/>
          </a:xfrm>
          <a:prstGeom prst="rect">
            <a:avLst/>
          </a:prstGeom>
          <a:noFill/>
          <a:ln/>
        </p:spPr>
        <p:txBody>
          <a:bodyPr wrap="square" lIns="0" tIns="0" rIns="0" bIns="0" rtlCol="0" anchor="ctr"/>
          <a:lstStyle/>
          <a:p>
            <a:pPr indent="0" marL="0">
              <a:buNone/>
            </a:pPr>
            <a:r>
              <a:rPr lang="en-US" sz="3000" b="1" dirty="0">
                <a:solidFill>
                  <a:srgbClr val="2D2D2D"/>
                </a:solidFill>
                <a:latin typeface="Cambria" pitchFamily="34" charset="0"/>
                <a:ea typeface="Cambria" pitchFamily="34" charset="-122"/>
                <a:cs typeface="Cambria" pitchFamily="34" charset="-120"/>
              </a:rPr>
              <a:t>Day 4 Cheat Sheet</a:t>
            </a:r>
            <a:endParaRPr lang="en-US" sz="2700" dirty="0"/>
          </a:p>
        </p:txBody>
      </p:sp>
      <p:sp>
        <p:nvSpPr>
          <p:cNvPr id="4" name="Shape 2"/>
          <p:cNvSpPr/>
          <p:nvPr/>
        </p:nvSpPr>
        <p:spPr>
          <a:xfrm>
            <a:off x="548640" y="1828800"/>
            <a:ext cx="3566160" cy="1874520"/>
          </a:xfrm>
          <a:prstGeom prst="roundRect">
            <a:avLst>
              <a:gd name="adj" fmla="val 4878"/>
            </a:avLst>
          </a:prstGeom>
          <a:solidFill>
            <a:srgbClr val="E7E8D1"/>
          </a:solidFill>
          <a:ln/>
        </p:spPr>
        <p:txBody>
          <a:bodyPr/>
          <a:p/>
        </p:txBody>
      </p:sp>
      <p:sp>
        <p:nvSpPr>
          <p:cNvPr id="5" name="Text 3"/>
          <p:cNvSpPr/>
          <p:nvPr/>
        </p:nvSpPr>
        <p:spPr>
          <a:xfrm>
            <a:off x="777240" y="1993392"/>
            <a:ext cx="3108960" cy="320040"/>
          </a:xfrm>
          <a:prstGeom prst="rect">
            <a:avLst/>
          </a:prstGeom>
          <a:noFill/>
          <a:ln/>
        </p:spPr>
        <p:txBody>
          <a:bodyPr wrap="square" lIns="0" tIns="0" rIns="0" bIns="0" rtlCol="0" anchor="ctr"/>
          <a:lstStyle/>
          <a:p>
            <a:pPr indent="0" marL="0">
              <a:buNone/>
            </a:pPr>
            <a:r>
              <a:rPr lang="en-US" sz="1800" b="1" dirty="0">
                <a:solidFill>
                  <a:srgbClr val="3A2B26"/>
                </a:solidFill>
                <a:latin typeface="Cambria" pitchFamily="34" charset="0"/>
                <a:ea typeface="Cambria" pitchFamily="34" charset="-122"/>
                <a:cs typeface="Cambria" pitchFamily="34" charset="-120"/>
              </a:rPr>
              <a:t>Select an element</a:t>
            </a:r>
            <a:endParaRPr lang="en-US" sz="1400" dirty="0"/>
          </a:p>
        </p:txBody>
      </p:sp>
      <p:sp>
        <p:nvSpPr>
          <p:cNvPr id="6" name="Text 4"/>
          <p:cNvSpPr/>
          <p:nvPr/>
        </p:nvSpPr>
        <p:spPr>
          <a:xfrm>
            <a:off x="777240" y="2359152"/>
            <a:ext cx="3108960" cy="1207008"/>
          </a:xfrm>
          <a:prstGeom prst="rect">
            <a:avLst/>
          </a:prstGeom>
          <a:noFill/>
          <a:ln/>
        </p:spPr>
        <p:txBody>
          <a:bodyPr wrap="square" lIns="0" tIns="0" rIns="0" bIns="0" rtlCol="0" anchor="ctr"/>
          <a:lstStyle/>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getElementById("id")</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querySelectorAll(".class")</a:t>
            </a:r>
            <a:endParaRPr lang="en-US" sz="1000" dirty="0"/>
          </a:p>
        </p:txBody>
      </p:sp>
      <p:sp>
        <p:nvSpPr>
          <p:cNvPr id="7" name="Shape 5"/>
          <p:cNvSpPr/>
          <p:nvPr/>
        </p:nvSpPr>
        <p:spPr>
          <a:xfrm>
            <a:off x="4297680" y="1828800"/>
            <a:ext cx="3566160" cy="1874520"/>
          </a:xfrm>
          <a:prstGeom prst="roundRect">
            <a:avLst>
              <a:gd name="adj" fmla="val 4878"/>
            </a:avLst>
          </a:prstGeom>
          <a:solidFill>
            <a:srgbClr val="F4EFE7"/>
          </a:solidFill>
          <a:ln/>
        </p:spPr>
        <p:txBody>
          <a:bodyPr/>
          <a:p/>
        </p:txBody>
      </p:sp>
      <p:sp>
        <p:nvSpPr>
          <p:cNvPr id="8" name="Text 6"/>
          <p:cNvSpPr/>
          <p:nvPr/>
        </p:nvSpPr>
        <p:spPr>
          <a:xfrm>
            <a:off x="4526280" y="1993392"/>
            <a:ext cx="3108960" cy="320040"/>
          </a:xfrm>
          <a:prstGeom prst="rect">
            <a:avLst/>
          </a:prstGeom>
          <a:noFill/>
          <a:ln/>
        </p:spPr>
        <p:txBody>
          <a:bodyPr wrap="square" lIns="0" tIns="0" rIns="0" bIns="0" rtlCol="0" anchor="ctr"/>
          <a:lstStyle/>
          <a:p>
            <a:pPr indent="0" marL="0">
              <a:buNone/>
            </a:pPr>
            <a:r>
              <a:rPr lang="en-US" sz="1800" b="1" dirty="0">
                <a:solidFill>
                  <a:srgbClr val="3A2B26"/>
                </a:solidFill>
                <a:latin typeface="Cambria" pitchFamily="34" charset="0"/>
                <a:ea typeface="Cambria" pitchFamily="34" charset="-122"/>
                <a:cs typeface="Cambria" pitchFamily="34" charset="-120"/>
              </a:rPr>
              <a:t>Listen for a click</a:t>
            </a:r>
            <a:endParaRPr lang="en-US" sz="1400" dirty="0"/>
          </a:p>
        </p:txBody>
      </p:sp>
      <p:sp>
        <p:nvSpPr>
          <p:cNvPr id="9" name="Text 7"/>
          <p:cNvSpPr/>
          <p:nvPr/>
        </p:nvSpPr>
        <p:spPr>
          <a:xfrm>
            <a:off x="4526280" y="2359152"/>
            <a:ext cx="3108960" cy="1207008"/>
          </a:xfrm>
          <a:prstGeom prst="rect">
            <a:avLst/>
          </a:prstGeom>
          <a:noFill/>
          <a:ln/>
        </p:spPr>
        <p:txBody>
          <a:bodyPr wrap="square" lIns="0" tIns="0" rIns="0" bIns="0" rtlCol="0" anchor="ctr"/>
          <a:lstStyle/>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el.addEventListener("click",</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  function () { ... });</a:t>
            </a:r>
            <a:endParaRPr lang="en-US" sz="1000" dirty="0"/>
          </a:p>
        </p:txBody>
      </p:sp>
      <p:sp>
        <p:nvSpPr>
          <p:cNvPr id="10" name="Shape 8"/>
          <p:cNvSpPr/>
          <p:nvPr/>
        </p:nvSpPr>
        <p:spPr>
          <a:xfrm>
            <a:off x="8046720" y="1828800"/>
            <a:ext cx="3566160" cy="1874520"/>
          </a:xfrm>
          <a:prstGeom prst="roundRect">
            <a:avLst>
              <a:gd name="adj" fmla="val 4878"/>
            </a:avLst>
          </a:prstGeom>
          <a:solidFill>
            <a:srgbClr val="E7E8D1"/>
          </a:solidFill>
          <a:ln/>
        </p:spPr>
        <p:txBody>
          <a:bodyPr/>
          <a:p/>
        </p:txBody>
      </p:sp>
      <p:sp>
        <p:nvSpPr>
          <p:cNvPr id="11" name="Text 9"/>
          <p:cNvSpPr/>
          <p:nvPr/>
        </p:nvSpPr>
        <p:spPr>
          <a:xfrm>
            <a:off x="8275320" y="1993392"/>
            <a:ext cx="3108960" cy="320040"/>
          </a:xfrm>
          <a:prstGeom prst="rect">
            <a:avLst/>
          </a:prstGeom>
          <a:noFill/>
          <a:ln/>
        </p:spPr>
        <p:txBody>
          <a:bodyPr wrap="square" lIns="0" tIns="0" rIns="0" bIns="0" rtlCol="0" anchor="ctr"/>
          <a:lstStyle/>
          <a:p>
            <a:pPr indent="0" marL="0">
              <a:buNone/>
            </a:pPr>
            <a:r>
              <a:rPr lang="en-US" sz="1800" b="1" dirty="0">
                <a:solidFill>
                  <a:srgbClr val="3A2B26"/>
                </a:solidFill>
                <a:latin typeface="Cambria" pitchFamily="34" charset="0"/>
                <a:ea typeface="Cambria" pitchFamily="34" charset="-122"/>
                <a:cs typeface="Cambria" pitchFamily="34" charset="-120"/>
              </a:rPr>
              <a:t>Scroll &amp; scrollTo</a:t>
            </a:r>
            <a:endParaRPr lang="en-US" sz="1400" dirty="0"/>
          </a:p>
        </p:txBody>
      </p:sp>
      <p:sp>
        <p:nvSpPr>
          <p:cNvPr id="12" name="Text 10"/>
          <p:cNvSpPr/>
          <p:nvPr/>
        </p:nvSpPr>
        <p:spPr>
          <a:xfrm>
            <a:off x="8275320" y="2359152"/>
            <a:ext cx="3108960" cy="1207008"/>
          </a:xfrm>
          <a:prstGeom prst="rect">
            <a:avLst/>
          </a:prstGeom>
          <a:noFill/>
          <a:ln/>
        </p:spPr>
        <p:txBody>
          <a:bodyPr wrap="square" lIns="0" tIns="0" rIns="0" bIns="0" rtlCol="0" anchor="ctr"/>
          <a:lstStyle/>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addEventListener("scroll", ...)</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window.scrollTo({top: 0})</a:t>
            </a:r>
            <a:endParaRPr lang="en-US" sz="1000" dirty="0"/>
          </a:p>
        </p:txBody>
      </p:sp>
      <p:sp>
        <p:nvSpPr>
          <p:cNvPr id="13" name="Shape 11"/>
          <p:cNvSpPr/>
          <p:nvPr/>
        </p:nvSpPr>
        <p:spPr>
          <a:xfrm>
            <a:off x="548640" y="3886200"/>
            <a:ext cx="3566160" cy="1874520"/>
          </a:xfrm>
          <a:prstGeom prst="roundRect">
            <a:avLst>
              <a:gd name="adj" fmla="val 4878"/>
            </a:avLst>
          </a:prstGeom>
          <a:solidFill>
            <a:srgbClr val="F4EFE7"/>
          </a:solidFill>
          <a:ln/>
        </p:spPr>
        <p:txBody>
          <a:bodyPr/>
          <a:p/>
        </p:txBody>
      </p:sp>
      <p:sp>
        <p:nvSpPr>
          <p:cNvPr id="14" name="Text 12"/>
          <p:cNvSpPr/>
          <p:nvPr/>
        </p:nvSpPr>
        <p:spPr>
          <a:xfrm>
            <a:off x="777240" y="4050792"/>
            <a:ext cx="3108960" cy="320040"/>
          </a:xfrm>
          <a:prstGeom prst="rect">
            <a:avLst/>
          </a:prstGeom>
          <a:noFill/>
          <a:ln/>
        </p:spPr>
        <p:txBody>
          <a:bodyPr wrap="square" lIns="0" tIns="0" rIns="0" bIns="0" rtlCol="0" anchor="ctr"/>
          <a:lstStyle/>
          <a:p>
            <a:pPr indent="0" marL="0">
              <a:buNone/>
            </a:pPr>
            <a:r>
              <a:rPr lang="en-US" sz="1800" b="1" dirty="0">
                <a:solidFill>
                  <a:srgbClr val="3A2B26"/>
                </a:solidFill>
                <a:latin typeface="Cambria" pitchFamily="34" charset="0"/>
                <a:ea typeface="Cambria" pitchFamily="34" charset="-122"/>
                <a:cs typeface="Cambria" pitchFamily="34" charset="-120"/>
              </a:rPr>
              <a:t>classList</a:t>
            </a:r>
            <a:endParaRPr lang="en-US" sz="1400" dirty="0"/>
          </a:p>
        </p:txBody>
      </p:sp>
      <p:sp>
        <p:nvSpPr>
          <p:cNvPr id="15" name="Text 13"/>
          <p:cNvSpPr/>
          <p:nvPr/>
        </p:nvSpPr>
        <p:spPr>
          <a:xfrm>
            <a:off x="777240" y="4416552"/>
            <a:ext cx="3108960" cy="1207008"/>
          </a:xfrm>
          <a:prstGeom prst="rect">
            <a:avLst/>
          </a:prstGeom>
          <a:noFill/>
          <a:ln/>
        </p:spPr>
        <p:txBody>
          <a:bodyPr wrap="square" lIns="0" tIns="0" rIns="0" bIns="0" rtlCol="0" anchor="ctr"/>
          <a:lstStyle/>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el.classList.add("name")</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el.classList.remove("name")</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el.classList.toggle("name")</a:t>
            </a:r>
            <a:endParaRPr lang="en-US" sz="1000" dirty="0"/>
          </a:p>
        </p:txBody>
      </p:sp>
      <p:sp>
        <p:nvSpPr>
          <p:cNvPr id="16" name="Shape 14"/>
          <p:cNvSpPr/>
          <p:nvPr/>
        </p:nvSpPr>
        <p:spPr>
          <a:xfrm>
            <a:off x="4297680" y="3886200"/>
            <a:ext cx="3566160" cy="1874520"/>
          </a:xfrm>
          <a:prstGeom prst="roundRect">
            <a:avLst>
              <a:gd name="adj" fmla="val 4878"/>
            </a:avLst>
          </a:prstGeom>
          <a:solidFill>
            <a:srgbClr val="E7E8D1"/>
          </a:solidFill>
          <a:ln/>
        </p:spPr>
        <p:txBody>
          <a:bodyPr/>
          <a:p/>
        </p:txBody>
      </p:sp>
      <p:sp>
        <p:nvSpPr>
          <p:cNvPr id="17" name="Text 15"/>
          <p:cNvSpPr/>
          <p:nvPr/>
        </p:nvSpPr>
        <p:spPr>
          <a:xfrm>
            <a:off x="4526280" y="4050792"/>
            <a:ext cx="3108960" cy="320040"/>
          </a:xfrm>
          <a:prstGeom prst="rect">
            <a:avLst/>
          </a:prstGeom>
          <a:noFill/>
          <a:ln/>
        </p:spPr>
        <p:txBody>
          <a:bodyPr wrap="square" lIns="0" tIns="0" rIns="0" bIns="0" rtlCol="0" anchor="ctr"/>
          <a:lstStyle/>
          <a:p>
            <a:pPr indent="0" marL="0">
              <a:buNone/>
            </a:pPr>
            <a:r>
              <a:rPr lang="en-US" sz="1800" b="1" dirty="0">
                <a:solidFill>
                  <a:srgbClr val="3A2B26"/>
                </a:solidFill>
                <a:latin typeface="Cambria" pitchFamily="34" charset="0"/>
                <a:ea typeface="Cambria" pitchFamily="34" charset="-122"/>
                <a:cs typeface="Cambria" pitchFamily="34" charset="-120"/>
              </a:rPr>
              <a:t>Debugging</a:t>
            </a:r>
            <a:endParaRPr lang="en-US" sz="1400" dirty="0"/>
          </a:p>
        </p:txBody>
      </p:sp>
      <p:sp>
        <p:nvSpPr>
          <p:cNvPr id="18" name="Text 16"/>
          <p:cNvSpPr/>
          <p:nvPr/>
        </p:nvSpPr>
        <p:spPr>
          <a:xfrm>
            <a:off x="4526280" y="4416552"/>
            <a:ext cx="3108960" cy="1207008"/>
          </a:xfrm>
          <a:prstGeom prst="rect">
            <a:avLst/>
          </a:prstGeom>
          <a:noFill/>
          <a:ln/>
        </p:spPr>
        <p:txBody>
          <a:bodyPr wrap="square" lIns="0" tIns="0" rIns="0" bIns="0" rtlCol="0" anchor="ctr"/>
          <a:lstStyle/>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console.log("message");</a:t>
            </a:r>
            <a:endParaRPr lang="en-US" sz="1000" dirty="0"/>
          </a:p>
          <a:p>
            <a:pPr indent="0" marL="0">
              <a:lnSpc>
                <a:spcPct val="130000"/>
              </a:lnSpc>
              <a:buNone/>
            </a:pPr>
            <a:r>
              <a:rPr lang="en-US" sz="1200" dirty="0">
                <a:solidFill>
                  <a:srgbClr val="B85042"/>
                </a:solidFill>
                <a:latin typeface="Courier New" pitchFamily="34" charset="0"/>
                <a:ea typeface="Courier New" pitchFamily="34" charset="-122"/>
                <a:cs typeface="Courier New" pitchFamily="34" charset="-120"/>
              </a:rPr>
              <a:t>Open DevTools with F12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FFFFFF">
              <a:alpha val="10000"/>
            </a:srgbClr>
          </a:solidFill>
          <a:ln/>
        </p:spPr>
        <p:txBody>
          <a:bodyPr/>
          <a:p/>
        </p:txBody>
      </p:sp>
      <p:sp>
        <p:nvSpPr>
          <p:cNvPr id="3" name="Text 1"/>
          <p:cNvSpPr/>
          <p:nvPr/>
        </p:nvSpPr>
        <p:spPr>
          <a:xfrm>
            <a:off x="548640" y="2651760"/>
            <a:ext cx="100584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page is alive!</a:t>
            </a:r>
            <a:endParaRPr lang="en-US" sz="3800" dirty="0"/>
          </a:p>
        </p:txBody>
      </p:sp>
      <p:sp>
        <p:nvSpPr>
          <p:cNvPr id="4" name="Text 2"/>
          <p:cNvSpPr/>
          <p:nvPr/>
        </p:nvSpPr>
        <p:spPr>
          <a:xfrm>
            <a:off x="548640" y="3657600"/>
            <a:ext cx="9601200" cy="548640"/>
          </a:xfrm>
          <a:prstGeom prst="rect">
            <a:avLst/>
          </a:prstGeom>
          <a:noFill/>
          <a:ln/>
        </p:spPr>
        <p:txBody>
          <a:bodyPr wrap="square" lIns="0" tIns="0" rIns="0" bIns="0" rtlCol="0" anchor="ctr"/>
          <a:lstStyle/>
          <a:p>
            <a:pPr indent="0" marL="0">
              <a:buNone/>
            </a:pPr>
            <a:r>
              <a:rPr lang="en-US" sz="2000" dirty="0">
                <a:solidFill>
                  <a:srgbClr val="E7E8D1"/>
                </a:solidFill>
                <a:latin typeface="Calibri" pitchFamily="34" charset="0"/>
                <a:ea typeface="Calibri" pitchFamily="34" charset="-122"/>
                <a:cs typeface="Calibri" pitchFamily="34" charset="-120"/>
              </a:rPr>
              <a:t>Tomorrow: bring it all together and build your own website from scratch.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2026-08-13T09:32:45Z</dcterms:created>
  <dcterms:modified xsi:type="dcterms:W3CDTF">2026-08-13T09:32:45Z</dcterms:modified>
</cp:coreProperties>
</file>